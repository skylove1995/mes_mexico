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688" autoAdjust="0"/>
    <p:restoredTop sz="94660"/>
  </p:normalViewPr>
  <p:slideViewPr>
    <p:cSldViewPr snapToGrid="0">
      <p:cViewPr varScale="1">
        <p:scale>
          <a:sx n="60" d="100"/>
          <a:sy n="60" d="100"/>
        </p:scale>
        <p:origin x="2679"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11.emf"/><Relationship Id="rId2" Type="http://schemas.openxmlformats.org/officeDocument/2006/relationships/image" Target="../media/image6.emf"/><Relationship Id="rId1" Type="http://schemas.openxmlformats.org/officeDocument/2006/relationships/image" Target="../media/image5.emf"/><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1431601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
        <p:nvSpPr>
          <p:cNvPr id="7" name="TextBox 6">
            <a:extLst>
              <a:ext uri="{FF2B5EF4-FFF2-40B4-BE49-F238E27FC236}">
                <a16:creationId xmlns:a16="http://schemas.microsoft.com/office/drawing/2014/main" id="{F52EB074-A16D-773D-E249-67A4AAF8C680}"/>
              </a:ext>
            </a:extLst>
          </p:cNvPr>
          <p:cNvSpPr txBox="1"/>
          <p:nvPr userDrawn="1"/>
        </p:nvSpPr>
        <p:spPr>
          <a:xfrm>
            <a:off x="866775" y="35242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274278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1202652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en-US"/>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554267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en-US"/>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1925472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en-US"/>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1707499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en-US"/>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446385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en-US"/>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626065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en-US"/>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1273056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2172562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23C5EC94-EF49-44B8-8253-C3233F849DA4}" type="datetimeFigureOut">
              <a:rPr lang="en-US" smtClean="0"/>
              <a:t>9/24/2026</a:t>
            </a:fld>
            <a:endParaRPr lang="en-US"/>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en-US"/>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051EA121-F527-4345-9191-5A1B55CC02C3}" type="slidenum">
              <a:rPr lang="en-US" smtClean="0"/>
              <a:t>‹#›</a:t>
            </a:fld>
            <a:endParaRPr lang="en-US"/>
          </a:p>
        </p:txBody>
      </p:sp>
    </p:spTree>
    <p:extLst>
      <p:ext uri="{BB962C8B-B14F-4D97-AF65-F5344CB8AC3E}">
        <p14:creationId xmlns:p14="http://schemas.microsoft.com/office/powerpoint/2010/main" val="69665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표 1">
            <a:extLst>
              <a:ext uri="{FF2B5EF4-FFF2-40B4-BE49-F238E27FC236}">
                <a16:creationId xmlns:a16="http://schemas.microsoft.com/office/drawing/2014/main" id="{430F5D09-4C23-1964-0C80-7990DFA07944}"/>
              </a:ext>
            </a:extLst>
          </p:cNvPr>
          <p:cNvGraphicFramePr>
            <a:graphicFrameLocks noGrp="1"/>
          </p:cNvGraphicFramePr>
          <p:nvPr userDrawn="1">
            <p:extLst>
              <p:ext uri="{D42A27DB-BD31-4B8C-83A1-F6EECF244321}">
                <p14:modId xmlns:p14="http://schemas.microsoft.com/office/powerpoint/2010/main" val="3280481685"/>
              </p:ext>
            </p:extLst>
          </p:nvPr>
        </p:nvGraphicFramePr>
        <p:xfrm>
          <a:off x="131541" y="216259"/>
          <a:ext cx="6602142" cy="9406202"/>
        </p:xfrm>
        <a:graphic>
          <a:graphicData uri="http://schemas.openxmlformats.org/drawingml/2006/table">
            <a:tbl>
              <a:tblPr firstRow="1" bandRow="1">
                <a:tableStyleId>{5C22544A-7EE6-4342-B048-85BDC9FD1C3A}</a:tableStyleId>
              </a:tblPr>
              <a:tblGrid>
                <a:gridCol w="1740230">
                  <a:extLst>
                    <a:ext uri="{9D8B030D-6E8A-4147-A177-3AD203B41FA5}">
                      <a16:colId xmlns:a16="http://schemas.microsoft.com/office/drawing/2014/main" val="20000"/>
                    </a:ext>
                  </a:extLst>
                </a:gridCol>
                <a:gridCol w="2628000">
                  <a:extLst>
                    <a:ext uri="{9D8B030D-6E8A-4147-A177-3AD203B41FA5}">
                      <a16:colId xmlns:a16="http://schemas.microsoft.com/office/drawing/2014/main" val="20001"/>
                    </a:ext>
                  </a:extLst>
                </a:gridCol>
                <a:gridCol w="1728000">
                  <a:extLst>
                    <a:ext uri="{9D8B030D-6E8A-4147-A177-3AD203B41FA5}">
                      <a16:colId xmlns:a16="http://schemas.microsoft.com/office/drawing/2014/main" val="20002"/>
                    </a:ext>
                  </a:extLst>
                </a:gridCol>
                <a:gridCol w="505912">
                  <a:extLst>
                    <a:ext uri="{9D8B030D-6E8A-4147-A177-3AD203B41FA5}">
                      <a16:colId xmlns:a16="http://schemas.microsoft.com/office/drawing/2014/main" val="20003"/>
                    </a:ext>
                  </a:extLst>
                </a:gridCol>
              </a:tblGrid>
              <a:tr h="226528">
                <a:tc row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100" b="1" dirty="0">
                        <a:latin typeface="Arial Narrow" panose="020B0606020202030204" pitchFamily="34" charset="0"/>
                        <a:ea typeface="맑은 고딕" panose="020B0503020000020004" pitchFamily="50" charset="-127"/>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vi-VN" altLang="ko-KR" sz="1800" b="1" i="0" u="none" strike="noStrike" kern="1200" cap="none" spc="0" normalizeH="0" baseline="0" noProof="0" dirty="0">
                          <a:ln>
                            <a:noFill/>
                          </a:ln>
                          <a:solidFill>
                            <a:srgbClr val="000000"/>
                          </a:solidFill>
                          <a:effectLst/>
                          <a:uLnTx/>
                          <a:uFillTx/>
                          <a:latin typeface="+mn-lt"/>
                          <a:ea typeface="LG스마트체 Regular" panose="020B0600000101010101" pitchFamily="50" charset="-127"/>
                        </a:rPr>
                        <a:t>System Audit Standard</a:t>
                      </a:r>
                      <a:endParaRPr kumimoji="1" lang="ko-KR" altLang="en-US" sz="1800" b="1" i="0" u="none" strike="noStrike" kern="1200" cap="none" spc="0" normalizeH="0" baseline="0" noProof="0" dirty="0">
                        <a:ln>
                          <a:noFill/>
                        </a:ln>
                        <a:solidFill>
                          <a:srgbClr val="000000"/>
                        </a:solidFill>
                        <a:effectLst/>
                        <a:uLnTx/>
                        <a:uFillTx/>
                        <a:latin typeface="+mn-lt"/>
                        <a:ea typeface="LG스마트체 Regular" panose="020B0600000101010101" pitchFamily="50" charset="-127"/>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vi-VN" altLang="ko-KR" sz="1000" b="1"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rPr>
                        <a:t>Doc.code: HSEVN-IVI-QA-ST-050</a:t>
                      </a:r>
                      <a:endParaRPr kumimoji="1" lang="en-US" altLang="ko-KR" sz="1000" b="1"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lang="en-US" altLang="ko-KR" sz="1200" b="1" dirty="0">
                        <a:latin typeface="Arial Narrow" panose="020B0606020202030204" pitchFamily="34" charset="0"/>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6528">
                <a:tc v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100" b="1" dirty="0">
                        <a:latin typeface="Arial Narrow" panose="020B0606020202030204" pitchFamily="34" charset="0"/>
                        <a:ea typeface="맑은 고딕" panose="020B0503020000020004" pitchFamily="50" charset="-127"/>
                      </a:endParaRPr>
                    </a:p>
                  </a:txBody>
                  <a:tcPr marL="72000" marR="0" marT="39000" marB="39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latinLnBrk="1"/>
                      <a:endParaRPr lang="ko-KR" altLang="en-US" sz="1100" dirty="0">
                        <a:solidFill>
                          <a:schemeClr val="tx1"/>
                        </a:solidFill>
                        <a:latin typeface="맑은 고딕" panose="020B0503020000020004" pitchFamily="50" charset="-127"/>
                        <a:ea typeface="맑은 고딕" panose="020B0503020000020004" pitchFamily="50" charset="-127"/>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vi-VN" altLang="ko-KR" sz="1000" b="1" dirty="0">
                          <a:latin typeface="Arial Narrow" panose="020B0606020202030204" pitchFamily="34" charset="0"/>
                          <a:ea typeface="LG스마트체 Regular" panose="020B0600000101010101" pitchFamily="50" charset="-127"/>
                        </a:rPr>
                        <a:t>Issue date:202</a:t>
                      </a:r>
                      <a:r>
                        <a:rPr lang="es-MX" altLang="ko-KR" sz="1000" b="1" dirty="0">
                          <a:latin typeface="Arial Narrow" panose="020B0606020202030204" pitchFamily="34" charset="0"/>
                          <a:ea typeface="LG스마트체 Regular" panose="020B0600000101010101" pitchFamily="50" charset="-127"/>
                        </a:rPr>
                        <a:t>6</a:t>
                      </a:r>
                      <a:r>
                        <a:rPr lang="vi-VN" altLang="ko-KR" sz="1000" b="1" dirty="0">
                          <a:latin typeface="Arial Narrow" panose="020B0606020202030204" pitchFamily="34" charset="0"/>
                          <a:ea typeface="LG스마트체 Regular" panose="020B0600000101010101" pitchFamily="50" charset="-127"/>
                        </a:rPr>
                        <a:t>.</a:t>
                      </a:r>
                      <a:r>
                        <a:rPr lang="es-MX" altLang="ko-KR" sz="1000" b="1" dirty="0">
                          <a:latin typeface="Arial Narrow" panose="020B0606020202030204" pitchFamily="34" charset="0"/>
                          <a:ea typeface="LG스마트체 Regular" panose="020B0600000101010101" pitchFamily="50" charset="-127"/>
                        </a:rPr>
                        <a:t>08</a:t>
                      </a:r>
                      <a:r>
                        <a:rPr lang="vi-VN" altLang="ko-KR" sz="1000" b="1" dirty="0">
                          <a:latin typeface="Arial Narrow" panose="020B0606020202030204" pitchFamily="34" charset="0"/>
                          <a:ea typeface="LG스마트체 Regular" panose="020B0600000101010101" pitchFamily="50" charset="-127"/>
                        </a:rPr>
                        <a:t>.</a:t>
                      </a:r>
                      <a:r>
                        <a:rPr lang="es-MX" altLang="ko-KR" sz="1000" b="1" dirty="0">
                          <a:latin typeface="Arial Narrow" panose="020B0606020202030204" pitchFamily="34" charset="0"/>
                          <a:ea typeface="LG스마트체 Regular" panose="020B0600000101010101" pitchFamily="50" charset="-127"/>
                        </a:rPr>
                        <a:t>17</a:t>
                      </a:r>
                      <a:endParaRPr lang="en-US" altLang="ko-KR" sz="1000" b="1" dirty="0">
                        <a:latin typeface="Arial Narrow" panose="020B0606020202030204" pitchFamily="34" charset="0"/>
                        <a:ea typeface="LG스마트체 Regular" panose="020B0600000101010101" pitchFamily="50" charset="-127"/>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latinLnBrk="1"/>
                      <a:endParaRPr lang="ko-KR" altLang="en-US" sz="1100" dirty="0">
                        <a:solidFill>
                          <a:schemeClr val="tx1"/>
                        </a:solidFill>
                        <a:latin typeface="맑은 고딕" panose="020B0503020000020004" pitchFamily="50" charset="-127"/>
                        <a:ea typeface="맑은 고딕" panose="020B0503020000020004" pitchFamily="50" charset="-127"/>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6528">
                <a:tc v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100" b="1" dirty="0">
                        <a:latin typeface="Arial Narrow" panose="020B0606020202030204" pitchFamily="34" charset="0"/>
                        <a:ea typeface="맑은 고딕" panose="020B0503020000020004" pitchFamily="50" charset="-127"/>
                      </a:endParaRPr>
                    </a:p>
                  </a:txBody>
                  <a:tcPr marL="72000" marR="0" marT="39000" marB="39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400" b="1" i="0" u="none" strike="noStrike" kern="1200" cap="none" spc="0" normalizeH="0" baseline="0" noProof="0" dirty="0">
                        <a:ln>
                          <a:noFill/>
                        </a:ln>
                        <a:solidFill>
                          <a:srgbClr val="000000"/>
                        </a:solidFill>
                        <a:effectLst/>
                        <a:uLnTx/>
                        <a:uFillTx/>
                        <a:latin typeface="Arial Narrow" panose="020B0606020202030204" pitchFamily="34" charset="0"/>
                        <a:ea typeface="맑은 고딕" panose="020B0503020000020004" pitchFamily="50" charset="-127"/>
                      </a:endParaRPr>
                    </a:p>
                  </a:txBody>
                  <a:tcPr marL="72000" marR="72000" marT="39000" marB="39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vi-VN" altLang="ko-KR" sz="1000" b="1" dirty="0">
                          <a:latin typeface="Arial Narrow" panose="020B0606020202030204" pitchFamily="34" charset="0"/>
                          <a:ea typeface="LG스마트체 Regular" panose="020B0600000101010101" pitchFamily="50" charset="-127"/>
                        </a:rPr>
                        <a:t>Revised date:</a:t>
                      </a:r>
                      <a:endParaRPr lang="en-US" altLang="ko-KR" sz="1000" b="1" dirty="0">
                        <a:latin typeface="Arial Narrow" panose="020B0606020202030204" pitchFamily="34" charset="0"/>
                        <a:ea typeface="LG스마트체 Regular" panose="020B0600000101010101" pitchFamily="50" charset="-127"/>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lang="en-US" altLang="ko-KR" sz="1200" b="1" dirty="0">
                        <a:latin typeface="Arial Narrow" panose="020B0606020202030204" pitchFamily="34" charset="0"/>
                      </a:endParaRPr>
                    </a:p>
                  </a:txBody>
                  <a:tcPr marL="0" marR="0" marT="39000" marB="39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7149672"/>
                  </a:ext>
                </a:extLst>
              </a:tr>
              <a:tr h="226528">
                <a:tc v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100" b="1" dirty="0">
                        <a:latin typeface="Arial Narrow" panose="020B0606020202030204" pitchFamily="34" charset="0"/>
                        <a:ea typeface="맑은 고딕" panose="020B0503020000020004" pitchFamily="50" charset="-127"/>
                      </a:endParaRPr>
                    </a:p>
                  </a:txBody>
                  <a:tcPr marL="72000" marR="0" marT="39000" marB="39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400" b="1" i="0" u="none" strike="noStrike" kern="1200" cap="none" spc="0" normalizeH="0" baseline="0" noProof="0" dirty="0">
                        <a:ln>
                          <a:noFill/>
                        </a:ln>
                        <a:solidFill>
                          <a:srgbClr val="000000"/>
                        </a:solidFill>
                        <a:effectLst/>
                        <a:uLnTx/>
                        <a:uFillTx/>
                        <a:latin typeface="Arial Narrow" panose="020B0606020202030204" pitchFamily="34" charset="0"/>
                        <a:ea typeface="맑은 고딕" panose="020B0503020000020004" pitchFamily="50" charset="-127"/>
                      </a:endParaRPr>
                    </a:p>
                  </a:txBody>
                  <a:tcPr marL="72000" marR="72000" marT="39000" marB="39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vi-VN" altLang="ko-KR" sz="1000" b="1" dirty="0">
                          <a:latin typeface="Arial Narrow" panose="020B0606020202030204" pitchFamily="34" charset="0"/>
                          <a:ea typeface="LG스마트체 Regular" panose="020B0600000101010101" pitchFamily="50" charset="-127"/>
                        </a:rPr>
                        <a:t>Version: 00</a:t>
                      </a:r>
                      <a:endParaRPr lang="en-US" altLang="ko-KR" sz="1000" b="1" dirty="0">
                        <a:latin typeface="Arial Narrow" panose="020B0606020202030204" pitchFamily="34" charset="0"/>
                        <a:ea typeface="LG스마트체 Regular" panose="020B0600000101010101" pitchFamily="50" charset="-127"/>
                      </a:endParaRPr>
                    </a:p>
                  </a:txBody>
                  <a:tcPr marL="3600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lang="en-US" altLang="ko-KR" sz="1200" b="1" dirty="0">
                        <a:latin typeface="Arial Narrow" panose="020B0606020202030204" pitchFamily="34" charset="0"/>
                      </a:endParaRPr>
                    </a:p>
                  </a:txBody>
                  <a:tcPr marL="0" marR="0" marT="39000" marB="39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9506101"/>
                  </a:ext>
                </a:extLst>
              </a:tr>
              <a:tr h="8500090">
                <a:tc gridSpan="4">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endParaRPr lang="en-US" altLang="ko-KR" sz="1200" b="1" dirty="0">
                        <a:latin typeface="Arial Narrow" panose="020B0606020202030204" pitchFamily="34" charset="0"/>
                        <a:ea typeface="LG스마트체 Regular" panose="020B0600000101010101" pitchFamily="50" charset="-127"/>
                      </a:endParaRPr>
                    </a:p>
                    <a:p>
                      <a:pPr latinLnBrk="1"/>
                      <a:endParaRPr lang="ko-KR" altLang="en-US" sz="1200" dirty="0">
                        <a:solidFill>
                          <a:schemeClr val="tx1"/>
                        </a:solidFill>
                        <a:latin typeface="맑은 고딕" panose="020B0503020000020004" pitchFamily="50" charset="-127"/>
                        <a:ea typeface="맑은 고딕" panose="020B0503020000020004" pitchFamily="50" charset="-127"/>
                      </a:endParaRPr>
                    </a:p>
                  </a:txBody>
                  <a:tcPr marL="72000" marR="36000" marT="78000" marB="39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sz="1100" dirty="0">
                        <a:latin typeface="맑은 고딕" panose="020B0503020000020004" pitchFamily="50" charset="-127"/>
                        <a:ea typeface="맑은 고딕" panose="020B0503020000020004" pitchFamily="50" charset="-127"/>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sz="1100" dirty="0">
                        <a:latin typeface="맑은 고딕" panose="020B0503020000020004" pitchFamily="50" charset="-127"/>
                        <a:ea typeface="맑은 고딕" panose="020B0503020000020004" pitchFamily="50" charset="-127"/>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sz="1100" dirty="0">
                        <a:latin typeface="맑은 고딕" panose="020B0503020000020004" pitchFamily="50" charset="-127"/>
                        <a:ea typeface="맑은 고딕" panose="020B0503020000020004" pitchFamily="50" charset="-127"/>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2" name="TextBox 11">
            <a:extLst>
              <a:ext uri="{FF2B5EF4-FFF2-40B4-BE49-F238E27FC236}">
                <a16:creationId xmlns:a16="http://schemas.microsoft.com/office/drawing/2014/main" id="{32B1C81D-043D-5ED9-F9C3-7D20E5D7F3B5}"/>
              </a:ext>
            </a:extLst>
          </p:cNvPr>
          <p:cNvSpPr txBox="1"/>
          <p:nvPr userDrawn="1"/>
        </p:nvSpPr>
        <p:spPr>
          <a:xfrm>
            <a:off x="6057858" y="537538"/>
            <a:ext cx="802126" cy="246221"/>
          </a:xfrm>
          <a:prstGeom prst="rect">
            <a:avLst/>
          </a:prstGeom>
          <a:noFill/>
        </p:spPr>
        <p:txBody>
          <a:bodyPr wrap="square">
            <a:spAutoFit/>
          </a:bodyPr>
          <a:lstStyle>
            <a:lvl1pPr>
              <a:defRPr kumimoji="1" sz="1200">
                <a:solidFill>
                  <a:schemeClr val="tx1"/>
                </a:solidFill>
                <a:latin typeface="굴림" panose="020B0600000101010101" pitchFamily="50" charset="-127"/>
                <a:ea typeface="굴림" panose="020B0600000101010101" pitchFamily="50" charset="-127"/>
              </a:defRPr>
            </a:lvl1pPr>
            <a:lvl2pPr marL="742950" indent="-285750">
              <a:defRPr kumimoji="1" sz="1200">
                <a:solidFill>
                  <a:schemeClr val="tx1"/>
                </a:solidFill>
                <a:latin typeface="굴림" panose="020B0600000101010101" pitchFamily="50" charset="-127"/>
                <a:ea typeface="굴림" panose="020B0600000101010101" pitchFamily="50" charset="-127"/>
              </a:defRPr>
            </a:lvl2pPr>
            <a:lvl3pPr marL="1143000" indent="-228600">
              <a:defRPr kumimoji="1" sz="1200">
                <a:solidFill>
                  <a:schemeClr val="tx1"/>
                </a:solidFill>
                <a:latin typeface="굴림" panose="020B0600000101010101" pitchFamily="50" charset="-127"/>
                <a:ea typeface="굴림" panose="020B0600000101010101" pitchFamily="50" charset="-127"/>
              </a:defRPr>
            </a:lvl3pPr>
            <a:lvl4pPr marL="1600200" indent="-228600">
              <a:defRPr kumimoji="1" sz="1200">
                <a:solidFill>
                  <a:schemeClr val="tx1"/>
                </a:solidFill>
                <a:latin typeface="굴림" panose="020B0600000101010101" pitchFamily="50" charset="-127"/>
                <a:ea typeface="굴림" panose="020B0600000101010101" pitchFamily="50" charset="-127"/>
              </a:defRPr>
            </a:lvl4pPr>
            <a:lvl5pPr marL="2057400" indent="-228600">
              <a:defRPr kumimoji="1" sz="1200">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sz="1200">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sz="1200">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sz="1200">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sz="1200">
                <a:solidFill>
                  <a:schemeClr val="tx1"/>
                </a:solidFill>
                <a:latin typeface="굴림" panose="020B0600000101010101" pitchFamily="50" charset="-127"/>
                <a:ea typeface="굴림" panose="020B0600000101010101" pitchFamily="50" charset="-127"/>
              </a:defRPr>
            </a:lvl9pPr>
          </a:lstStyle>
          <a:p>
            <a:pPr algn="ctr">
              <a:defRPr/>
            </a:pPr>
            <a:fld id="{C2865BE2-C853-4B3F-B50B-4BD861A65522}" type="slidenum">
              <a:rPr kumimoji="0" lang="en-US" altLang="ko-KR" sz="1000" b="1" smtClean="0">
                <a:latin typeface="LG스마트체 Regular" panose="020B0600000101010101" pitchFamily="50" charset="-127"/>
                <a:ea typeface="LG스마트체 Regular" panose="020B0600000101010101" pitchFamily="50" charset="-127"/>
                <a:cs typeface="Arial" panose="020B0604020202020204" pitchFamily="34" charset="0"/>
              </a:rPr>
              <a:pPr algn="ctr">
                <a:defRPr/>
              </a:pPr>
              <a:t>‹#›</a:t>
            </a:fld>
            <a:r>
              <a:rPr kumimoji="0" lang="en-US" altLang="ko-KR" sz="1000" b="1" dirty="0">
                <a:latin typeface="LG스마트체 Regular" panose="020B0600000101010101" pitchFamily="50" charset="-127"/>
                <a:ea typeface="LG스마트체 Regular" panose="020B0600000101010101" pitchFamily="50" charset="-127"/>
                <a:cs typeface="Arial" panose="020B0604020202020204" pitchFamily="34" charset="0"/>
              </a:rPr>
              <a:t>/</a:t>
            </a:r>
            <a:r>
              <a:rPr kumimoji="0" lang="vi-VN" altLang="ko-KR" sz="1000" b="1" dirty="0">
                <a:latin typeface="LG스마트체 Regular" panose="020B0600000101010101" pitchFamily="50" charset="-127"/>
                <a:ea typeface="LG스마트체 Regular" panose="020B0600000101010101" pitchFamily="50" charset="-127"/>
                <a:cs typeface="Arial" panose="020B0604020202020204" pitchFamily="34" charset="0"/>
              </a:rPr>
              <a:t>17</a:t>
            </a:r>
            <a:endParaRPr kumimoji="0" lang="en-US" altLang="ko-KR" sz="1000" b="1" dirty="0">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19" name="TextBox 18">
            <a:extLst>
              <a:ext uri="{FF2B5EF4-FFF2-40B4-BE49-F238E27FC236}">
                <a16:creationId xmlns:a16="http://schemas.microsoft.com/office/drawing/2014/main" id="{FAD42691-9B8C-C3B4-04F0-E2CD5168AF22}"/>
              </a:ext>
            </a:extLst>
          </p:cNvPr>
          <p:cNvSpPr txBox="1"/>
          <p:nvPr userDrawn="1">
            <p:extLst>
              <p:ext uri="{1162E1C5-73C7-4A58-AE30-91384D911F3F}">
                <p184:classification xmlns:p184="http://schemas.microsoft.com/office/powerpoint/2018/4/main" val="hdr"/>
              </p:ext>
            </p:extLst>
          </p:nvPr>
        </p:nvSpPr>
        <p:spPr>
          <a:xfrm>
            <a:off x="2763354" y="210608"/>
            <a:ext cx="1319212" cy="161583"/>
          </a:xfrm>
          <a:prstGeom prst="rect">
            <a:avLst/>
          </a:prstGeom>
        </p:spPr>
        <p:txBody>
          <a:bodyPr horzOverflow="overflow" wrap="square" lIns="0" tIns="0" rIns="0" bIns="0">
            <a:spAutoFit/>
          </a:bodyPr>
          <a:lstStyle/>
          <a:p>
            <a:pPr algn="l"/>
            <a:r>
              <a:rPr lang="vi-VN" sz="1050" dirty="0">
                <a:solidFill>
                  <a:schemeClr val="bg1">
                    <a:lumMod val="75000"/>
                    <a:alpha val="50000"/>
                  </a:schemeClr>
                </a:solidFill>
                <a:latin typeface="+mn-lt"/>
                <a:ea typeface="Pretendard SemiBold" panose="02000703000000020004" pitchFamily="2" charset="-127"/>
                <a:cs typeface="Pretendard SemiBold" panose="02000703000000020004" pitchFamily="2" charset="-127"/>
              </a:rPr>
              <a:t>HSE</a:t>
            </a:r>
            <a:r>
              <a:rPr lang="en-US" sz="1050" dirty="0">
                <a:solidFill>
                  <a:schemeClr val="bg1">
                    <a:lumMod val="75000"/>
                    <a:alpha val="50000"/>
                  </a:schemeClr>
                </a:solidFill>
                <a:latin typeface="+mn-lt"/>
                <a:ea typeface="Pretendard SemiBold" panose="02000703000000020004" pitchFamily="2" charset="-127"/>
                <a:cs typeface="Pretendard SemiBold" panose="02000703000000020004" pitchFamily="2" charset="-127"/>
              </a:rPr>
              <a:t> Internal Use Only</a:t>
            </a:r>
          </a:p>
        </p:txBody>
      </p:sp>
      <p:pic>
        <p:nvPicPr>
          <p:cNvPr id="21" name="그림 2">
            <a:extLst>
              <a:ext uri="{FF2B5EF4-FFF2-40B4-BE49-F238E27FC236}">
                <a16:creationId xmlns:a16="http://schemas.microsoft.com/office/drawing/2014/main" id="{60B3BCB7-F5C9-5239-0687-4010027946E8}"/>
              </a:ext>
            </a:extLst>
          </p:cNvPr>
          <p:cNvPicPr>
            <a:picLocks noChangeAspect="1"/>
          </p:cNvPicPr>
          <p:nvPr userDrawn="1"/>
        </p:nvPicPr>
        <p:blipFill>
          <a:blip r:embed="rId13"/>
          <a:stretch>
            <a:fillRect/>
          </a:stretch>
        </p:blipFill>
        <p:spPr>
          <a:xfrm>
            <a:off x="429378" y="209146"/>
            <a:ext cx="1024751" cy="917185"/>
          </a:xfrm>
          <a:prstGeom prst="rect">
            <a:avLst/>
          </a:prstGeom>
        </p:spPr>
      </p:pic>
      <p:sp>
        <p:nvSpPr>
          <p:cNvPr id="25" name="TextBox 24">
            <a:extLst>
              <a:ext uri="{FF2B5EF4-FFF2-40B4-BE49-F238E27FC236}">
                <a16:creationId xmlns:a16="http://schemas.microsoft.com/office/drawing/2014/main" id="{F5173A17-C5A4-F554-1C68-F553CA4FCE77}"/>
              </a:ext>
            </a:extLst>
          </p:cNvPr>
          <p:cNvSpPr txBox="1"/>
          <p:nvPr userDrawn="1"/>
        </p:nvSpPr>
        <p:spPr>
          <a:xfrm>
            <a:off x="5685570" y="9666645"/>
            <a:ext cx="1048113" cy="215444"/>
          </a:xfrm>
          <a:prstGeom prst="rect">
            <a:avLst/>
          </a:prstGeom>
          <a:noFill/>
        </p:spPr>
        <p:txBody>
          <a:bodyPr wrap="square">
            <a:spAutoFit/>
          </a:bodyPr>
          <a:lstStyle/>
          <a:p>
            <a:r>
              <a:rPr lang="vi-VN" sz="800" dirty="0">
                <a:latin typeface="Arial Narrow" panose="020B0606020202030204" pitchFamily="34" charset="0"/>
              </a:rPr>
              <a:t>HSEVN-IVI-QA-ST-050</a:t>
            </a:r>
            <a:endParaRPr lang="en-US" sz="800" dirty="0">
              <a:latin typeface="Arial Narrow" panose="020B0606020202030204" pitchFamily="34" charset="0"/>
            </a:endParaRPr>
          </a:p>
        </p:txBody>
      </p:sp>
    </p:spTree>
    <p:extLst>
      <p:ext uri="{BB962C8B-B14F-4D97-AF65-F5344CB8AC3E}">
        <p14:creationId xmlns:p14="http://schemas.microsoft.com/office/powerpoint/2010/main" val="32857899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package" Target="../embeddings/Microsoft_Excel_Worksheet.xlsx"/></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package" Target="../embeddings/Microsoft_PowerPoint_Presentation5.pptx"/><Relationship Id="rId3" Type="http://schemas.openxmlformats.org/officeDocument/2006/relationships/package" Target="../embeddings/Microsoft_Excel_Worksheet1.xlsx"/><Relationship Id="rId7" Type="http://schemas.openxmlformats.org/officeDocument/2006/relationships/package" Target="../embeddings/Microsoft_PowerPoint_Presentation2.pptx"/><Relationship Id="rId12" Type="http://schemas.openxmlformats.org/officeDocument/2006/relationships/image" Target="../media/image9.emf"/><Relationship Id="rId2" Type="http://schemas.openxmlformats.org/officeDocument/2006/relationships/slideLayout" Target="../slideLayouts/slideLayout2.xml"/><Relationship Id="rId16" Type="http://schemas.openxmlformats.org/officeDocument/2006/relationships/image" Target="../media/image11.emf"/><Relationship Id="rId1" Type="http://schemas.openxmlformats.org/officeDocument/2006/relationships/vmlDrawing" Target="../drawings/vmlDrawing3.vml"/><Relationship Id="rId6" Type="http://schemas.openxmlformats.org/officeDocument/2006/relationships/image" Target="../media/image6.emf"/><Relationship Id="rId11" Type="http://schemas.openxmlformats.org/officeDocument/2006/relationships/package" Target="../embeddings/Microsoft_PowerPoint_Presentation4.pptx"/><Relationship Id="rId5" Type="http://schemas.openxmlformats.org/officeDocument/2006/relationships/package" Target="../embeddings/Microsoft_PowerPoint_Presentation.pptx"/><Relationship Id="rId15" Type="http://schemas.openxmlformats.org/officeDocument/2006/relationships/package" Target="../embeddings/Microsoft_Excel_Worksheet6.xlsx"/><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package" Target="../embeddings/Microsoft_PowerPoint_Presentation3.pptx"/><Relationship Id="rId14" Type="http://schemas.openxmlformats.org/officeDocument/2006/relationships/image" Target="../media/image10.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5">
            <a:extLst>
              <a:ext uri="{FF2B5EF4-FFF2-40B4-BE49-F238E27FC236}">
                <a16:creationId xmlns:a16="http://schemas.microsoft.com/office/drawing/2014/main" id="{6A189D26-B2DF-8832-3DC7-CD5E7AF6EB2B}"/>
              </a:ext>
            </a:extLst>
          </p:cNvPr>
          <p:cNvGraphicFramePr>
            <a:graphicFrameLocks noGrp="1"/>
          </p:cNvGraphicFramePr>
          <p:nvPr>
            <p:extLst>
              <p:ext uri="{D42A27DB-BD31-4B8C-83A1-F6EECF244321}">
                <p14:modId xmlns:p14="http://schemas.microsoft.com/office/powerpoint/2010/main" val="2202413929"/>
              </p:ext>
            </p:extLst>
          </p:nvPr>
        </p:nvGraphicFramePr>
        <p:xfrm>
          <a:off x="188640" y="1196772"/>
          <a:ext cx="6480720" cy="1545445"/>
        </p:xfrm>
        <a:graphic>
          <a:graphicData uri="http://schemas.openxmlformats.org/drawingml/2006/table">
            <a:tbl>
              <a:tblPr>
                <a:tableStyleId>{5C22544A-7EE6-4342-B048-85BDC9FD1C3A}</a:tableStyleId>
              </a:tblPr>
              <a:tblGrid>
                <a:gridCol w="2520280">
                  <a:extLst>
                    <a:ext uri="{9D8B030D-6E8A-4147-A177-3AD203B41FA5}">
                      <a16:colId xmlns:a16="http://schemas.microsoft.com/office/drawing/2014/main" val="20000"/>
                    </a:ext>
                  </a:extLst>
                </a:gridCol>
                <a:gridCol w="3960440">
                  <a:extLst>
                    <a:ext uri="{9D8B030D-6E8A-4147-A177-3AD203B41FA5}">
                      <a16:colId xmlns:a16="http://schemas.microsoft.com/office/drawing/2014/main" val="20001"/>
                    </a:ext>
                  </a:extLst>
                </a:gridCol>
              </a:tblGrid>
              <a:tr h="309089">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0" i="0" u="none" strike="noStrike" kern="1200" cap="none" spc="0" normalizeH="0" baseline="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rPr>
                        <a:t>Responsible Team</a:t>
                      </a: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0" i="0" u="none" strike="noStrike" kern="1200" cap="none" spc="0" normalizeH="0" baseline="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rPr>
                        <a:t>Haengsung Electronics company Quality </a:t>
                      </a:r>
                      <a:r>
                        <a:rPr kumimoji="1" lang="en-US" altLang="ko-KR" sz="1200" b="0" i="0" u="none" strike="noStrike" kern="1200" cap="none" spc="0" normalizeH="0" baseline="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rPr>
                        <a:t>Assurance team</a:t>
                      </a:r>
                      <a:endParaRPr kumimoji="1" lang="ko-KR" altLang="en-US" sz="1200" b="0" i="0" u="none" strike="noStrike" kern="1200" cap="none" spc="0" normalizeH="0" baseline="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endParaRP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09089">
                <a:tc>
                  <a:txBody>
                    <a:bodyPr/>
                    <a:lstStyle/>
                    <a:p>
                      <a:pPr marL="0" marR="0" indent="0" algn="l" defTabSz="914400" rtl="0" eaLnBrk="1" fontAlgn="auto" latinLnBrk="1" hangingPunct="1">
                        <a:lnSpc>
                          <a:spcPct val="100000"/>
                        </a:lnSpc>
                        <a:spcBef>
                          <a:spcPts val="0"/>
                        </a:spcBef>
                        <a:spcAft>
                          <a:spcPts val="0"/>
                        </a:spcAft>
                        <a:buClrTx/>
                        <a:buSzTx/>
                        <a:buFont typeface="+mj-lt"/>
                        <a:buNone/>
                        <a:tabLst/>
                        <a:defRPr/>
                      </a:pPr>
                      <a:r>
                        <a:rPr lang="en-US" altLang="ko-KR" sz="1200" b="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Estimated review and update time</a:t>
                      </a: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s-MX" altLang="ko-KR" sz="1200" b="0" i="0" u="none" strike="noStrike" kern="1200" cap="none" spc="0" normalizeH="0" baseline="0" noProof="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rPr>
                        <a:t>Max. 1 </a:t>
                      </a:r>
                      <a:r>
                        <a:rPr kumimoji="1" lang="en-US" altLang="ko-KR" sz="1200" b="0" i="0" u="none" strike="noStrike" kern="1200" cap="none" spc="0" normalizeH="0" baseline="0" noProof="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rPr>
                        <a:t>year</a:t>
                      </a: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9089">
                <a:tc>
                  <a:txBody>
                    <a:bodyPr/>
                    <a:lstStyle/>
                    <a:p>
                      <a:pPr marL="0" marR="0" indent="0" algn="l" defTabSz="914400" rtl="0" eaLnBrk="1" fontAlgn="auto" latinLnBrk="1" hangingPunct="1">
                        <a:lnSpc>
                          <a:spcPct val="100000"/>
                        </a:lnSpc>
                        <a:spcBef>
                          <a:spcPts val="0"/>
                        </a:spcBef>
                        <a:spcAft>
                          <a:spcPts val="0"/>
                        </a:spcAft>
                        <a:buClrTx/>
                        <a:buSzTx/>
                        <a:buFont typeface="+mj-lt"/>
                        <a:buNone/>
                        <a:tabLst/>
                        <a:defRPr/>
                      </a:pPr>
                      <a:r>
                        <a:rPr lang="en-US" altLang="ko-KR" sz="1200" b="0" noProof="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Author</a:t>
                      </a:r>
                      <a:r>
                        <a:rPr lang="es-MX" altLang="ko-KR" sz="1200" b="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 (</a:t>
                      </a:r>
                      <a:r>
                        <a:rPr lang="en-US" altLang="ko-KR" sz="1200" b="0" noProof="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by roll and</a:t>
                      </a:r>
                      <a:r>
                        <a:rPr lang="en-US" altLang="ko-KR" sz="1200" b="0" baseline="0" noProof="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 function</a:t>
                      </a:r>
                      <a:r>
                        <a:rPr lang="es-MX" altLang="ko-KR" sz="1200" b="0" baseline="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a:t>
                      </a:r>
                      <a:endParaRPr lang="en-US" altLang="ko-KR" sz="1200" b="0" dirty="0">
                        <a:solidFill>
                          <a:schemeClr val="tx1"/>
                        </a:solidFill>
                        <a:latin typeface="Arial Narrow" panose="020B0606020202030204" pitchFamily="34" charset="0"/>
                        <a:ea typeface="Pretendard Medium" panose="02000603000000020004" pitchFamily="2" charset="-127"/>
                        <a:cs typeface="Arial" panose="020B0604020202020204" pitchFamily="34" charset="0"/>
                      </a:endParaRP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0" i="0" u="none" strike="noStrike" kern="1200" cap="none" spc="0" normalizeH="0" baseline="0" noProof="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rPr>
                        <a:t>CS team member</a:t>
                      </a:r>
                      <a:endParaRPr kumimoji="1" lang="ko-KR" altLang="en-US" sz="1200" b="0" i="0" u="none" strike="noStrike" kern="1200" cap="none" spc="0" normalizeH="0" baseline="0" noProof="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endParaRP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9089">
                <a:tc>
                  <a:txBody>
                    <a:bodyPr/>
                    <a:lstStyle/>
                    <a:p>
                      <a:pPr marL="0" marR="0" indent="0" algn="l" defTabSz="914400" rtl="0" eaLnBrk="1" fontAlgn="auto" latinLnBrk="1" hangingPunct="1">
                        <a:lnSpc>
                          <a:spcPct val="100000"/>
                        </a:lnSpc>
                        <a:spcBef>
                          <a:spcPts val="0"/>
                        </a:spcBef>
                        <a:spcAft>
                          <a:spcPts val="0"/>
                        </a:spcAft>
                        <a:buClrTx/>
                        <a:buSzTx/>
                        <a:buFont typeface="+mj-lt"/>
                        <a:buNone/>
                        <a:tabLst/>
                        <a:defRPr/>
                      </a:pPr>
                      <a:r>
                        <a:rPr lang="en-US" altLang="ko-KR" sz="1200" b="0" noProof="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Approver</a:t>
                      </a:r>
                      <a:r>
                        <a:rPr lang="es-MX" altLang="ko-KR" sz="1200" b="0" baseline="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 1</a:t>
                      </a:r>
                      <a:endParaRPr lang="en-US" altLang="ko-KR" sz="1200" b="0" dirty="0">
                        <a:solidFill>
                          <a:schemeClr val="tx1"/>
                        </a:solidFill>
                        <a:latin typeface="Arial Narrow" panose="020B0606020202030204" pitchFamily="34" charset="0"/>
                        <a:ea typeface="Pretendard Medium" panose="02000603000000020004" pitchFamily="2" charset="-127"/>
                        <a:cs typeface="Arial" panose="020B0604020202020204" pitchFamily="34" charset="0"/>
                      </a:endParaRP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0" i="0" u="none" strike="noStrike" kern="1200" cap="none" spc="0" normalizeH="0" baseline="0" noProof="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rPr>
                        <a:t>CS team member</a:t>
                      </a:r>
                      <a:endParaRPr kumimoji="1" lang="ko-KR" altLang="en-US" sz="1200" b="0" i="0" u="none" strike="noStrike" kern="1200" cap="none" spc="0" normalizeH="0" baseline="0" noProof="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endParaRP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09089">
                <a:tc>
                  <a:txBody>
                    <a:bodyPr/>
                    <a:lstStyle/>
                    <a:p>
                      <a:pPr marL="0" marR="0" indent="0" algn="l" defTabSz="914400" rtl="0" eaLnBrk="1" fontAlgn="auto" latinLnBrk="1" hangingPunct="1">
                        <a:lnSpc>
                          <a:spcPct val="100000"/>
                        </a:lnSpc>
                        <a:spcBef>
                          <a:spcPts val="0"/>
                        </a:spcBef>
                        <a:spcAft>
                          <a:spcPts val="0"/>
                        </a:spcAft>
                        <a:buClrTx/>
                        <a:buSzTx/>
                        <a:buFont typeface="+mj-lt"/>
                        <a:buNone/>
                        <a:tabLst/>
                        <a:defRPr/>
                      </a:pPr>
                      <a:r>
                        <a:rPr lang="en-US" altLang="ko-KR" sz="1200" b="0" noProof="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Approver</a:t>
                      </a:r>
                      <a:r>
                        <a:rPr lang="es-MX" altLang="ko-KR" sz="1200" b="0" dirty="0">
                          <a:solidFill>
                            <a:schemeClr val="tx1"/>
                          </a:solidFill>
                          <a:latin typeface="Arial Narrow" panose="020B0606020202030204" pitchFamily="34" charset="0"/>
                          <a:ea typeface="Pretendard Medium" panose="02000603000000020004" pitchFamily="2" charset="-127"/>
                          <a:cs typeface="Arial" panose="020B0604020202020204" pitchFamily="34" charset="0"/>
                        </a:rPr>
                        <a:t> 2</a:t>
                      </a:r>
                      <a:endParaRPr lang="en-US" altLang="ko-KR" sz="1200" b="0" dirty="0">
                        <a:solidFill>
                          <a:schemeClr val="tx1"/>
                        </a:solidFill>
                        <a:latin typeface="Arial Narrow" panose="020B0606020202030204" pitchFamily="34" charset="0"/>
                        <a:ea typeface="Pretendard Medium" panose="02000603000000020004" pitchFamily="2" charset="-127"/>
                        <a:cs typeface="Arial" panose="020B0604020202020204" pitchFamily="34" charset="0"/>
                      </a:endParaRP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0" i="0" u="none" strike="noStrike" kern="1200" cap="none" spc="0" normalizeH="0" baseline="0" noProof="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rPr>
                        <a:t>CS part leader</a:t>
                      </a:r>
                      <a:endParaRPr kumimoji="1" lang="ko-KR" altLang="en-US" sz="1200" b="0" i="0" u="none" strike="noStrike" kern="1200" cap="none" spc="0" normalizeH="0" baseline="0" noProof="0" dirty="0">
                        <a:ln>
                          <a:noFill/>
                        </a:ln>
                        <a:solidFill>
                          <a:schemeClr val="tx1"/>
                        </a:solidFill>
                        <a:effectLst/>
                        <a:uLnTx/>
                        <a:uFillTx/>
                        <a:latin typeface="Arial Narrow" panose="020B0606020202030204" pitchFamily="34" charset="0"/>
                        <a:ea typeface="Pretendard Medium" panose="02000603000000020004" pitchFamily="2" charset="-127"/>
                        <a:cs typeface="Arial" panose="020B0604020202020204" pitchFamily="34" charset="0"/>
                      </a:endParaRPr>
                    </a:p>
                  </a:txBody>
                  <a:tcPr marL="93021" marR="6201" marT="62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8" name="Table 7">
            <a:extLst>
              <a:ext uri="{FF2B5EF4-FFF2-40B4-BE49-F238E27FC236}">
                <a16:creationId xmlns:a16="http://schemas.microsoft.com/office/drawing/2014/main" id="{2B708C4E-9FED-E717-21AB-139F0B2F89B7}"/>
              </a:ext>
            </a:extLst>
          </p:cNvPr>
          <p:cNvGraphicFramePr>
            <a:graphicFrameLocks noGrp="1"/>
          </p:cNvGraphicFramePr>
          <p:nvPr>
            <p:extLst>
              <p:ext uri="{D42A27DB-BD31-4B8C-83A1-F6EECF244321}">
                <p14:modId xmlns:p14="http://schemas.microsoft.com/office/powerpoint/2010/main" val="3683074599"/>
              </p:ext>
            </p:extLst>
          </p:nvPr>
        </p:nvGraphicFramePr>
        <p:xfrm>
          <a:off x="188640" y="2847658"/>
          <a:ext cx="6480720" cy="6641087"/>
        </p:xfrm>
        <a:graphic>
          <a:graphicData uri="http://schemas.openxmlformats.org/drawingml/2006/table">
            <a:tbl>
              <a:tblPr>
                <a:tableStyleId>{5C22544A-7EE6-4342-B048-85BDC9FD1C3A}</a:tableStyleId>
              </a:tblPr>
              <a:tblGrid>
                <a:gridCol w="648072">
                  <a:extLst>
                    <a:ext uri="{9D8B030D-6E8A-4147-A177-3AD203B41FA5}">
                      <a16:colId xmlns:a16="http://schemas.microsoft.com/office/drawing/2014/main" val="2264814607"/>
                    </a:ext>
                  </a:extLst>
                </a:gridCol>
                <a:gridCol w="792088">
                  <a:extLst>
                    <a:ext uri="{9D8B030D-6E8A-4147-A177-3AD203B41FA5}">
                      <a16:colId xmlns:a16="http://schemas.microsoft.com/office/drawing/2014/main" val="2285303087"/>
                    </a:ext>
                  </a:extLst>
                </a:gridCol>
                <a:gridCol w="1656184">
                  <a:extLst>
                    <a:ext uri="{9D8B030D-6E8A-4147-A177-3AD203B41FA5}">
                      <a16:colId xmlns:a16="http://schemas.microsoft.com/office/drawing/2014/main" val="3818460494"/>
                    </a:ext>
                  </a:extLst>
                </a:gridCol>
                <a:gridCol w="1656184">
                  <a:extLst>
                    <a:ext uri="{9D8B030D-6E8A-4147-A177-3AD203B41FA5}">
                      <a16:colId xmlns:a16="http://schemas.microsoft.com/office/drawing/2014/main" val="3218543385"/>
                    </a:ext>
                  </a:extLst>
                </a:gridCol>
                <a:gridCol w="1728192">
                  <a:extLst>
                    <a:ext uri="{9D8B030D-6E8A-4147-A177-3AD203B41FA5}">
                      <a16:colId xmlns:a16="http://schemas.microsoft.com/office/drawing/2014/main" val="2559939705"/>
                    </a:ext>
                  </a:extLst>
                </a:gridCol>
              </a:tblGrid>
              <a:tr h="554781">
                <a:tc>
                  <a:txBody>
                    <a:bodyPr/>
                    <a:lstStyle/>
                    <a:p>
                      <a:pPr algn="ctr" rtl="0" fontAlgn="ctr" latinLnBrk="0"/>
                      <a:r>
                        <a:rPr lang="en-US" sz="1050" b="1" i="0" u="none" strike="noStrike" noProof="0" dirty="0">
                          <a:solidFill>
                            <a:schemeClr val="dk1"/>
                          </a:solidFill>
                          <a:effectLst/>
                          <a:latin typeface="Arial Narrow" panose="020B0606020202030204" pitchFamily="34" charset="0"/>
                          <a:ea typeface="LG Smart_H Regular" panose="020B0600000101010101" pitchFamily="34" charset="-127"/>
                          <a:cs typeface="Arial" panose="020B0604020202020204" pitchFamily="34" charset="0"/>
                        </a:rPr>
                        <a:t>Revision</a:t>
                      </a:r>
                      <a:r>
                        <a:rPr lang="es-MX" sz="1050" b="1" i="0" u="none" strike="noStrike" baseline="0" dirty="0">
                          <a:solidFill>
                            <a:schemeClr val="dk1"/>
                          </a:solidFill>
                          <a:effectLst/>
                          <a:latin typeface="Arial Narrow" panose="020B0606020202030204" pitchFamily="34" charset="0"/>
                          <a:ea typeface="LG Smart_H Regular" panose="020B0600000101010101" pitchFamily="34" charset="-127"/>
                          <a:cs typeface="Arial" panose="020B0604020202020204" pitchFamily="34" charset="0"/>
                        </a:rPr>
                        <a:t> </a:t>
                      </a:r>
                      <a:endParaRPr lang="en-US" sz="1050" b="1"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050" b="1" i="0" u="none" strike="noStrike" kern="1200" cap="none" spc="0" normalizeH="0" baseline="0" noProof="0" dirty="0">
                          <a:ln>
                            <a:noFill/>
                          </a:ln>
                          <a:solidFill>
                            <a:schemeClr val="tx1"/>
                          </a:solidFill>
                          <a:effectLst/>
                          <a:uLnTx/>
                          <a:uFillTx/>
                          <a:latin typeface="Arial Narrow" panose="020B0606020202030204" pitchFamily="34" charset="0"/>
                          <a:ea typeface="LG Smart_H Regular" panose="020B0600000101010101" pitchFamily="34" charset="-127"/>
                          <a:cs typeface="Arial" panose="020B0604020202020204" pitchFamily="34" charset="0"/>
                        </a:rPr>
                        <a:t>Date</a:t>
                      </a:r>
                      <a:endParaRPr kumimoji="1" lang="ko-KR" altLang="en-US" sz="1050" b="1" i="0" u="none" strike="noStrike" kern="1200" cap="none" spc="0" normalizeH="0" baseline="0" noProof="0" dirty="0">
                        <a:ln>
                          <a:noFill/>
                        </a:ln>
                        <a:solidFill>
                          <a:schemeClr val="tx1"/>
                        </a:solidFill>
                        <a:effectLst/>
                        <a:uLnTx/>
                        <a:uFillTx/>
                        <a:latin typeface="Arial Narrow" panose="020B0606020202030204" pitchFamily="34" charset="0"/>
                        <a:ea typeface="LG Smart_H Regular" panose="020B0600000101010101" pitchFamily="34" charset="-127"/>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latinLnBrk="0"/>
                      <a:r>
                        <a:rPr lang="en-US" sz="1050" b="1" i="0" u="none" strike="noStrike" noProof="0"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rPr>
                        <a:t>What changed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latinLnBrk="0"/>
                      <a:r>
                        <a:rPr lang="en-US" sz="1050" b="1" i="0" u="none" strike="noStrike" noProof="0"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rPr>
                        <a:t>What was removed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noProof="0"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rPr>
                        <a:t>What was added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0860384"/>
                  </a:ext>
                </a:extLst>
              </a:tr>
              <a:tr h="554781">
                <a:tc>
                  <a:txBody>
                    <a:bodyPr/>
                    <a:lstStyle/>
                    <a:p>
                      <a:pPr algn="ctr" rtl="0" fontAlgn="ctr"/>
                      <a:r>
                        <a:rPr lang="vi-VN"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rPr>
                        <a:t>00</a:t>
                      </a:r>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s-MX" altLang="ko-KR" sz="1050" b="0" i="0" u="none" strike="noStrike" kern="1200" cap="none" spc="0" normalizeH="0" baseline="0" noProof="0" dirty="0">
                          <a:ln>
                            <a:noFill/>
                          </a:ln>
                          <a:solidFill>
                            <a:schemeClr val="tx1"/>
                          </a:solidFill>
                          <a:effectLst/>
                          <a:uLnTx/>
                          <a:uFillTx/>
                          <a:latin typeface="Arial Narrow" panose="020B0606020202030204" pitchFamily="34" charset="0"/>
                          <a:ea typeface="LG Smart_H Regular" panose="020B0600000101010101" pitchFamily="34" charset="-127"/>
                          <a:cs typeface="Arial" panose="020B0604020202020204" pitchFamily="34" charset="0"/>
                        </a:rPr>
                        <a:t>2026-08-17</a:t>
                      </a:r>
                      <a:endParaRPr kumimoji="1" lang="ko-KR" altLang="en-US" sz="1050" b="0" i="0" u="none" strike="noStrike" kern="1200" cap="none" spc="0" normalizeH="0" baseline="0" noProof="0" dirty="0">
                        <a:ln>
                          <a:noFill/>
                        </a:ln>
                        <a:solidFill>
                          <a:schemeClr val="tx1"/>
                        </a:solidFill>
                        <a:effectLst/>
                        <a:uLnTx/>
                        <a:uFillTx/>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vi-VN"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rPr>
                        <a:t>HSE</a:t>
                      </a:r>
                      <a:r>
                        <a:rPr lang="es-MX"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rPr>
                        <a:t> </a:t>
                      </a:r>
                      <a:r>
                        <a:rPr lang="en-US" sz="1050" b="0" i="0" u="none" strike="noStrike" noProof="0"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rPr>
                        <a:t>released</a:t>
                      </a:r>
                      <a:r>
                        <a:rPr lang="es-MX"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rPr>
                        <a:t> new standard</a:t>
                      </a:r>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latinLnBrk="0"/>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latinLnBrk="0"/>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9710206"/>
                  </a:ext>
                </a:extLst>
              </a:tr>
              <a:tr h="2872138">
                <a:tc>
                  <a:txBody>
                    <a:bodyPr/>
                    <a:lstStyle/>
                    <a:p>
                      <a:pPr algn="ctr" rtl="0" fontAlgn="ctr"/>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b="0" i="0" u="none" strike="noStrike" kern="1200" cap="none" spc="0" normalizeH="0" baseline="0" noProof="0" dirty="0">
                        <a:ln>
                          <a:noFill/>
                        </a:ln>
                        <a:solidFill>
                          <a:schemeClr val="tx1"/>
                        </a:solidFill>
                        <a:effectLst/>
                        <a:uLnTx/>
                        <a:uFillTx/>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latinLnBrk="0"/>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latinLnBrk="0"/>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latinLnBrk="0"/>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7213886"/>
                  </a:ext>
                </a:extLst>
              </a:tr>
              <a:tr h="2659387">
                <a:tc>
                  <a:txBody>
                    <a:bodyPr/>
                    <a:lstStyle/>
                    <a:p>
                      <a:pPr algn="ctr" rtl="0" fontAlgn="ctr"/>
                      <a:endParaRPr lang="en-US" sz="1050" b="0" i="0" u="none" strike="noStrike" dirty="0">
                        <a:solidFill>
                          <a:srgbClr val="000000"/>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b="0" i="0" u="none" strike="noStrike" kern="1200" cap="none" spc="0" normalizeH="0" baseline="0" noProof="0" dirty="0">
                        <a:ln>
                          <a:noFill/>
                        </a:ln>
                        <a:solidFill>
                          <a:schemeClr val="tx1"/>
                        </a:solidFill>
                        <a:effectLst/>
                        <a:uLnTx/>
                        <a:uFillTx/>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latinLnBrk="0"/>
                      <a:endParaRPr lang="en-US" sz="1050" b="0" i="0" u="none" strike="noStrike" dirty="0">
                        <a:solidFill>
                          <a:schemeClr val="tx1"/>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latinLnBrk="0"/>
                      <a:endParaRPr lang="en-US" sz="1050" b="0" i="0" u="none" strike="noStrike" dirty="0">
                        <a:solidFill>
                          <a:schemeClr val="tx1"/>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latinLnBrk="0"/>
                      <a:endParaRPr lang="en-US" sz="1050" b="0" i="0" u="none" strike="noStrike" dirty="0">
                        <a:solidFill>
                          <a:schemeClr val="tx1"/>
                        </a:solidFill>
                        <a:effectLst/>
                        <a:latin typeface="Arial Narrow" panose="020B0606020202030204" pitchFamily="34" charset="0"/>
                        <a:ea typeface="LG Smart_H Regular" panose="020B0600000101010101" pitchFamily="34"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422793"/>
                  </a:ext>
                </a:extLst>
              </a:tr>
            </a:tbl>
          </a:graphicData>
        </a:graphic>
      </p:graphicFrame>
    </p:spTree>
    <p:extLst>
      <p:ext uri="{BB962C8B-B14F-4D97-AF65-F5344CB8AC3E}">
        <p14:creationId xmlns:p14="http://schemas.microsoft.com/office/powerpoint/2010/main" val="500972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F3C36-EEA0-3C58-68E0-83D9B70E6E6B}"/>
            </a:ext>
          </a:extLst>
        </p:cNvPr>
        <p:cNvGrpSpPr/>
        <p:nvPr/>
      </p:nvGrpSpPr>
      <p:grpSpPr>
        <a:xfrm>
          <a:off x="0" y="0"/>
          <a:ext cx="0" cy="0"/>
          <a:chOff x="0" y="0"/>
          <a:chExt cx="0" cy="0"/>
        </a:xfrm>
      </p:grpSpPr>
      <p:graphicFrame>
        <p:nvGraphicFramePr>
          <p:cNvPr id="3" name="Group 291">
            <a:extLst>
              <a:ext uri="{FF2B5EF4-FFF2-40B4-BE49-F238E27FC236}">
                <a16:creationId xmlns:a16="http://schemas.microsoft.com/office/drawing/2014/main" id="{16687398-C27B-6B06-C31C-833B228FCD24}"/>
              </a:ext>
            </a:extLst>
          </p:cNvPr>
          <p:cNvGraphicFramePr>
            <a:graphicFrameLocks noGrp="1"/>
          </p:cNvGraphicFramePr>
          <p:nvPr>
            <p:extLst>
              <p:ext uri="{D42A27DB-BD31-4B8C-83A1-F6EECF244321}">
                <p14:modId xmlns:p14="http://schemas.microsoft.com/office/powerpoint/2010/main" val="2843037128"/>
              </p:ext>
            </p:extLst>
          </p:nvPr>
        </p:nvGraphicFramePr>
        <p:xfrm>
          <a:off x="142032" y="1217092"/>
          <a:ext cx="2160000" cy="3163096"/>
        </p:xfrm>
        <a:graphic>
          <a:graphicData uri="http://schemas.openxmlformats.org/drawingml/2006/table">
            <a:tbl>
              <a:tblPr/>
              <a:tblGrid>
                <a:gridCol w="2160000">
                  <a:extLst>
                    <a:ext uri="{9D8B030D-6E8A-4147-A177-3AD203B41FA5}">
                      <a16:colId xmlns:a16="http://schemas.microsoft.com/office/drawing/2014/main" val="20000"/>
                    </a:ext>
                  </a:extLst>
                </a:gridCol>
              </a:tblGrid>
              <a:tr h="272557">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ko-KR" altLang="en-US" sz="12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n-US" altLang="ko-KR" sz="12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Requirement</a:t>
                      </a:r>
                      <a:endParaRPr kumimoji="0" lang="ko-KR" altLang="ko-KR" sz="12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txBody>
                  <a:tcPr marL="36002" marR="36002" marT="36006" marB="36006"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608846">
                <a:tc>
                  <a:txBody>
                    <a:bodyPr/>
                    <a:lstStyle/>
                    <a:p>
                      <a:pPr marL="114300" marR="0" lvl="0" indent="-114300" algn="l" defTabSz="762000" rtl="0" eaLnBrk="1" fontAlgn="base" latinLnBrk="1" hangingPunct="1">
                        <a:lnSpc>
                          <a:spcPct val="100000"/>
                        </a:lnSpc>
                        <a:spcBef>
                          <a:spcPct val="20000"/>
                        </a:spcBef>
                        <a:spcAft>
                          <a:spcPct val="0"/>
                        </a:spcAft>
                        <a:buClrTx/>
                        <a:buSzTx/>
                        <a:buFontTx/>
                        <a:buAutoNum type="arabicPeriod"/>
                        <a:tabLst/>
                        <a:defRPr/>
                      </a:pPr>
                      <a:r>
                        <a:rPr kumimoji="0" lang="en-US" altLang="ko-KR" sz="10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IATF 16949</a:t>
                      </a: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7.2.3 Competence of internal auditor</a:t>
                      </a: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9.2 Internal Audit /9.2.1/9.2.2</a:t>
                      </a: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9.2.2.1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Internal</a:t>
                      </a: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audit</a:t>
                      </a: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program</a:t>
                      </a:r>
                      <a:endPar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9.2.2.2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Quality</a:t>
                      </a: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management</a:t>
                      </a: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system</a:t>
                      </a: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audit</a:t>
                      </a:r>
                      <a:endPar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9.2.2.3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Process</a:t>
                      </a: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audit</a:t>
                      </a:r>
                      <a:endPar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9.2.2.4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Product</a:t>
                      </a:r>
                      <a:r>
                        <a:rPr kumimoji="0" lang="es-MX"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s-MX" altLang="ko-KR" sz="1000" b="0" i="0" u="none" strike="noStrike" cap="none" normalizeH="0" baseline="0" dirty="0" err="1">
                          <a:ln>
                            <a:noFill/>
                          </a:ln>
                          <a:solidFill>
                            <a:schemeClr val="tx1"/>
                          </a:solidFill>
                          <a:effectLst/>
                          <a:latin typeface="Arial Narrow" panose="020B0606020202030204" pitchFamily="34" charset="0"/>
                          <a:ea typeface="맑은 고딕" pitchFamily="50" charset="-127"/>
                          <a:cs typeface="Arial" pitchFamily="34" charset="0"/>
                        </a:rPr>
                        <a:t>audit</a:t>
                      </a:r>
                      <a:endPar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kumimoji="0" lang="en-US" altLang="ko-KR" sz="1000" b="0" i="0" u="none" strike="noStrike" cap="none" normalizeH="0" baseline="0" dirty="0">
                        <a:ln>
                          <a:noFill/>
                        </a:ln>
                        <a:solidFill>
                          <a:srgbClr val="FF0000"/>
                        </a:solidFill>
                        <a:effectLst/>
                        <a:latin typeface="Arial Narrow" panose="020B0606020202030204" pitchFamily="34" charset="0"/>
                        <a:ea typeface="맑은 고딕" pitchFamily="50" charset="-127"/>
                        <a:cs typeface="Arial" pitchFamily="34" charset="0"/>
                      </a:endParaRPr>
                    </a:p>
                  </a:txBody>
                  <a:tcPr marL="36002" marR="36002" marT="36006" marB="36006"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69607">
                <a:tc>
                  <a:txBody>
                    <a:bodyPr/>
                    <a:lstStyle/>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2. Customer (CSR)</a:t>
                      </a: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0" i="0" u="none" strike="noStrike" kern="1200"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GM</a:t>
                      </a:r>
                      <a:endParaRPr kumimoji="0" lang="en-US" altLang="ko-KR" sz="1000" b="0" i="0" u="none" strike="sngStrike" kern="1200" cap="none" normalizeH="0" baseline="0" dirty="0">
                        <a:ln>
                          <a:noFill/>
                        </a:ln>
                        <a:solidFill>
                          <a:schemeClr val="tx1"/>
                        </a:solidFill>
                        <a:effectLst/>
                        <a:latin typeface="Arial Narrow" panose="020B0606020202030204" pitchFamily="34" charset="0"/>
                        <a:ea typeface="+mn-ea"/>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0" i="0" u="none" strike="noStrike" kern="1200"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Refer to attached excel file</a:t>
                      </a:r>
                    </a:p>
                  </a:txBody>
                  <a:tcPr marL="36002" marR="36002" marT="36006" marB="36006"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39965">
                <a:tc>
                  <a:txBody>
                    <a:bodyPr/>
                    <a:lstStyle/>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3. Legal/Regulatory: N/A</a:t>
                      </a:r>
                    </a:p>
                  </a:txBody>
                  <a:tcPr marL="36002" marR="36002" marT="36006" marB="36006"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72121">
                <a:tc>
                  <a:txBody>
                    <a:bodyPr/>
                    <a:lstStyle/>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4. ETC: N/A </a:t>
                      </a:r>
                      <a:r>
                        <a:rPr kumimoji="0" lang="en-US" altLang="ko-KR" sz="1000" b="0" i="1" u="none" strike="noStrike" cap="none" normalizeH="0" baseline="0" dirty="0">
                          <a:ln>
                            <a:noFill/>
                          </a:ln>
                          <a:solidFill>
                            <a:srgbClr val="00B050"/>
                          </a:solidFill>
                          <a:effectLst/>
                          <a:latin typeface="Arial Narrow" panose="020B0606020202030204" pitchFamily="34" charset="0"/>
                          <a:ea typeface="맑은 고딕" pitchFamily="50" charset="-127"/>
                          <a:cs typeface="Arial" pitchFamily="34" charset="0"/>
                        </a:rPr>
                        <a:t>(Supplier/ Interested Party)</a:t>
                      </a:r>
                    </a:p>
                  </a:txBody>
                  <a:tcPr marL="36002" marR="36002" marT="36006" marB="36006"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 name="Group 365">
            <a:extLst>
              <a:ext uri="{FF2B5EF4-FFF2-40B4-BE49-F238E27FC236}">
                <a16:creationId xmlns:a16="http://schemas.microsoft.com/office/drawing/2014/main" id="{B173E7A2-50AA-27ED-B176-2A766224CCA2}"/>
              </a:ext>
            </a:extLst>
          </p:cNvPr>
          <p:cNvGraphicFramePr>
            <a:graphicFrameLocks noGrp="1"/>
          </p:cNvGraphicFramePr>
          <p:nvPr>
            <p:extLst>
              <p:ext uri="{D42A27DB-BD31-4B8C-83A1-F6EECF244321}">
                <p14:modId xmlns:p14="http://schemas.microsoft.com/office/powerpoint/2010/main" val="894795543"/>
              </p:ext>
            </p:extLst>
          </p:nvPr>
        </p:nvGraphicFramePr>
        <p:xfrm>
          <a:off x="2348057" y="1222348"/>
          <a:ext cx="2157984" cy="3468105"/>
        </p:xfrm>
        <a:graphic>
          <a:graphicData uri="http://schemas.openxmlformats.org/drawingml/2006/table">
            <a:tbl>
              <a:tblPr/>
              <a:tblGrid>
                <a:gridCol w="2157984">
                  <a:extLst>
                    <a:ext uri="{9D8B030D-6E8A-4147-A177-3AD203B41FA5}">
                      <a16:colId xmlns:a16="http://schemas.microsoft.com/office/drawing/2014/main" val="20000"/>
                    </a:ext>
                  </a:extLst>
                </a:gridCol>
              </a:tblGrid>
              <a:tr h="261388">
                <a:tc>
                  <a:txBody>
                    <a:bodyPr/>
                    <a:lstStyle/>
                    <a:p>
                      <a:pPr rtl="0"/>
                      <a:r>
                        <a:rPr kumimoji="0" lang="ko-KR" altLang="en-US" sz="12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kumimoji="0" lang="en-US" altLang="ko-KR" sz="12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Opportunity / </a:t>
                      </a:r>
                      <a:r>
                        <a:rPr kumimoji="0" lang="en-US" altLang="ko-KR" sz="1200" b="1" i="0" u="none" strike="noStrike" cap="none" normalizeH="0" baseline="0" dirty="0">
                          <a:ln>
                            <a:noFill/>
                          </a:ln>
                          <a:solidFill>
                            <a:schemeClr val="tx1"/>
                          </a:solidFill>
                          <a:effectLst/>
                          <a:latin typeface="Arial Narrow" panose="020B0606020202030204" pitchFamily="34" charset="0"/>
                          <a:ea typeface="+mn-ea"/>
                          <a:cs typeface="Arial" pitchFamily="34" charset="0"/>
                        </a:rPr>
                        <a:t>Risk analysis</a:t>
                      </a:r>
                      <a:endParaRPr lang="en-US" altLang="ko-KR" sz="1200" b="1" dirty="0">
                        <a:latin typeface="Arial Narrow" panose="020B0606020202030204" pitchFamily="34" charset="0"/>
                        <a:cs typeface="Arial" pitchFamily="34" charset="0"/>
                      </a:endParaRPr>
                    </a:p>
                  </a:txBody>
                  <a:tcPr marL="36000" marR="36000" marT="36008" marB="3600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67707">
                <a:tc>
                  <a:txBody>
                    <a:bodyPr/>
                    <a:lstStyle/>
                    <a:p>
                      <a:pPr marL="58738" marR="0" lvl="0" indent="-58738" algn="l" defTabSz="762000" rtl="0" eaLnBrk="1" fontAlgn="base" latinLnBrk="1" hangingPunct="1">
                        <a:lnSpc>
                          <a:spcPct val="100000"/>
                        </a:lnSpc>
                        <a:spcBef>
                          <a:spcPct val="20000"/>
                        </a:spcBef>
                        <a:spcAft>
                          <a:spcPct val="0"/>
                        </a:spcAft>
                        <a:buClrTx/>
                        <a:buSzTx/>
                        <a:buFont typeface="Arial" panose="020B0604020202020204" pitchFamily="34" charset="0"/>
                        <a:buChar char="•"/>
                        <a:tabLst/>
                        <a:defRPr/>
                      </a:pPr>
                      <a:r>
                        <a:rPr lang="en-US" altLang="ko-KR" sz="1000" b="1" dirty="0">
                          <a:latin typeface="Arial Narrow" panose="020B0606020202030204" pitchFamily="34" charset="0"/>
                          <a:cs typeface="Arial" pitchFamily="34" charset="0"/>
                        </a:rPr>
                        <a:t> Opportunity</a:t>
                      </a:r>
                    </a:p>
                    <a:p>
                      <a:pPr marL="0" marR="0" lvl="0" indent="0" algn="l" defTabSz="762000" rtl="0" eaLnBrk="1" fontAlgn="base" latinLnBrk="1" hangingPunct="1">
                        <a:lnSpc>
                          <a:spcPct val="100000"/>
                        </a:lnSpc>
                        <a:spcBef>
                          <a:spcPct val="20000"/>
                        </a:spcBef>
                        <a:spcAft>
                          <a:spcPct val="0"/>
                        </a:spcAft>
                        <a:buClrTx/>
                        <a:buSzTx/>
                        <a:buFont typeface="Arial" panose="020B0604020202020204" pitchFamily="34" charset="0"/>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 Find potential issue in advanced</a:t>
                      </a:r>
                    </a:p>
                    <a:p>
                      <a:pPr marL="0" marR="0" lvl="0" indent="0" algn="l" defTabSz="762000" rtl="0" eaLnBrk="1" fontAlgn="base" latinLnBrk="1" hangingPunct="1">
                        <a:lnSpc>
                          <a:spcPct val="100000"/>
                        </a:lnSpc>
                        <a:spcBef>
                          <a:spcPct val="20000"/>
                        </a:spcBef>
                        <a:spcAft>
                          <a:spcPct val="0"/>
                        </a:spcAft>
                        <a:buClrTx/>
                        <a:buSzTx/>
                        <a:buFont typeface="Arial" panose="020B0604020202020204" pitchFamily="34" charset="0"/>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 Improve QMS </a:t>
                      </a:r>
                    </a:p>
                  </a:txBody>
                  <a:tcPr marL="36000" marR="36000" marT="36008" marB="360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20447">
                <a:tc>
                  <a:txBody>
                    <a:bodyPr/>
                    <a:lstStyle/>
                    <a:p>
                      <a:pPr marL="115888" marR="0" lvl="0" indent="-115888" algn="l" defTabSz="762000" rtl="0" eaLnBrk="1" fontAlgn="base" latinLnBrk="1" hangingPunct="1">
                        <a:lnSpc>
                          <a:spcPct val="100000"/>
                        </a:lnSpc>
                        <a:spcBef>
                          <a:spcPct val="20000"/>
                        </a:spcBef>
                        <a:spcAft>
                          <a:spcPct val="0"/>
                        </a:spcAft>
                        <a:buClrTx/>
                        <a:buSzTx/>
                        <a:buFont typeface="Arial" panose="020B0604020202020204" pitchFamily="34" charset="0"/>
                        <a:buChar char="•"/>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Risk Factors</a:t>
                      </a:r>
                    </a:p>
                    <a:p>
                      <a:pPr marL="171450" marR="0" lvl="0" indent="-171450" algn="l" defTabSz="762000" rtl="0" eaLnBrk="1" fontAlgn="base" latinLnBrk="1" hangingPunct="1">
                        <a:lnSpc>
                          <a:spcPct val="100000"/>
                        </a:lnSpc>
                        <a:spcBef>
                          <a:spcPct val="20000"/>
                        </a:spcBef>
                        <a:spcAft>
                          <a:spcPct val="0"/>
                        </a:spcAft>
                        <a:buClrTx/>
                        <a:buSzTx/>
                        <a:buFontTx/>
                        <a:buChar char="-"/>
                        <a:tabLst/>
                      </a:pPr>
                      <a:r>
                        <a:rPr lang="en-US" sz="1000" dirty="0">
                          <a:solidFill>
                            <a:schemeClr val="tx1"/>
                          </a:solidFill>
                          <a:latin typeface="Arial Narrow" panose="020B0606020202030204" pitchFamily="34" charset="0"/>
                        </a:rPr>
                        <a:t>Missing IATF16949 Certification</a:t>
                      </a:r>
                    </a:p>
                    <a:p>
                      <a:pPr marL="171450" marR="0" lvl="0" indent="-171450" algn="l" defTabSz="762000" rtl="0" eaLnBrk="1" fontAlgn="base" latinLnBrk="1" hangingPunct="1">
                        <a:lnSpc>
                          <a:spcPct val="100000"/>
                        </a:lnSpc>
                        <a:spcBef>
                          <a:spcPct val="20000"/>
                        </a:spcBef>
                        <a:spcAft>
                          <a:spcPct val="0"/>
                        </a:spcAft>
                        <a:buClrTx/>
                        <a:buSzTx/>
                        <a:buFontTx/>
                        <a:buChar char="-"/>
                        <a:tabLst/>
                      </a:pPr>
                      <a:r>
                        <a:rPr lang="en-US" sz="1000" dirty="0">
                          <a:solidFill>
                            <a:schemeClr val="tx1"/>
                          </a:solidFill>
                          <a:latin typeface="Arial Narrow" panose="020B0606020202030204" pitchFamily="34" charset="0"/>
                        </a:rPr>
                        <a:t>Breaking up Quality Management System</a:t>
                      </a:r>
                    </a:p>
                    <a:p>
                      <a:pPr marL="171450" marR="0" lvl="0" indent="-171450" algn="l" defTabSz="762000" rtl="0" eaLnBrk="1" fontAlgn="base" latinLnBrk="1" hangingPunct="1">
                        <a:lnSpc>
                          <a:spcPct val="100000"/>
                        </a:lnSpc>
                        <a:spcBef>
                          <a:spcPct val="20000"/>
                        </a:spcBef>
                        <a:spcAft>
                          <a:spcPct val="0"/>
                        </a:spcAft>
                        <a:buClrTx/>
                        <a:buSzTx/>
                        <a:buFontTx/>
                        <a:buChar char="-"/>
                        <a:tabLst/>
                      </a:pPr>
                      <a:r>
                        <a:rPr lang="en-US" sz="1000" noProof="0" dirty="0">
                          <a:solidFill>
                            <a:schemeClr val="tx1"/>
                          </a:solidFill>
                          <a:latin typeface="Arial Narrow" panose="020B0606020202030204" pitchFamily="34" charset="0"/>
                        </a:rPr>
                        <a:t>Cannot</a:t>
                      </a:r>
                      <a:r>
                        <a:rPr lang="en-US" sz="1000" baseline="0" noProof="0" dirty="0">
                          <a:solidFill>
                            <a:schemeClr val="tx1"/>
                          </a:solidFill>
                          <a:latin typeface="Arial Narrow" panose="020B0606020202030204" pitchFamily="34" charset="0"/>
                        </a:rPr>
                        <a:t> find out potential issue to improve QMS</a:t>
                      </a:r>
                      <a:endParaRPr lang="en-US" sz="1000" noProof="0" dirty="0">
                        <a:solidFill>
                          <a:schemeClr val="tx1"/>
                        </a:solidFill>
                        <a:latin typeface="Arial Narrow" panose="020B0606020202030204" pitchFamily="34" charset="0"/>
                      </a:endParaRPr>
                    </a:p>
                  </a:txBody>
                  <a:tcPr marL="36000" marR="36000" marT="36008" marB="360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84866">
                <a:tc>
                  <a:txBody>
                    <a:bodyPr/>
                    <a:lstStyle/>
                    <a:p>
                      <a:pPr marL="115888" marR="0" lvl="0" indent="-115888" algn="l" defTabSz="762000" rtl="0" eaLnBrk="1" fontAlgn="base" latinLnBrk="1" hangingPunct="1">
                        <a:lnSpc>
                          <a:spcPct val="100000"/>
                        </a:lnSpc>
                        <a:spcBef>
                          <a:spcPct val="20000"/>
                        </a:spcBef>
                        <a:spcAft>
                          <a:spcPct val="0"/>
                        </a:spcAft>
                        <a:buClrTx/>
                        <a:buSzTx/>
                        <a:buFont typeface="Arial" panose="020B0604020202020204" pitchFamily="34" charset="0"/>
                        <a:buChar char="•"/>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Impact</a:t>
                      </a: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Cannot achieve customer requirements</a:t>
                      </a:r>
                    </a:p>
                  </a:txBody>
                  <a:tcPr marL="36000" marR="36000" marT="36008" marB="360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1206219">
                <a:tc>
                  <a:txBody>
                    <a:bodyPr/>
                    <a:lstStyle/>
                    <a:p>
                      <a:pPr marL="115888" marR="0" lvl="0" indent="-115888" algn="l" defTabSz="762000" rtl="0" eaLnBrk="1" fontAlgn="base" latinLnBrk="1" hangingPunct="1">
                        <a:lnSpc>
                          <a:spcPct val="100000"/>
                        </a:lnSpc>
                        <a:spcBef>
                          <a:spcPct val="20000"/>
                        </a:spcBef>
                        <a:spcAft>
                          <a:spcPct val="0"/>
                        </a:spcAft>
                        <a:buClrTx/>
                        <a:buSzTx/>
                        <a:buFont typeface="Arial" panose="020B0604020202020204" pitchFamily="34" charset="0"/>
                        <a:buChar char="•"/>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Strategy</a:t>
                      </a: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 Monitoring &amp; checking regular audit on </a:t>
                      </a: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management review</a:t>
                      </a: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 Conduct periodic training to improve </a:t>
                      </a: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internal auditor competency (including </a:t>
                      </a: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customer requirements)</a:t>
                      </a:r>
                    </a:p>
                  </a:txBody>
                  <a:tcPr marL="36000" marR="36000" marT="36008" marB="3600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 name="Group 292">
            <a:extLst>
              <a:ext uri="{FF2B5EF4-FFF2-40B4-BE49-F238E27FC236}">
                <a16:creationId xmlns:a16="http://schemas.microsoft.com/office/drawing/2014/main" id="{379D5932-3F4D-B78A-19D2-41CFE685224E}"/>
              </a:ext>
            </a:extLst>
          </p:cNvPr>
          <p:cNvGraphicFramePr>
            <a:graphicFrameLocks noGrp="1"/>
          </p:cNvGraphicFramePr>
          <p:nvPr>
            <p:extLst>
              <p:ext uri="{D42A27DB-BD31-4B8C-83A1-F6EECF244321}">
                <p14:modId xmlns:p14="http://schemas.microsoft.com/office/powerpoint/2010/main" val="56572828"/>
              </p:ext>
            </p:extLst>
          </p:nvPr>
        </p:nvGraphicFramePr>
        <p:xfrm>
          <a:off x="4548485" y="1222347"/>
          <a:ext cx="2160000" cy="3163097"/>
        </p:xfrm>
        <a:graphic>
          <a:graphicData uri="http://schemas.openxmlformats.org/drawingml/2006/table">
            <a:tbl>
              <a:tblPr/>
              <a:tblGrid>
                <a:gridCol w="464691">
                  <a:extLst>
                    <a:ext uri="{9D8B030D-6E8A-4147-A177-3AD203B41FA5}">
                      <a16:colId xmlns:a16="http://schemas.microsoft.com/office/drawing/2014/main" val="20000"/>
                    </a:ext>
                  </a:extLst>
                </a:gridCol>
                <a:gridCol w="1695309">
                  <a:extLst>
                    <a:ext uri="{9D8B030D-6E8A-4147-A177-3AD203B41FA5}">
                      <a16:colId xmlns:a16="http://schemas.microsoft.com/office/drawing/2014/main" val="20001"/>
                    </a:ext>
                  </a:extLst>
                </a:gridCol>
              </a:tblGrid>
              <a:tr h="258134">
                <a:tc gridSpan="2">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ko-KR" altLang="en-US" sz="12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a:t>
                      </a:r>
                      <a:r>
                        <a:rPr lang="en-US" altLang="ko-KR" sz="1200" b="1" dirty="0">
                          <a:latin typeface="Arial Narrow" panose="020B0606020202030204" pitchFamily="34" charset="0"/>
                          <a:cs typeface="Arial" pitchFamily="34" charset="0"/>
                        </a:rPr>
                        <a:t>Resources</a:t>
                      </a:r>
                      <a:endParaRPr kumimoji="0" lang="ko-KR" altLang="ko-KR" sz="12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txBody>
                  <a:tcPr marL="35997" marR="35997" marT="36013" marB="360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0"/>
                  </a:ext>
                </a:extLst>
              </a:tr>
              <a:tr h="456141">
                <a:tc rowSpan="3">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lang="en-US" altLang="ko-KR" sz="800" dirty="0">
                          <a:latin typeface="Arial Narrow" panose="020B0606020202030204" pitchFamily="34" charset="0"/>
                          <a:cs typeface="Arial" pitchFamily="34" charset="0"/>
                        </a:rPr>
                        <a:t>Personnel</a:t>
                      </a:r>
                      <a:endParaRPr kumimoji="0" lang="ko-KR"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txBody>
                  <a:tcPr marL="35997" marR="35997" marT="36013" marB="360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58738" marR="0" lvl="0" indent="-58738" algn="l" defTabSz="762000" rtl="0" eaLnBrk="1" fontAlgn="base" latinLnBrk="1" hangingPunct="1">
                        <a:lnSpc>
                          <a:spcPct val="100000"/>
                        </a:lnSpc>
                        <a:spcBef>
                          <a:spcPct val="20000"/>
                        </a:spcBef>
                        <a:spcAft>
                          <a:spcPct val="0"/>
                        </a:spcAft>
                        <a:buClrTx/>
                        <a:buSzTx/>
                        <a:buFont typeface="Arial" panose="020B0604020202020204" pitchFamily="34" charset="0"/>
                        <a:buChar char="•"/>
                        <a:tabLst/>
                        <a:defRPr/>
                      </a:pPr>
                      <a:r>
                        <a:rPr kumimoji="0" lang="en-US" altLang="ko-KR" sz="8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Education</a:t>
                      </a: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 College graduation or more</a:t>
                      </a:r>
                    </a:p>
                  </a:txBody>
                  <a:tcPr marL="35997" marR="35997" marT="36013" marB="360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4598">
                <a:tc vMerge="1">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맑은 고딕" pitchFamily="50" charset="-127"/>
                        <a:ea typeface="맑은 고딕" pitchFamily="50" charset="-127"/>
                      </a:endParaRPr>
                    </a:p>
                  </a:txBody>
                  <a:tcPr marL="35997" marR="35997" marT="36013" marB="360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58738" marR="0" lvl="0" indent="-58738" algn="l" defTabSz="762000" rtl="0" eaLnBrk="1" fontAlgn="base" latinLnBrk="1" hangingPunct="1">
                        <a:lnSpc>
                          <a:spcPct val="100000"/>
                        </a:lnSpc>
                        <a:spcBef>
                          <a:spcPct val="20000"/>
                        </a:spcBef>
                        <a:spcAft>
                          <a:spcPct val="0"/>
                        </a:spcAft>
                        <a:buClrTx/>
                        <a:buSzTx/>
                        <a:buFont typeface="Arial" panose="020B0604020202020204" pitchFamily="34" charset="0"/>
                        <a:buChar char="•"/>
                        <a:tabLst/>
                        <a:defRPr/>
                      </a:pPr>
                      <a:r>
                        <a:rPr kumimoji="0" lang="en-US" altLang="ko-KR" sz="800" b="1" i="0" u="none" strike="noStrike" cap="none" normalizeH="0" baseline="0" noProof="0" dirty="0">
                          <a:ln>
                            <a:noFill/>
                          </a:ln>
                          <a:solidFill>
                            <a:schemeClr val="tx1"/>
                          </a:solidFill>
                          <a:effectLst/>
                          <a:latin typeface="Arial Narrow" panose="020B0606020202030204" pitchFamily="34" charset="0"/>
                          <a:ea typeface="맑은 고딕" pitchFamily="50" charset="-127"/>
                          <a:cs typeface="Arial" pitchFamily="34" charset="0"/>
                        </a:rPr>
                        <a:t>Experience</a:t>
                      </a:r>
                      <a:endParaRPr kumimoji="0" lang="en-US" altLang="ko-KR" sz="8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kumimoji="0" lang="en-US"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 1 year or more </a:t>
                      </a:r>
                    </a:p>
                  </a:txBody>
                  <a:tcPr marL="35997" marR="35997" marT="36013" marB="360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00630">
                <a:tc vMerge="1">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맑은 고딕" pitchFamily="50" charset="-127"/>
                        <a:ea typeface="맑은 고딕" pitchFamily="50" charset="-127"/>
                      </a:endParaRPr>
                    </a:p>
                  </a:txBody>
                  <a:tcPr marL="35997" marR="35997" marT="36013" marB="3601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58738" marR="0" lvl="0" indent="-58738" algn="l" defTabSz="762000" rtl="0" eaLnBrk="1" fontAlgn="base" latinLnBrk="1" hangingPunct="1">
                        <a:lnSpc>
                          <a:spcPct val="100000"/>
                        </a:lnSpc>
                        <a:spcBef>
                          <a:spcPct val="20000"/>
                        </a:spcBef>
                        <a:spcAft>
                          <a:spcPct val="0"/>
                        </a:spcAft>
                        <a:buClrTx/>
                        <a:buSzTx/>
                        <a:buFont typeface="Arial" panose="020B0604020202020204" pitchFamily="34" charset="0"/>
                        <a:buChar char="•"/>
                        <a:tabLst/>
                        <a:defRPr/>
                      </a:pPr>
                      <a:r>
                        <a:rPr kumimoji="0" lang="en-US" altLang="ko-KR" sz="8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Training</a:t>
                      </a: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 : IATF 16949 internal auditor training </a:t>
                      </a: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800" b="0" i="0" u="none" strike="noStrike" cap="none" normalizeH="0" baseline="0">
                          <a:ln>
                            <a:noFill/>
                          </a:ln>
                          <a:solidFill>
                            <a:schemeClr val="tx1"/>
                          </a:solidFill>
                          <a:effectLst/>
                          <a:latin typeface="Arial Narrow" panose="020B0606020202030204" pitchFamily="34" charset="0"/>
                          <a:ea typeface="맑은 고딕" pitchFamily="50" charset="-127"/>
                          <a:cs typeface="Arial" pitchFamily="34" charset="0"/>
                        </a:rPr>
                        <a:t>   Internal </a:t>
                      </a:r>
                      <a:r>
                        <a:rPr kumimoji="0" lang="en-US"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OJT </a:t>
                      </a:r>
                    </a:p>
                  </a:txBody>
                  <a:tcPr marL="35997" marR="35997" marT="36013" marB="360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787739">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lang="en-US" altLang="ko-KR" sz="800" dirty="0">
                          <a:latin typeface="Arial Narrow" panose="020B0606020202030204" pitchFamily="34" charset="0"/>
                          <a:cs typeface="Arial" pitchFamily="34" charset="0"/>
                        </a:rPr>
                        <a:t>Tools</a:t>
                      </a:r>
                    </a:p>
                  </a:txBody>
                  <a:tcPr marL="35997" marR="35997" marT="36013" marB="360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lang="en-US" altLang="ko-KR" sz="800" b="1" dirty="0">
                          <a:latin typeface="Arial Narrow" panose="020B0606020202030204" pitchFamily="34" charset="0"/>
                          <a:cs typeface="Arial" pitchFamily="34" charset="0"/>
                        </a:rPr>
                        <a:t>HW: </a:t>
                      </a:r>
                      <a:r>
                        <a:rPr lang="en-US" altLang="ko-KR" sz="800" dirty="0">
                          <a:latin typeface="Arial Narrow" panose="020B0606020202030204" pitchFamily="34" charset="0"/>
                          <a:cs typeface="Arial" pitchFamily="34" charset="0"/>
                        </a:rPr>
                        <a:t>PC</a:t>
                      </a:r>
                    </a:p>
                    <a:p>
                      <a:pPr marL="0" marR="0" lvl="0" indent="0" algn="l" defTabSz="762000" rtl="0" eaLnBrk="1" fontAlgn="base" latinLnBrk="1" hangingPunct="1">
                        <a:lnSpc>
                          <a:spcPct val="100000"/>
                        </a:lnSpc>
                        <a:spcBef>
                          <a:spcPct val="20000"/>
                        </a:spcBef>
                        <a:spcAft>
                          <a:spcPct val="0"/>
                        </a:spcAft>
                        <a:buClrTx/>
                        <a:buSzTx/>
                        <a:buFontTx/>
                        <a:buNone/>
                        <a:tabLst/>
                      </a:pPr>
                      <a:r>
                        <a:rPr lang="en-US" altLang="ko-KR" sz="800" b="1" dirty="0">
                          <a:latin typeface="Arial Narrow" panose="020B0606020202030204" pitchFamily="34" charset="0"/>
                          <a:cs typeface="Arial" pitchFamily="34" charset="0"/>
                        </a:rPr>
                        <a:t>SW:</a:t>
                      </a:r>
                      <a:r>
                        <a:rPr lang="en-US" altLang="ko-KR" sz="800" b="1" baseline="0" dirty="0">
                          <a:latin typeface="Arial Narrow" panose="020B0606020202030204" pitchFamily="34" charset="0"/>
                          <a:cs typeface="Arial" pitchFamily="34" charset="0"/>
                        </a:rPr>
                        <a:t> </a:t>
                      </a:r>
                      <a:r>
                        <a:rPr lang="en-US" altLang="ko-KR" sz="800" b="0" baseline="0" dirty="0">
                          <a:latin typeface="Arial Narrow" panose="020B0606020202030204" pitchFamily="34" charset="0"/>
                          <a:cs typeface="Arial" pitchFamily="34" charset="0"/>
                        </a:rPr>
                        <a:t>Audit check list </a:t>
                      </a: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8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     (VDA 6.3/ 6.5, Customer required format)</a:t>
                      </a: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8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      Audit NCR Issue F/</a:t>
                      </a:r>
                      <a:r>
                        <a:rPr kumimoji="0" lang="en-US" altLang="ko-KR" sz="800" b="0" i="0" u="none" strike="noStrike" kern="1200" cap="none" normalizeH="0" baseline="0">
                          <a:ln>
                            <a:noFill/>
                          </a:ln>
                          <a:solidFill>
                            <a:schemeClr val="tx1"/>
                          </a:solidFill>
                          <a:effectLst/>
                          <a:latin typeface="Arial Narrow" panose="020B0606020202030204" pitchFamily="34" charset="0"/>
                          <a:ea typeface="Malgun Gothic" pitchFamily="34" charset="-127"/>
                          <a:cs typeface="Arial" pitchFamily="34" charset="0"/>
                        </a:rPr>
                        <a:t>up sheet</a:t>
                      </a:r>
                      <a:endParaRPr kumimoji="0" lang="en-US" altLang="ko-KR" sz="8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txBody>
                  <a:tcPr marL="35997" marR="35997" marT="36013" marB="360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18278">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lang="en-US" altLang="ko-KR" sz="800" dirty="0">
                          <a:latin typeface="Arial Narrow" panose="020B0606020202030204" pitchFamily="34" charset="0"/>
                          <a:cs typeface="Arial" pitchFamily="34" charset="0"/>
                        </a:rPr>
                        <a:t>Related</a:t>
                      </a:r>
                      <a:r>
                        <a:rPr lang="en-US" altLang="ko-KR" sz="800" baseline="0" dirty="0">
                          <a:latin typeface="Arial Narrow" panose="020B0606020202030204" pitchFamily="34" charset="0"/>
                          <a:cs typeface="Arial" pitchFamily="34" charset="0"/>
                        </a:rPr>
                        <a:t> teams</a:t>
                      </a:r>
                      <a:endParaRPr kumimoji="0" lang="en-US"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txBody>
                  <a:tcPr marL="35997" marR="35997" marT="36013" marB="360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HSE All team</a:t>
                      </a:r>
                    </a:p>
                  </a:txBody>
                  <a:tcPr marL="35997" marR="35997" marT="36013" marB="360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77577">
                <a:tc>
                  <a:txBody>
                    <a:bodyPr/>
                    <a:lstStyle/>
                    <a:p>
                      <a:pPr marL="0" marR="0" lvl="0" indent="0" algn="ctr" defTabSz="762000" rtl="0" eaLnBrk="1" fontAlgn="base" latinLnBrk="1" hangingPunct="1">
                        <a:lnSpc>
                          <a:spcPct val="100000"/>
                        </a:lnSpc>
                        <a:spcBef>
                          <a:spcPct val="20000"/>
                        </a:spcBef>
                        <a:spcAft>
                          <a:spcPct val="0"/>
                        </a:spcAft>
                        <a:buClrTx/>
                        <a:buSzTx/>
                        <a:buFontTx/>
                        <a:buNone/>
                        <a:tabLst/>
                        <a:defRPr/>
                      </a:pPr>
                      <a:r>
                        <a:rPr kumimoji="0" lang="en-US"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Team in charge</a:t>
                      </a:r>
                    </a:p>
                  </a:txBody>
                  <a:tcPr marL="35997" marR="35997" marT="36013" marB="3601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800" b="0" i="0" u="none" strike="noStrike" cap="none" normalizeH="0" baseline="0">
                          <a:ln>
                            <a:noFill/>
                          </a:ln>
                          <a:solidFill>
                            <a:schemeClr val="tx1"/>
                          </a:solidFill>
                          <a:effectLst/>
                          <a:latin typeface="Arial Narrow" panose="020B0606020202030204" pitchFamily="34" charset="0"/>
                          <a:ea typeface="맑은 고딕" pitchFamily="50" charset="-127"/>
                          <a:cs typeface="Arial" pitchFamily="34" charset="0"/>
                        </a:rPr>
                        <a:t>Quality Department</a:t>
                      </a:r>
                      <a:endParaRPr kumimoji="0" lang="en-US" altLang="ko-KR" sz="8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txBody>
                  <a:tcPr marL="35997" marR="35997" marT="36013" marB="360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 name="Group 362">
            <a:extLst>
              <a:ext uri="{FF2B5EF4-FFF2-40B4-BE49-F238E27FC236}">
                <a16:creationId xmlns:a16="http://schemas.microsoft.com/office/drawing/2014/main" id="{248BC387-F1CD-F7CC-BB58-591036F11AD8}"/>
              </a:ext>
            </a:extLst>
          </p:cNvPr>
          <p:cNvGraphicFramePr>
            <a:graphicFrameLocks noGrp="1"/>
          </p:cNvGraphicFramePr>
          <p:nvPr>
            <p:extLst>
              <p:ext uri="{D42A27DB-BD31-4B8C-83A1-F6EECF244321}">
                <p14:modId xmlns:p14="http://schemas.microsoft.com/office/powerpoint/2010/main" val="2248676921"/>
              </p:ext>
            </p:extLst>
          </p:nvPr>
        </p:nvGraphicFramePr>
        <p:xfrm>
          <a:off x="141290" y="4431198"/>
          <a:ext cx="2157984" cy="1750425"/>
        </p:xfrm>
        <a:graphic>
          <a:graphicData uri="http://schemas.openxmlformats.org/drawingml/2006/table">
            <a:tbl>
              <a:tblPr/>
              <a:tblGrid>
                <a:gridCol w="2157984">
                  <a:extLst>
                    <a:ext uri="{9D8B030D-6E8A-4147-A177-3AD203B41FA5}">
                      <a16:colId xmlns:a16="http://schemas.microsoft.com/office/drawing/2014/main" val="20000"/>
                    </a:ext>
                  </a:extLst>
                </a:gridCol>
              </a:tblGrid>
              <a:tr h="259153">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ko-KR" altLang="en-US" sz="12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 </a:t>
                      </a:r>
                      <a:r>
                        <a:rPr kumimoji="0" lang="en-US" altLang="ko-KR" sz="1200" b="1"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Process Input</a:t>
                      </a:r>
                      <a:endParaRPr kumimoji="0" lang="ko-KR" altLang="ko-KR" sz="1200" b="1"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txBody>
                  <a:tcPr marL="36003" marR="36003" marT="36021" marB="36021"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491272">
                <a:tc>
                  <a:txBody>
                    <a:bodyPr/>
                    <a:lstStyle/>
                    <a:p>
                      <a:pPr marL="171450" marR="0" lvl="0" indent="-171450" algn="l" defTabSz="914400" rtl="0" eaLnBrk="1" fontAlgn="ctr" latinLnBrk="1" hangingPunct="1">
                        <a:lnSpc>
                          <a:spcPct val="125000"/>
                        </a:lnSpc>
                        <a:spcBef>
                          <a:spcPct val="0"/>
                        </a:spcBef>
                        <a:spcAft>
                          <a:spcPct val="0"/>
                        </a:spcAft>
                        <a:buClrTx/>
                        <a:buSzTx/>
                        <a:buFont typeface="Arial Narrow" panose="020B0606020202030204" pitchFamily="34" charset="0"/>
                        <a:buChar char="−"/>
                        <a:tabLst/>
                      </a:pPr>
                      <a:r>
                        <a:rPr kumimoji="0" lang="en-US" altLang="ko-KR" sz="9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 Past internal audit report</a:t>
                      </a:r>
                    </a:p>
                    <a:p>
                      <a:pPr marL="171450" marR="0" lvl="0" indent="-171450" algn="l" defTabSz="914400" rtl="0" eaLnBrk="1" fontAlgn="ctr" latinLnBrk="1" hangingPunct="1">
                        <a:lnSpc>
                          <a:spcPct val="125000"/>
                        </a:lnSpc>
                        <a:spcBef>
                          <a:spcPct val="0"/>
                        </a:spcBef>
                        <a:spcAft>
                          <a:spcPct val="0"/>
                        </a:spcAft>
                        <a:buClrTx/>
                        <a:buSzTx/>
                        <a:buFont typeface="Arial Narrow" panose="020B0606020202030204" pitchFamily="34" charset="0"/>
                        <a:buChar char="−"/>
                        <a:tabLst/>
                      </a:pPr>
                      <a:r>
                        <a:rPr kumimoji="0" lang="en-US" altLang="ko-KR" sz="9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 Internal &amp; external </a:t>
                      </a:r>
                      <a:r>
                        <a:rPr kumimoji="0" lang="en-GB" altLang="ko-KR" sz="9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performance /change</a:t>
                      </a:r>
                    </a:p>
                    <a:p>
                      <a:pPr marL="171450" marR="0" lvl="0" indent="-171450" algn="l" defTabSz="914400" rtl="0" eaLnBrk="1" fontAlgn="ctr" latinLnBrk="1" hangingPunct="1">
                        <a:lnSpc>
                          <a:spcPct val="125000"/>
                        </a:lnSpc>
                        <a:spcBef>
                          <a:spcPct val="0"/>
                        </a:spcBef>
                        <a:spcAft>
                          <a:spcPct val="0"/>
                        </a:spcAft>
                        <a:buClrTx/>
                        <a:buSzTx/>
                        <a:buFont typeface="Arial Narrow" panose="020B0606020202030204" pitchFamily="34" charset="0"/>
                        <a:buChar char="−"/>
                        <a:tabLst/>
                      </a:pPr>
                      <a:r>
                        <a:rPr kumimoji="0" lang="en-US" altLang="ko-KR" sz="9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 Risk assessment</a:t>
                      </a:r>
                    </a:p>
                    <a:p>
                      <a:pPr marL="171450" marR="0" lvl="0" indent="-171450" algn="l" defTabSz="914400" rtl="0" eaLnBrk="1" fontAlgn="ctr" latinLnBrk="1" hangingPunct="1">
                        <a:lnSpc>
                          <a:spcPct val="125000"/>
                        </a:lnSpc>
                        <a:spcBef>
                          <a:spcPct val="0"/>
                        </a:spcBef>
                        <a:spcAft>
                          <a:spcPct val="0"/>
                        </a:spcAft>
                        <a:buClrTx/>
                        <a:buSzTx/>
                        <a:buFont typeface="Arial Narrow" panose="020B0606020202030204" pitchFamily="34" charset="0"/>
                        <a:buChar char="−"/>
                        <a:tabLst/>
                      </a:pPr>
                      <a:r>
                        <a:rPr kumimoji="0" lang="en-US" altLang="ko-KR" sz="9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Audit </a:t>
                      </a:r>
                      <a:r>
                        <a:rPr lang="en-US" altLang="ko-KR" sz="900" b="0" dirty="0">
                          <a:solidFill>
                            <a:schemeClr val="tx1"/>
                          </a:solidFill>
                          <a:latin typeface="Arial Narrow" panose="020B0606020202030204" pitchFamily="34" charset="0"/>
                          <a:ea typeface="Dotum" pitchFamily="34" charset="-127"/>
                          <a:cs typeface="Arial" pitchFamily="34" charset="0"/>
                        </a:rPr>
                        <a:t>Checklist</a:t>
                      </a:r>
                      <a:endParaRPr kumimoji="0" lang="en-US" altLang="ko-KR" sz="9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p>
                      <a:pPr marL="171450" marR="0" lvl="0" indent="-171450" algn="l" defTabSz="914400" rtl="0" eaLnBrk="1" fontAlgn="ctr" latinLnBrk="1" hangingPunct="1">
                        <a:lnSpc>
                          <a:spcPct val="125000"/>
                        </a:lnSpc>
                        <a:spcBef>
                          <a:spcPct val="0"/>
                        </a:spcBef>
                        <a:spcAft>
                          <a:spcPct val="0"/>
                        </a:spcAft>
                        <a:buClrTx/>
                        <a:buSzTx/>
                        <a:buFont typeface="Arial Narrow" panose="020B0606020202030204" pitchFamily="34" charset="0"/>
                        <a:buChar char="−"/>
                        <a:tabLst/>
                      </a:pPr>
                      <a:r>
                        <a:rPr kumimoji="0" lang="en-US" altLang="ko-KR" sz="9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Product spec, Control Plan, Work Instruction</a:t>
                      </a:r>
                    </a:p>
                    <a:p>
                      <a:pPr marL="171450" marR="0" lvl="0" indent="-171450" algn="l" defTabSz="914400" rtl="0" eaLnBrk="1" fontAlgn="ctr" latinLnBrk="1" hangingPunct="1">
                        <a:lnSpc>
                          <a:spcPct val="125000"/>
                        </a:lnSpc>
                        <a:spcBef>
                          <a:spcPct val="0"/>
                        </a:spcBef>
                        <a:spcAft>
                          <a:spcPct val="0"/>
                        </a:spcAft>
                        <a:buClrTx/>
                        <a:buSzTx/>
                        <a:buFont typeface="Arial Narrow" panose="020B0606020202030204" pitchFamily="34" charset="0"/>
                        <a:buChar char="−"/>
                        <a:tabLst/>
                      </a:pPr>
                      <a:r>
                        <a:rPr kumimoji="0" lang="en-US" altLang="ko-KR" sz="9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 CSRs</a:t>
                      </a:r>
                    </a:p>
                    <a:p>
                      <a:pPr marL="171450" marR="0" lvl="0" indent="-171450" algn="l" defTabSz="914400" rtl="0" eaLnBrk="1" fontAlgn="ctr" latinLnBrk="1" hangingPunct="1">
                        <a:lnSpc>
                          <a:spcPct val="125000"/>
                        </a:lnSpc>
                        <a:spcBef>
                          <a:spcPct val="0"/>
                        </a:spcBef>
                        <a:spcAft>
                          <a:spcPct val="0"/>
                        </a:spcAft>
                        <a:buClrTx/>
                        <a:buSzTx/>
                        <a:buFont typeface="Arial Narrow" panose="020B0606020202030204" pitchFamily="34" charset="0"/>
                        <a:buChar char="−"/>
                        <a:tabLst/>
                      </a:pPr>
                      <a:r>
                        <a:rPr kumimoji="0" lang="es-MX" altLang="ko-KR" sz="9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CQI 8 LPA</a:t>
                      </a:r>
                    </a:p>
                    <a:p>
                      <a:pPr marL="171450" marR="0" lvl="0" indent="-171450" algn="l" defTabSz="914400" rtl="0" eaLnBrk="1" fontAlgn="ctr" latinLnBrk="1" hangingPunct="1">
                        <a:lnSpc>
                          <a:spcPct val="125000"/>
                        </a:lnSpc>
                        <a:spcBef>
                          <a:spcPct val="0"/>
                        </a:spcBef>
                        <a:spcAft>
                          <a:spcPct val="0"/>
                        </a:spcAft>
                        <a:buClrTx/>
                        <a:buSzTx/>
                        <a:buFont typeface="Arial Narrow" panose="020B0606020202030204" pitchFamily="34" charset="0"/>
                        <a:buChar char="−"/>
                        <a:tabLst/>
                      </a:pPr>
                      <a:r>
                        <a:rPr kumimoji="0" lang="es-MX" altLang="ko-KR" sz="9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Control Plan</a:t>
                      </a:r>
                      <a:endParaRPr kumimoji="0" lang="en-US" altLang="ko-KR" sz="900" b="0" i="0" u="none" strike="noStrike" kern="1200"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txBody>
                  <a:tcPr marL="36003" marR="36003" marT="36021" marB="36021"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1" name="Picture 4" descr="거북이 누운놈1">
            <a:extLst>
              <a:ext uri="{FF2B5EF4-FFF2-40B4-BE49-F238E27FC236}">
                <a16:creationId xmlns:a16="http://schemas.microsoft.com/office/drawing/2014/main" id="{CF812468-4AA6-DDFA-E384-88D7A5C73BDE}"/>
              </a:ext>
            </a:extLst>
          </p:cNvPr>
          <p:cNvPicPr>
            <a:picLocks noChangeAspect="1" noChangeArrowheads="1"/>
          </p:cNvPicPr>
          <p:nvPr/>
        </p:nvPicPr>
        <p:blipFill>
          <a:blip r:embed="rId3" cstate="print"/>
          <a:srcRect/>
          <a:stretch>
            <a:fillRect/>
          </a:stretch>
        </p:blipFill>
        <p:spPr bwMode="auto">
          <a:xfrm>
            <a:off x="2831620" y="4764559"/>
            <a:ext cx="1194652" cy="1251791"/>
          </a:xfrm>
          <a:prstGeom prst="rect">
            <a:avLst/>
          </a:prstGeom>
          <a:noFill/>
          <a:ln w="9525">
            <a:noFill/>
            <a:miter lim="800000"/>
            <a:headEnd/>
            <a:tailEnd/>
          </a:ln>
        </p:spPr>
      </p:pic>
      <p:sp>
        <p:nvSpPr>
          <p:cNvPr id="13" name="TextBox 1">
            <a:extLst>
              <a:ext uri="{FF2B5EF4-FFF2-40B4-BE49-F238E27FC236}">
                <a16:creationId xmlns:a16="http://schemas.microsoft.com/office/drawing/2014/main" id="{E4CDBA15-2A6A-1180-9AF9-85E224F009C6}"/>
              </a:ext>
            </a:extLst>
          </p:cNvPr>
          <p:cNvSpPr txBox="1">
            <a:spLocks noChangeArrowheads="1"/>
          </p:cNvSpPr>
          <p:nvPr/>
        </p:nvSpPr>
        <p:spPr bwMode="auto">
          <a:xfrm>
            <a:off x="3017839" y="5133107"/>
            <a:ext cx="828675" cy="692497"/>
          </a:xfrm>
          <a:prstGeom prst="rect">
            <a:avLst/>
          </a:prstGeom>
          <a:noFill/>
          <a:ln w="9525">
            <a:noFill/>
            <a:miter lim="800000"/>
            <a:headEnd/>
            <a:tailEnd/>
          </a:ln>
        </p:spPr>
        <p:txBody>
          <a:bodyPr>
            <a:spAutoFit/>
          </a:bodyPr>
          <a:lstStyle/>
          <a:p>
            <a:pPr algn="ctr" eaLnBrk="1" hangingPunct="1"/>
            <a:r>
              <a:rPr lang="en-US" altLang="ko-KR" sz="1300" b="1" dirty="0">
                <a:solidFill>
                  <a:srgbClr val="0070C0"/>
                </a:solidFill>
                <a:latin typeface="Arial Narrow" panose="020B0606020202030204" pitchFamily="34" charset="0"/>
                <a:ea typeface="Malgun Gothic" pitchFamily="34" charset="-127"/>
                <a:cs typeface="Arial" pitchFamily="34" charset="0"/>
              </a:rPr>
              <a:t>System Audit Standard</a:t>
            </a:r>
          </a:p>
        </p:txBody>
      </p:sp>
      <p:graphicFrame>
        <p:nvGraphicFramePr>
          <p:cNvPr id="15" name="Group 462">
            <a:extLst>
              <a:ext uri="{FF2B5EF4-FFF2-40B4-BE49-F238E27FC236}">
                <a16:creationId xmlns:a16="http://schemas.microsoft.com/office/drawing/2014/main" id="{84519395-396E-3706-6714-B947E86EB2B2}"/>
              </a:ext>
            </a:extLst>
          </p:cNvPr>
          <p:cNvGraphicFramePr>
            <a:graphicFrameLocks noGrp="1"/>
          </p:cNvGraphicFramePr>
          <p:nvPr>
            <p:extLst>
              <p:ext uri="{D42A27DB-BD31-4B8C-83A1-F6EECF244321}">
                <p14:modId xmlns:p14="http://schemas.microsoft.com/office/powerpoint/2010/main" val="744871293"/>
              </p:ext>
            </p:extLst>
          </p:nvPr>
        </p:nvGraphicFramePr>
        <p:xfrm>
          <a:off x="4547220" y="4431198"/>
          <a:ext cx="2160000" cy="1754446"/>
        </p:xfrm>
        <a:graphic>
          <a:graphicData uri="http://schemas.openxmlformats.org/drawingml/2006/table">
            <a:tbl>
              <a:tblPr/>
              <a:tblGrid>
                <a:gridCol w="2160000">
                  <a:extLst>
                    <a:ext uri="{9D8B030D-6E8A-4147-A177-3AD203B41FA5}">
                      <a16:colId xmlns:a16="http://schemas.microsoft.com/office/drawing/2014/main" val="20000"/>
                    </a:ext>
                  </a:extLst>
                </a:gridCol>
              </a:tblGrid>
              <a:tr h="228686">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ko-KR" altLang="en-US" sz="900" b="0" i="0" u="none" strike="noStrike" cap="none" normalizeH="0" baseline="0" dirty="0">
                          <a:ln>
                            <a:noFill/>
                          </a:ln>
                          <a:solidFill>
                            <a:schemeClr val="tx1"/>
                          </a:solidFill>
                          <a:effectLst/>
                          <a:latin typeface="Arial Narrow" panose="020B0606020202030204" pitchFamily="34" charset="0"/>
                          <a:ea typeface="맑은 고딕" pitchFamily="50" charset="-127"/>
                        </a:rPr>
                        <a:t>▣ </a:t>
                      </a:r>
                      <a:r>
                        <a:rPr kumimoji="0" lang="en-US" altLang="ko-KR" sz="1200" b="1" i="0" u="none" strike="noStrike" cap="none" normalizeH="0" baseline="0" dirty="0">
                          <a:ln>
                            <a:noFill/>
                          </a:ln>
                          <a:solidFill>
                            <a:schemeClr val="tx1"/>
                          </a:solidFill>
                          <a:effectLst/>
                          <a:latin typeface="Arial Narrow" panose="020B0606020202030204" pitchFamily="34" charset="0"/>
                          <a:ea typeface="맑은 고딕" pitchFamily="50" charset="-127"/>
                        </a:rPr>
                        <a:t>Process Output</a:t>
                      </a:r>
                      <a:endParaRPr kumimoji="0" lang="ko-KR" altLang="ko-KR" sz="1200" b="1" i="0" u="none" strike="noStrike" cap="none" normalizeH="0" baseline="0" dirty="0">
                        <a:ln>
                          <a:noFill/>
                        </a:ln>
                        <a:solidFill>
                          <a:schemeClr val="tx1"/>
                        </a:solidFill>
                        <a:effectLst/>
                        <a:latin typeface="Arial Narrow" panose="020B0606020202030204" pitchFamily="34" charset="0"/>
                        <a:ea typeface="맑은 고딕" pitchFamily="50" charset="-127"/>
                      </a:endParaRPr>
                    </a:p>
                  </a:txBody>
                  <a:tcPr marL="35988" marR="35988" marT="36030" marB="3603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1499506">
                <a:tc>
                  <a:txBody>
                    <a:bodyPr/>
                    <a:lstStyle/>
                    <a:p>
                      <a:pPr marL="171450" marR="0" indent="-171450" algn="l" defTabSz="914400" rtl="0" eaLnBrk="1" fontAlgn="auto" latinLnBrk="1" hangingPunct="1">
                        <a:lnSpc>
                          <a:spcPct val="150000"/>
                        </a:lnSpc>
                        <a:spcBef>
                          <a:spcPts val="0"/>
                        </a:spcBef>
                        <a:spcAft>
                          <a:spcPts val="0"/>
                        </a:spcAft>
                        <a:buClrTx/>
                        <a:buSzTx/>
                        <a:buFont typeface="Arial Narrow" panose="020B0606020202030204" pitchFamily="34" charset="0"/>
                        <a:buChar char="−"/>
                        <a:tabLst/>
                        <a:defRPr/>
                      </a:pPr>
                      <a:r>
                        <a:rPr kumimoji="1" lang="en-US" altLang="ko-KR" sz="900" b="0" i="0" u="none" strike="noStrike" kern="1200" cap="none" normalizeH="0" baseline="0" dirty="0">
                          <a:ln>
                            <a:noFill/>
                          </a:ln>
                          <a:solidFill>
                            <a:schemeClr val="tx1"/>
                          </a:solidFill>
                          <a:effectLst/>
                          <a:latin typeface="Arial Narrow" panose="020B0606020202030204" pitchFamily="34" charset="0"/>
                          <a:ea typeface="돋움" pitchFamily="50" charset="-127"/>
                          <a:cs typeface="Arial" charset="0"/>
                        </a:rPr>
                        <a:t>Audit plan</a:t>
                      </a:r>
                    </a:p>
                    <a:p>
                      <a:pPr marL="171450" marR="0" indent="-171450" algn="l" defTabSz="914400" rtl="0" eaLnBrk="1" fontAlgn="auto" latinLnBrk="1" hangingPunct="1">
                        <a:lnSpc>
                          <a:spcPct val="150000"/>
                        </a:lnSpc>
                        <a:spcBef>
                          <a:spcPts val="0"/>
                        </a:spcBef>
                        <a:spcAft>
                          <a:spcPts val="0"/>
                        </a:spcAft>
                        <a:buClrTx/>
                        <a:buSzTx/>
                        <a:buFont typeface="Arial Narrow" panose="020B0606020202030204" pitchFamily="34" charset="0"/>
                        <a:buChar char="−"/>
                        <a:tabLst/>
                        <a:defRPr/>
                      </a:pPr>
                      <a:r>
                        <a:rPr kumimoji="1" lang="en-US" altLang="ko-KR" sz="900" b="0" i="0" u="none" strike="noStrike" cap="none" normalizeH="0" baseline="0" dirty="0">
                          <a:ln>
                            <a:noFill/>
                          </a:ln>
                          <a:solidFill>
                            <a:schemeClr val="tx1"/>
                          </a:solidFill>
                          <a:effectLst/>
                          <a:latin typeface="Arial Narrow" panose="020B0606020202030204" pitchFamily="34" charset="0"/>
                          <a:ea typeface="돋움" pitchFamily="50" charset="-127"/>
                          <a:cs typeface="Arial" charset="0"/>
                        </a:rPr>
                        <a:t>Report of audit results</a:t>
                      </a:r>
                    </a:p>
                    <a:p>
                      <a:pPr marL="171450" indent="-171450" rtl="0">
                        <a:lnSpc>
                          <a:spcPct val="150000"/>
                        </a:lnSpc>
                        <a:buFont typeface="Arial Narrow" panose="020B0606020202030204" pitchFamily="34" charset="0"/>
                        <a:buChar char="−"/>
                      </a:pPr>
                      <a:r>
                        <a:rPr kumimoji="1" lang="en-US" altLang="ko-KR" sz="900" b="0" i="0" u="none" strike="noStrike" cap="none" normalizeH="0" baseline="0" dirty="0">
                          <a:ln>
                            <a:noFill/>
                          </a:ln>
                          <a:solidFill>
                            <a:schemeClr val="tx1"/>
                          </a:solidFill>
                          <a:effectLst/>
                          <a:latin typeface="Arial Narrow" panose="020B0606020202030204" pitchFamily="34" charset="0"/>
                          <a:ea typeface="돋움" pitchFamily="50" charset="-127"/>
                          <a:cs typeface="Arial" charset="0"/>
                        </a:rPr>
                        <a:t>Non- Conforming report</a:t>
                      </a:r>
                    </a:p>
                    <a:p>
                      <a:pPr marL="171450" indent="-171450" rtl="0">
                        <a:lnSpc>
                          <a:spcPct val="150000"/>
                        </a:lnSpc>
                        <a:buFont typeface="Arial Narrow" panose="020B0606020202030204" pitchFamily="34" charset="0"/>
                        <a:buChar char="−"/>
                      </a:pPr>
                      <a:r>
                        <a:rPr kumimoji="1" lang="en-US" altLang="ko-KR" sz="900" b="0" i="0" u="none" strike="noStrike" cap="none" normalizeH="0" baseline="0" dirty="0">
                          <a:ln>
                            <a:noFill/>
                          </a:ln>
                          <a:solidFill>
                            <a:schemeClr val="tx1"/>
                          </a:solidFill>
                          <a:effectLst/>
                          <a:latin typeface="Arial Narrow" panose="020B0606020202030204" pitchFamily="34" charset="0"/>
                          <a:ea typeface="돋움" pitchFamily="50" charset="-127"/>
                          <a:cs typeface="Arial" charset="0"/>
                        </a:rPr>
                        <a:t>Corrective Action Report</a:t>
                      </a:r>
                    </a:p>
                    <a:p>
                      <a:pPr marL="171450" marR="0" lvl="0" indent="-171450" algn="l" defTabSz="914400" rtl="0" eaLnBrk="1" fontAlgn="auto" latinLnBrk="1" hangingPunct="1">
                        <a:lnSpc>
                          <a:spcPct val="150000"/>
                        </a:lnSpc>
                        <a:spcBef>
                          <a:spcPts val="0"/>
                        </a:spcBef>
                        <a:spcAft>
                          <a:spcPts val="0"/>
                        </a:spcAft>
                        <a:buClrTx/>
                        <a:buSzTx/>
                        <a:buFont typeface="Arial Narrow" panose="020B0606020202030204" pitchFamily="34" charset="0"/>
                        <a:buChar char="−"/>
                        <a:tabLst/>
                        <a:defRPr/>
                      </a:pPr>
                      <a:r>
                        <a:rPr lang="en-US" altLang="ko-KR" sz="900" b="0" dirty="0">
                          <a:solidFill>
                            <a:schemeClr val="tx1"/>
                          </a:solidFill>
                          <a:latin typeface="Arial Narrow" panose="020B0606020202030204" pitchFamily="34" charset="0"/>
                          <a:ea typeface="LG스마트체 Regular" panose="020B0600000101010101" pitchFamily="50" charset="-127"/>
                          <a:cs typeface="Arial" charset="0"/>
                        </a:rPr>
                        <a:t>Internal auditor qualification list</a:t>
                      </a:r>
                    </a:p>
                  </a:txBody>
                  <a:tcPr marL="35988" marR="35988" marT="36030" marB="3603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7" name="Group 364">
            <a:extLst>
              <a:ext uri="{FF2B5EF4-FFF2-40B4-BE49-F238E27FC236}">
                <a16:creationId xmlns:a16="http://schemas.microsoft.com/office/drawing/2014/main" id="{B273F6C5-410F-F832-C2E7-3FAC3473473F}"/>
              </a:ext>
            </a:extLst>
          </p:cNvPr>
          <p:cNvGraphicFramePr>
            <a:graphicFrameLocks noGrp="1"/>
          </p:cNvGraphicFramePr>
          <p:nvPr>
            <p:extLst>
              <p:ext uri="{D42A27DB-BD31-4B8C-83A1-F6EECF244321}">
                <p14:modId xmlns:p14="http://schemas.microsoft.com/office/powerpoint/2010/main" val="1907247348"/>
              </p:ext>
            </p:extLst>
          </p:nvPr>
        </p:nvGraphicFramePr>
        <p:xfrm>
          <a:off x="135682" y="6257399"/>
          <a:ext cx="2160000" cy="3312368"/>
        </p:xfrm>
        <a:graphic>
          <a:graphicData uri="http://schemas.openxmlformats.org/drawingml/2006/table">
            <a:tbl>
              <a:tblPr/>
              <a:tblGrid>
                <a:gridCol w="2160000">
                  <a:extLst>
                    <a:ext uri="{9D8B030D-6E8A-4147-A177-3AD203B41FA5}">
                      <a16:colId xmlns:a16="http://schemas.microsoft.com/office/drawing/2014/main" val="20000"/>
                    </a:ext>
                  </a:extLst>
                </a:gridCol>
              </a:tblGrid>
              <a:tr h="213560">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ko-KR" altLang="en-US" sz="900" b="0" i="0" u="none" strike="noStrike" cap="none" normalizeH="0" baseline="0" dirty="0">
                          <a:ln>
                            <a:noFill/>
                          </a:ln>
                          <a:solidFill>
                            <a:schemeClr val="tx1"/>
                          </a:solidFill>
                          <a:effectLst/>
                          <a:latin typeface="Arial" pitchFamily="34" charset="0"/>
                          <a:ea typeface="맑은 고딕" pitchFamily="50" charset="-127"/>
                          <a:cs typeface="Arial" pitchFamily="34" charset="0"/>
                        </a:rPr>
                        <a:t>▣ </a:t>
                      </a:r>
                      <a:r>
                        <a:rPr kumimoji="0" lang="en-US" altLang="ko-KR" sz="12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rPr>
                        <a:t>Related Processes/Standards</a:t>
                      </a:r>
                      <a:endParaRPr kumimoji="0" lang="ko-KR" altLang="ko-KR" sz="1200" b="1"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txBody>
                  <a:tcPr marL="35987" marR="35987" marT="36008" marB="3600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057472">
                <a:tc>
                  <a:txBody>
                    <a:bodyPr/>
                    <a:lstStyle/>
                    <a:p>
                      <a:pPr marL="228600" marR="0" lvl="0" indent="-228600" algn="l" defTabSz="762000" rtl="0" eaLnBrk="1" fontAlgn="base" latinLnBrk="1" hangingPunct="1">
                        <a:lnSpc>
                          <a:spcPct val="100000"/>
                        </a:lnSpc>
                        <a:spcBef>
                          <a:spcPct val="20000"/>
                        </a:spcBef>
                        <a:spcAft>
                          <a:spcPct val="0"/>
                        </a:spcAft>
                        <a:buClrTx/>
                        <a:buSzTx/>
                        <a:buFontTx/>
                        <a:buNone/>
                        <a:tabLst/>
                      </a:pPr>
                      <a:endParaRPr kumimoji="0" lang="en-US" altLang="ko-KR" sz="1000" b="0" i="0" u="none" strike="noStrike" cap="none" normalizeH="0" baseline="0" dirty="0">
                        <a:ln>
                          <a:noFill/>
                        </a:ln>
                        <a:solidFill>
                          <a:schemeClr val="tx1"/>
                        </a:solidFill>
                        <a:effectLst/>
                        <a:latin typeface="Arial Narrow" panose="020B0606020202030204" pitchFamily="34" charset="0"/>
                        <a:ea typeface="맑은 고딕" pitchFamily="50" charset="-127"/>
                        <a:cs typeface="Arial" pitchFamily="34" charset="0"/>
                      </a:endParaRPr>
                    </a:p>
                    <a:p>
                      <a:pPr fontAlgn="auto" hangingPunct="1"/>
                      <a:endParaRPr lang="en-US" altLang="ko-KR" sz="1000" kern="1200" dirty="0">
                        <a:solidFill>
                          <a:schemeClr val="tx1"/>
                        </a:solidFill>
                        <a:latin typeface="Arial Narrow" panose="020B0606020202030204" pitchFamily="34" charset="0"/>
                        <a:ea typeface="+mn-ea"/>
                        <a:cs typeface="Arial" pitchFamily="34" charset="0"/>
                      </a:endParaRPr>
                    </a:p>
                    <a:p>
                      <a:pPr marL="228600" marR="0" lvl="0" indent="-228600" algn="l" defTabSz="762000" rtl="0" eaLnBrk="1" fontAlgn="base" latinLnBrk="1" hangingPunct="1">
                        <a:lnSpc>
                          <a:spcPct val="100000"/>
                        </a:lnSpc>
                        <a:spcBef>
                          <a:spcPct val="20000"/>
                        </a:spcBef>
                        <a:spcAft>
                          <a:spcPct val="0"/>
                        </a:spcAft>
                        <a:buClrTx/>
                        <a:buSzTx/>
                        <a:buFontTx/>
                        <a:buNone/>
                        <a:tabLst/>
                      </a:pPr>
                      <a:endParaRPr lang="en-US" altLang="ko-KR" sz="1000" kern="1200" dirty="0">
                        <a:solidFill>
                          <a:schemeClr val="tx1"/>
                        </a:solidFill>
                        <a:latin typeface="Arial Narrow" panose="020B0606020202030204" pitchFamily="34" charset="0"/>
                        <a:ea typeface="+mn-ea"/>
                        <a:cs typeface="Arial" pitchFamily="34" charset="0"/>
                      </a:endParaRPr>
                    </a:p>
                  </a:txBody>
                  <a:tcPr marL="35987" marR="35987" marT="36008" marB="36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9" name="Group 365">
            <a:extLst>
              <a:ext uri="{FF2B5EF4-FFF2-40B4-BE49-F238E27FC236}">
                <a16:creationId xmlns:a16="http://schemas.microsoft.com/office/drawing/2014/main" id="{EB18C516-8153-75E3-11EE-9409ED33447B}"/>
              </a:ext>
            </a:extLst>
          </p:cNvPr>
          <p:cNvGraphicFramePr>
            <a:graphicFrameLocks noGrp="1"/>
          </p:cNvGraphicFramePr>
          <p:nvPr>
            <p:extLst>
              <p:ext uri="{D42A27DB-BD31-4B8C-83A1-F6EECF244321}">
                <p14:modId xmlns:p14="http://schemas.microsoft.com/office/powerpoint/2010/main" val="4192026541"/>
              </p:ext>
            </p:extLst>
          </p:nvPr>
        </p:nvGraphicFramePr>
        <p:xfrm>
          <a:off x="2341642" y="6257146"/>
          <a:ext cx="2160587" cy="3312874"/>
        </p:xfrm>
        <a:graphic>
          <a:graphicData uri="http://schemas.openxmlformats.org/drawingml/2006/table">
            <a:tbl>
              <a:tblPr/>
              <a:tblGrid>
                <a:gridCol w="2160587">
                  <a:extLst>
                    <a:ext uri="{9D8B030D-6E8A-4147-A177-3AD203B41FA5}">
                      <a16:colId xmlns:a16="http://schemas.microsoft.com/office/drawing/2014/main" val="20000"/>
                    </a:ext>
                  </a:extLst>
                </a:gridCol>
              </a:tblGrid>
              <a:tr h="213217">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ko-KR" altLang="en-US" sz="900" b="0" i="0" u="none" strike="noStrike" cap="none" normalizeH="0" baseline="0" dirty="0">
                          <a:ln>
                            <a:noFill/>
                          </a:ln>
                          <a:solidFill>
                            <a:schemeClr val="tx1"/>
                          </a:solidFill>
                          <a:effectLst/>
                          <a:latin typeface="Arial" pitchFamily="34" charset="0"/>
                          <a:ea typeface="Malgun Gothic" pitchFamily="34" charset="-127"/>
                          <a:cs typeface="Arial" pitchFamily="34" charset="0"/>
                        </a:rPr>
                        <a:t>▣ </a:t>
                      </a:r>
                      <a:r>
                        <a:rPr kumimoji="0" lang="en-US" altLang="ko-KR" sz="1200" b="1"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Process step</a:t>
                      </a:r>
                      <a:endParaRPr kumimoji="0" lang="ko-KR" altLang="ko-KR" sz="1200" b="1"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txBody>
                  <a:tcPr marL="36000" marR="36000" marT="36008" marB="3600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057978">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br>
                        <a:rPr kumimoji="0" lang="en-US" altLang="ko-KR" sz="1000" b="0" i="0" u="none" strike="noStrike" cap="none" normalizeH="0" baseline="0" dirty="0">
                          <a:ln>
                            <a:noFill/>
                          </a:ln>
                          <a:solidFill>
                            <a:srgbClr val="FF0000"/>
                          </a:solidFill>
                          <a:effectLst/>
                          <a:latin typeface="Arial Narrow" panose="020B0606020202030204" pitchFamily="34" charset="0"/>
                          <a:ea typeface="Malgun Gothic" pitchFamily="34" charset="-127"/>
                          <a:cs typeface="Arial" pitchFamily="34" charset="0"/>
                        </a:rPr>
                      </a:br>
                      <a:r>
                        <a:rPr kumimoji="0" lang="en-US"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1. </a:t>
                      </a:r>
                      <a:r>
                        <a:rPr lang="en-US" altLang="ko-KR" sz="1000" dirty="0">
                          <a:solidFill>
                            <a:schemeClr val="tx1"/>
                          </a:solidFill>
                          <a:latin typeface="Arial Narrow" panose="020B0606020202030204" pitchFamily="34" charset="0"/>
                          <a:ea typeface="Dotum" pitchFamily="34" charset="-127"/>
                          <a:cs typeface="Arial" charset="0"/>
                        </a:rPr>
                        <a:t>Internal audit annual plan</a:t>
                      </a: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2. </a:t>
                      </a:r>
                      <a:r>
                        <a:rPr lang="en-US" altLang="ko-KR" sz="1000" b="0" dirty="0">
                          <a:solidFill>
                            <a:srgbClr val="000000"/>
                          </a:solidFill>
                          <a:latin typeface="Arial Narrow" panose="020B0606020202030204" pitchFamily="34" charset="0"/>
                          <a:ea typeface="Dotum" pitchFamily="34" charset="-127"/>
                          <a:cs typeface="Arial" charset="0"/>
                        </a:rPr>
                        <a:t>Prepare details</a:t>
                      </a:r>
                      <a:endParaRPr lang="ko-KR" altLang="en-US" sz="1000" b="0" dirty="0">
                        <a:solidFill>
                          <a:srgbClr val="000000"/>
                        </a:solidFill>
                        <a:latin typeface="Arial Narrow" panose="020B0606020202030204" pitchFamily="34" charset="0"/>
                        <a:ea typeface="Dotum" pitchFamily="34" charset="-127"/>
                        <a:cs typeface="Arial" charset="0"/>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3. </a:t>
                      </a:r>
                      <a:r>
                        <a:rPr lang="en-US" altLang="ko-KR" sz="1000" b="0" dirty="0">
                          <a:solidFill>
                            <a:srgbClr val="000000"/>
                          </a:solidFill>
                          <a:latin typeface="Arial Narrow" panose="020B0606020202030204" pitchFamily="34" charset="0"/>
                          <a:ea typeface="Dotum" pitchFamily="34" charset="-127"/>
                          <a:cs typeface="Arial" pitchFamily="34" charset="0"/>
                        </a:rPr>
                        <a:t>Perform internal audits</a:t>
                      </a:r>
                      <a:endParaRPr lang="ko-KR" altLang="en-US" sz="1000" b="0" dirty="0">
                        <a:solidFill>
                          <a:srgbClr val="000000"/>
                        </a:solidFill>
                        <a:latin typeface="Arial Narrow" panose="020B0606020202030204" pitchFamily="34" charset="0"/>
                        <a:ea typeface="Dotum" pitchFamily="34" charset="-127"/>
                        <a:cs typeface="Arial" pitchFamily="34" charset="0"/>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4. </a:t>
                      </a:r>
                      <a:r>
                        <a:rPr lang="en-US" altLang="ko-KR" sz="1000" b="0" dirty="0">
                          <a:solidFill>
                            <a:srgbClr val="000000"/>
                          </a:solidFill>
                          <a:latin typeface="Arial Narrow" panose="020B0606020202030204" pitchFamily="34" charset="0"/>
                          <a:ea typeface="Dotum" pitchFamily="34" charset="-127"/>
                          <a:cs typeface="Arial" pitchFamily="34" charset="0"/>
                        </a:rPr>
                        <a:t>Nonconformity reporting and corrective action follow up</a:t>
                      </a: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5. </a:t>
                      </a:r>
                      <a:r>
                        <a:rPr lang="en-US" altLang="ko-KR" sz="1000" b="0" dirty="0">
                          <a:solidFill>
                            <a:srgbClr val="000000"/>
                          </a:solidFill>
                          <a:latin typeface="Arial Narrow" pitchFamily="34" charset="0"/>
                          <a:ea typeface="Dotum" pitchFamily="34" charset="-127"/>
                          <a:cs typeface="Arial" charset="0"/>
                        </a:rPr>
                        <a:t>Internal audit result report</a:t>
                      </a: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6. Corrective action / validation</a:t>
                      </a:r>
                    </a:p>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7. </a:t>
                      </a:r>
                      <a:r>
                        <a:rPr lang="en-US" altLang="ko-KR" sz="1000" b="0" dirty="0">
                          <a:solidFill>
                            <a:srgbClr val="000000"/>
                          </a:solidFill>
                          <a:latin typeface="Arial Narrow" pitchFamily="34" charset="0"/>
                          <a:ea typeface="Dotum" pitchFamily="34" charset="-127"/>
                          <a:cs typeface="Arial" charset="0"/>
                        </a:rPr>
                        <a:t>Maintain internal audit records</a:t>
                      </a:r>
                    </a:p>
                    <a:p>
                      <a:pPr eaLnBrk="1" latinLnBrk="1" hangingPunct="1"/>
                      <a:r>
                        <a:rPr kumimoji="0" lang="vi-VN"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8. </a:t>
                      </a:r>
                      <a:r>
                        <a:rPr lang="en-US" altLang="ko-KR" sz="1000" b="0" dirty="0">
                          <a:latin typeface="Arial Narrow" pitchFamily="34" charset="0"/>
                          <a:ea typeface="Dotum" pitchFamily="34" charset="-127"/>
                          <a:cs typeface="Arial" charset="0"/>
                        </a:rPr>
                        <a:t>Internal Auditor qualification</a:t>
                      </a:r>
                      <a:r>
                        <a:rPr lang="vi-VN" altLang="ko-KR" sz="1000" b="0" baseline="0" dirty="0">
                          <a:latin typeface="Arial Narrow" pitchFamily="34" charset="0"/>
                          <a:ea typeface="Dotum" pitchFamily="34" charset="-127"/>
                          <a:cs typeface="Arial" charset="0"/>
                        </a:rPr>
                        <a:t> </a:t>
                      </a:r>
                      <a:r>
                        <a:rPr lang="en-US" altLang="ko-KR" sz="1000" b="0" dirty="0">
                          <a:latin typeface="Arial Narrow" pitchFamily="34" charset="0"/>
                          <a:ea typeface="Dotum" pitchFamily="34" charset="-127"/>
                          <a:cs typeface="Arial" charset="0"/>
                        </a:rPr>
                        <a:t>Management</a:t>
                      </a:r>
                    </a:p>
                    <a:p>
                      <a:pPr marL="0" marR="0" lvl="0" indent="0" algn="l" defTabSz="914400" rtl="0" eaLnBrk="1" fontAlgn="base" latinLnBrk="1" hangingPunct="1">
                        <a:lnSpc>
                          <a:spcPct val="100000"/>
                        </a:lnSpc>
                        <a:spcBef>
                          <a:spcPct val="0"/>
                        </a:spcBef>
                        <a:spcAft>
                          <a:spcPct val="0"/>
                        </a:spcAft>
                        <a:buClrTx/>
                        <a:buSzTx/>
                        <a:buFontTx/>
                        <a:buNone/>
                        <a:tabLst/>
                        <a:defRPr/>
                      </a:pPr>
                      <a:endParaRPr kumimoji="0" lang="vi-VN"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p>
                      <a:pPr marL="0" marR="0" lvl="0" indent="0" algn="l" defTabSz="914400" rtl="0" eaLnBrk="1" fontAlgn="base" latinLnBrk="1" hangingPunct="1">
                        <a:lnSpc>
                          <a:spcPct val="100000"/>
                        </a:lnSpc>
                        <a:spcBef>
                          <a:spcPct val="0"/>
                        </a:spcBef>
                        <a:spcAft>
                          <a:spcPct val="0"/>
                        </a:spcAft>
                        <a:buClrTx/>
                        <a:buSzTx/>
                        <a:buFontTx/>
                        <a:buNone/>
                        <a:tabLst/>
                        <a:defRPr/>
                      </a:pPr>
                      <a:endParaRPr kumimoji="0" lang="en-US"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p>
                      <a:pPr marL="0" marR="0" lvl="0" indent="0" algn="l" defTabSz="914400" rtl="0" eaLnBrk="1" fontAlgn="base" latinLnBrk="1" hangingPunct="1">
                        <a:lnSpc>
                          <a:spcPct val="100000"/>
                        </a:lnSpc>
                        <a:spcBef>
                          <a:spcPct val="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pitchFamily="34" charset="0"/>
                        <a:ea typeface="Malgun Gothic" pitchFamily="34" charset="-127"/>
                        <a:cs typeface="Arial" pitchFamily="34" charset="0"/>
                      </a:endParaRPr>
                    </a:p>
                  </a:txBody>
                  <a:tcPr marL="36000" marR="36000" marT="36008" marB="36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1" name="Group 461">
            <a:extLst>
              <a:ext uri="{FF2B5EF4-FFF2-40B4-BE49-F238E27FC236}">
                <a16:creationId xmlns:a16="http://schemas.microsoft.com/office/drawing/2014/main" id="{F6DC1550-4C75-7804-3DDC-E5B299AB317C}"/>
              </a:ext>
            </a:extLst>
          </p:cNvPr>
          <p:cNvGraphicFramePr>
            <a:graphicFrameLocks noGrp="1"/>
          </p:cNvGraphicFramePr>
          <p:nvPr>
            <p:extLst>
              <p:ext uri="{D42A27DB-BD31-4B8C-83A1-F6EECF244321}">
                <p14:modId xmlns:p14="http://schemas.microsoft.com/office/powerpoint/2010/main" val="1507204976"/>
              </p:ext>
            </p:extLst>
          </p:nvPr>
        </p:nvGraphicFramePr>
        <p:xfrm>
          <a:off x="4548189" y="6257146"/>
          <a:ext cx="2157984" cy="3312874"/>
        </p:xfrm>
        <a:graphic>
          <a:graphicData uri="http://schemas.openxmlformats.org/drawingml/2006/table">
            <a:tbl>
              <a:tblPr/>
              <a:tblGrid>
                <a:gridCol w="893408">
                  <a:extLst>
                    <a:ext uri="{9D8B030D-6E8A-4147-A177-3AD203B41FA5}">
                      <a16:colId xmlns:a16="http://schemas.microsoft.com/office/drawing/2014/main" val="20000"/>
                    </a:ext>
                  </a:extLst>
                </a:gridCol>
                <a:gridCol w="719368">
                  <a:extLst>
                    <a:ext uri="{9D8B030D-6E8A-4147-A177-3AD203B41FA5}">
                      <a16:colId xmlns:a16="http://schemas.microsoft.com/office/drawing/2014/main" val="20001"/>
                    </a:ext>
                  </a:extLst>
                </a:gridCol>
                <a:gridCol w="545208">
                  <a:extLst>
                    <a:ext uri="{9D8B030D-6E8A-4147-A177-3AD203B41FA5}">
                      <a16:colId xmlns:a16="http://schemas.microsoft.com/office/drawing/2014/main" val="20002"/>
                    </a:ext>
                  </a:extLst>
                </a:gridCol>
              </a:tblGrid>
              <a:tr h="359568">
                <a:tc gridSpan="3">
                  <a:txBody>
                    <a:bodyPr/>
                    <a:lstStyle/>
                    <a:p>
                      <a:pPr marL="0" marR="0" lvl="0" indent="0" algn="l" defTabSz="762000" rtl="0" eaLnBrk="1" fontAlgn="base" latinLnBrk="1" hangingPunct="1">
                        <a:lnSpc>
                          <a:spcPct val="100000"/>
                        </a:lnSpc>
                        <a:spcBef>
                          <a:spcPct val="20000"/>
                        </a:spcBef>
                        <a:spcAft>
                          <a:spcPct val="0"/>
                        </a:spcAft>
                        <a:buClrTx/>
                        <a:buSzTx/>
                        <a:buFontTx/>
                        <a:buNone/>
                        <a:tabLst/>
                      </a:pPr>
                      <a:r>
                        <a:rPr kumimoji="0" lang="ko-KR" altLang="en-US" sz="12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 </a:t>
                      </a:r>
                      <a:r>
                        <a:rPr lang="en-US" altLang="ko-KR" sz="1200" b="1" dirty="0">
                          <a:solidFill>
                            <a:schemeClr val="tx1"/>
                          </a:solidFill>
                          <a:latin typeface="Arial Narrow" panose="020B0606020202030204" pitchFamily="34" charset="0"/>
                          <a:cs typeface="Arial" pitchFamily="34" charset="0"/>
                        </a:rPr>
                        <a:t>Performance index (KPI)</a:t>
                      </a:r>
                      <a:endParaRPr kumimoji="0" lang="ko-KR" altLang="ko-KR" sz="12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txBody>
                  <a:tcPr marL="36011" marR="36011" marT="35998" marB="3599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9084">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KPI</a:t>
                      </a:r>
                    </a:p>
                  </a:txBody>
                  <a:tcPr marL="36011" marR="36011" marT="35998" marB="35998"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cycle</a:t>
                      </a:r>
                      <a:endParaRPr kumimoji="0" lang="ko-KR"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txBody>
                  <a:tcPr marL="36011" marR="36011" marT="35998" marB="359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Team</a:t>
                      </a:r>
                      <a:endParaRPr kumimoji="0" lang="ko-KR" altLang="ko-KR" sz="10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endParaRPr>
                    </a:p>
                  </a:txBody>
                  <a:tcPr marL="36011" marR="36011" marT="35998" marB="35998"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872461">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lang="en-US" altLang="ko-KR" sz="1000" dirty="0">
                          <a:solidFill>
                            <a:schemeClr val="tx1"/>
                          </a:solidFill>
                          <a:latin typeface="Arial Narrow" panose="020B0606020202030204" pitchFamily="34" charset="0"/>
                          <a:cs typeface="Arial" pitchFamily="34" charset="0"/>
                        </a:rPr>
                        <a:t>Audit conduct rate</a:t>
                      </a:r>
                    </a:p>
                  </a:txBody>
                  <a:tcPr marL="36011" marR="36011" marT="33239" marB="33239"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돋움" pitchFamily="50" charset="-127"/>
                          <a:cs typeface="Arial" pitchFamily="34" charset="0"/>
                        </a:rPr>
                        <a:t>monthly</a:t>
                      </a:r>
                    </a:p>
                  </a:txBody>
                  <a:tcPr marL="36011" marR="36011" marT="33239" marB="3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0" i="0" u="none" strike="noStrike" cap="none" normalizeH="0" baseline="0">
                          <a:ln>
                            <a:noFill/>
                          </a:ln>
                          <a:solidFill>
                            <a:schemeClr val="tx1"/>
                          </a:solidFill>
                          <a:effectLst/>
                          <a:latin typeface="Arial Narrow" panose="020B0606020202030204" pitchFamily="34" charset="0"/>
                          <a:ea typeface="Dotum" pitchFamily="34" charset="-127"/>
                          <a:cs typeface="Arial" pitchFamily="34" charset="0"/>
                        </a:rPr>
                        <a:t>Quality</a:t>
                      </a:r>
                      <a:endParaRPr kumimoji="0" lang="ko-KR" altLang="ko-KR" sz="1000" b="0" i="0" u="none" strike="noStrike" cap="none" normalizeH="0" baseline="0" dirty="0">
                        <a:ln>
                          <a:noFill/>
                        </a:ln>
                        <a:solidFill>
                          <a:schemeClr val="tx1"/>
                        </a:solidFill>
                        <a:effectLst/>
                        <a:latin typeface="Arial Narrow" panose="020B0606020202030204" pitchFamily="34" charset="0"/>
                        <a:ea typeface="Dotum" pitchFamily="34" charset="-127"/>
                        <a:cs typeface="Arial" pitchFamily="34" charset="0"/>
                      </a:endParaRPr>
                    </a:p>
                  </a:txBody>
                  <a:tcPr marL="36011" marR="36011" marT="36003" marB="3600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1601761">
                <a:tc gridSpan="3">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800" b="0" i="0" u="none" strike="noStrike" cap="none" normalizeH="0" baseline="0" dirty="0">
                        <a:ln>
                          <a:noFill/>
                        </a:ln>
                        <a:solidFill>
                          <a:schemeClr val="tx1"/>
                        </a:solidFill>
                        <a:effectLst/>
                        <a:latin typeface="Arial" pitchFamily="34" charset="0"/>
                        <a:ea typeface="돋움" pitchFamily="50" charset="-127"/>
                        <a:cs typeface="Arial" pitchFamily="34" charset="0"/>
                      </a:endParaRPr>
                    </a:p>
                  </a:txBody>
                  <a:tcPr marL="36011" marR="36011" marT="33239" marB="3323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pPr marL="0" marR="0" lvl="0" indent="0" algn="ctr" defTabSz="762000" rtl="0" eaLnBrk="1" fontAlgn="base" latinLnBrk="1" hangingPunct="1">
                        <a:lnSpc>
                          <a:spcPct val="100000"/>
                        </a:lnSpc>
                        <a:spcBef>
                          <a:spcPct val="20000"/>
                        </a:spcBef>
                        <a:spcAft>
                          <a:spcPct val="0"/>
                        </a:spcAft>
                        <a:buClrTx/>
                        <a:buSzTx/>
                        <a:buFontTx/>
                        <a:buNone/>
                        <a:tabLst/>
                        <a:defRPr/>
                      </a:pPr>
                      <a:endParaRPr kumimoji="0" lang="en-US" altLang="ko-KR" sz="800" b="0" i="0" u="none" strike="noStrike" cap="none" normalizeH="0" baseline="0" dirty="0">
                        <a:ln>
                          <a:noFill/>
                        </a:ln>
                        <a:solidFill>
                          <a:schemeClr val="tx1"/>
                        </a:solidFill>
                        <a:effectLst/>
                        <a:latin typeface="Arial" pitchFamily="34" charset="0"/>
                        <a:ea typeface="돋움" pitchFamily="50" charset="-127"/>
                        <a:cs typeface="Arial" pitchFamily="34" charset="0"/>
                      </a:endParaRPr>
                    </a:p>
                  </a:txBody>
                  <a:tcPr marL="36011" marR="36011" marT="33239" marB="3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hMerge="1">
                  <a:txBody>
                    <a:bodyPr/>
                    <a:lstStyle/>
                    <a:p>
                      <a:pPr marL="0" marR="0" lvl="0" indent="0" algn="ctr" defTabSz="762000" rtl="0" eaLnBrk="1" fontAlgn="base" latinLnBrk="1" hangingPunct="1">
                        <a:lnSpc>
                          <a:spcPct val="100000"/>
                        </a:lnSpc>
                        <a:spcBef>
                          <a:spcPct val="20000"/>
                        </a:spcBef>
                        <a:spcAft>
                          <a:spcPct val="0"/>
                        </a:spcAft>
                        <a:buClrTx/>
                        <a:buSzTx/>
                        <a:buFontTx/>
                        <a:buNone/>
                        <a:tabLst/>
                      </a:pPr>
                      <a:endParaRPr kumimoji="0" lang="ko-KR" altLang="ko-KR" sz="800" b="0" i="0" u="none" strike="noStrike" cap="none" normalizeH="0" baseline="0" dirty="0">
                        <a:ln>
                          <a:noFill/>
                        </a:ln>
                        <a:solidFill>
                          <a:schemeClr val="tx1"/>
                        </a:solidFill>
                        <a:effectLst/>
                        <a:latin typeface="Arial" pitchFamily="34" charset="0"/>
                        <a:ea typeface="Dotum" pitchFamily="34" charset="-127"/>
                        <a:cs typeface="Arial" pitchFamily="34" charset="0"/>
                      </a:endParaRPr>
                    </a:p>
                  </a:txBody>
                  <a:tcPr marL="36011" marR="36011" marT="36003" marB="36003"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3" name="개체 17">
            <a:extLst>
              <a:ext uri="{FF2B5EF4-FFF2-40B4-BE49-F238E27FC236}">
                <a16:creationId xmlns:a16="http://schemas.microsoft.com/office/drawing/2014/main" id="{1A62F136-DC46-13F7-07D2-2C3DAACDE880}"/>
              </a:ext>
            </a:extLst>
          </p:cNvPr>
          <p:cNvGraphicFramePr>
            <a:graphicFrameLocks noChangeAspect="1"/>
          </p:cNvGraphicFramePr>
          <p:nvPr>
            <p:extLst>
              <p:ext uri="{D42A27DB-BD31-4B8C-83A1-F6EECF244321}">
                <p14:modId xmlns:p14="http://schemas.microsoft.com/office/powerpoint/2010/main" val="2798678241"/>
              </p:ext>
            </p:extLst>
          </p:nvPr>
        </p:nvGraphicFramePr>
        <p:xfrm>
          <a:off x="1556792" y="3218845"/>
          <a:ext cx="529208" cy="446519"/>
        </p:xfrm>
        <a:graphic>
          <a:graphicData uri="http://schemas.openxmlformats.org/presentationml/2006/ole">
            <mc:AlternateContent xmlns:mc="http://schemas.openxmlformats.org/markup-compatibility/2006">
              <mc:Choice xmlns:v="urn:schemas-microsoft-com:vml" Requires="v">
                <p:oleObj spid="_x0000_s1026" name="Worksheet" showAsIcon="1" r:id="rId4" imgW="914400" imgH="771480" progId="Excel.Sheet.12">
                  <p:embed/>
                </p:oleObj>
              </mc:Choice>
              <mc:Fallback>
                <p:oleObj name="Worksheet" showAsIcon="1" r:id="rId4" imgW="914400" imgH="771480" progId="Excel.Sheet.12">
                  <p:embed/>
                  <p:pic>
                    <p:nvPicPr>
                      <p:cNvPr id="31" name="개체 17">
                        <a:extLst>
                          <a:ext uri="{FF2B5EF4-FFF2-40B4-BE49-F238E27FC236}">
                            <a16:creationId xmlns:a16="http://schemas.microsoft.com/office/drawing/2014/main" id="{B1D9FEB1-36F3-19FC-1A11-5D98EEC2D9E4}"/>
                          </a:ext>
                        </a:extLst>
                      </p:cNvPr>
                      <p:cNvPicPr/>
                      <p:nvPr/>
                    </p:nvPicPr>
                    <p:blipFill>
                      <a:blip r:embed="rId5"/>
                      <a:stretch>
                        <a:fillRect/>
                      </a:stretch>
                    </p:blipFill>
                    <p:spPr>
                      <a:xfrm>
                        <a:off x="1556792" y="3218845"/>
                        <a:ext cx="529208" cy="446519"/>
                      </a:xfrm>
                      <a:prstGeom prst="rect">
                        <a:avLst/>
                      </a:prstGeom>
                    </p:spPr>
                  </p:pic>
                </p:oleObj>
              </mc:Fallback>
            </mc:AlternateContent>
          </a:graphicData>
        </a:graphic>
      </p:graphicFrame>
    </p:spTree>
    <p:extLst>
      <p:ext uri="{BB962C8B-B14F-4D97-AF65-F5344CB8AC3E}">
        <p14:creationId xmlns:p14="http://schemas.microsoft.com/office/powerpoint/2010/main" val="2328308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46C31-7E9A-E208-5CD8-E0E9625AEC7F}"/>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888932CE-47B5-BCB6-AE7F-BC99449DAB32}"/>
              </a:ext>
            </a:extLst>
          </p:cNvPr>
          <p:cNvSpPr/>
          <p:nvPr/>
        </p:nvSpPr>
        <p:spPr>
          <a:xfrm>
            <a:off x="2818707" y="1469048"/>
            <a:ext cx="1220591" cy="276999"/>
          </a:xfrm>
          <a:prstGeom prst="rect">
            <a:avLst/>
          </a:prstGeom>
        </p:spPr>
        <p:txBody>
          <a:bodyPr wrap="none">
            <a:spAutoFit/>
          </a:bodyPr>
          <a:lstStyle/>
          <a:p>
            <a:pPr>
              <a:defRPr/>
            </a:pPr>
            <a:r>
              <a:rPr lang="en-US" altLang="ko-KR" sz="1200" b="1" dirty="0">
                <a:solidFill>
                  <a:srgbClr val="000000"/>
                </a:solidFill>
                <a:latin typeface="Arial Narrow" pitchFamily="34" charset="0"/>
                <a:ea typeface="맑은 고딕" panose="020B0503020000020004" pitchFamily="50" charset="-127"/>
              </a:rPr>
              <a:t>Table of contents</a:t>
            </a:r>
            <a:endParaRPr lang="ko-KR" altLang="en-US" sz="1200" b="1" dirty="0">
              <a:solidFill>
                <a:srgbClr val="000000"/>
              </a:solidFill>
              <a:latin typeface="Arial Narrow" pitchFamily="34" charset="0"/>
              <a:ea typeface="맑은 고딕" panose="020B0503020000020004" pitchFamily="50" charset="-127"/>
            </a:endParaRPr>
          </a:p>
        </p:txBody>
      </p:sp>
      <p:graphicFrame>
        <p:nvGraphicFramePr>
          <p:cNvPr id="5" name="표 3">
            <a:extLst>
              <a:ext uri="{FF2B5EF4-FFF2-40B4-BE49-F238E27FC236}">
                <a16:creationId xmlns:a16="http://schemas.microsoft.com/office/drawing/2014/main" id="{B540D1DC-4BCF-C61B-7FEA-D21370ABC1B0}"/>
              </a:ext>
            </a:extLst>
          </p:cNvPr>
          <p:cNvGraphicFramePr>
            <a:graphicFrameLocks noGrp="1"/>
          </p:cNvGraphicFramePr>
          <p:nvPr>
            <p:extLst>
              <p:ext uri="{D42A27DB-BD31-4B8C-83A1-F6EECF244321}">
                <p14:modId xmlns:p14="http://schemas.microsoft.com/office/powerpoint/2010/main" val="931497247"/>
              </p:ext>
            </p:extLst>
          </p:nvPr>
        </p:nvGraphicFramePr>
        <p:xfrm>
          <a:off x="278650" y="1972370"/>
          <a:ext cx="6255695" cy="6464583"/>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20000"/>
                    </a:ext>
                  </a:extLst>
                </a:gridCol>
                <a:gridCol w="3551847">
                  <a:extLst>
                    <a:ext uri="{9D8B030D-6E8A-4147-A177-3AD203B41FA5}">
                      <a16:colId xmlns:a16="http://schemas.microsoft.com/office/drawing/2014/main" val="20001"/>
                    </a:ext>
                  </a:extLst>
                </a:gridCol>
                <a:gridCol w="1263688">
                  <a:extLst>
                    <a:ext uri="{9D8B030D-6E8A-4147-A177-3AD203B41FA5}">
                      <a16:colId xmlns:a16="http://schemas.microsoft.com/office/drawing/2014/main" val="20002"/>
                    </a:ext>
                  </a:extLst>
                </a:gridCol>
              </a:tblGrid>
              <a:tr h="301307">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tx1"/>
                          </a:solidFill>
                          <a:latin typeface="Arial Narrow" pitchFamily="34" charset="0"/>
                          <a:ea typeface="맑은 고딕" panose="020B0503020000020004" pitchFamily="50" charset="-127"/>
                          <a:cs typeface="Arial" pitchFamily="34" charset="0"/>
                        </a:rPr>
                        <a:t>Chapter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Content</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Page</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42911">
                <a:tc rowSpan="4">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tx1"/>
                          </a:solidFill>
                          <a:latin typeface="Arial Narrow" pitchFamily="34" charset="0"/>
                          <a:ea typeface="맑은 고딕" panose="020B0503020000020004" pitchFamily="50" charset="-127"/>
                          <a:cs typeface="Arial" pitchFamily="34" charset="0"/>
                        </a:rPr>
                        <a:t>Introduction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Article</a:t>
                      </a:r>
                      <a:r>
                        <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 </a:t>
                      </a: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a:t>
                      </a:r>
                      <a:r>
                        <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 </a:t>
                      </a: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Scope</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07</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34291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Article</a:t>
                      </a:r>
                      <a:r>
                        <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 </a:t>
                      </a: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2</a:t>
                      </a:r>
                      <a:r>
                        <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  </a:t>
                      </a: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Purpose</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07</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342911">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Article</a:t>
                      </a:r>
                      <a:r>
                        <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 </a:t>
                      </a: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3</a:t>
                      </a:r>
                      <a:r>
                        <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  </a:t>
                      </a: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Definition of terms</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07</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34291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Article</a:t>
                      </a:r>
                      <a:r>
                        <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 </a:t>
                      </a: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4 </a:t>
                      </a:r>
                      <a:r>
                        <a:rPr lang="en-US" altLang="ko-KR" sz="1200" b="1" dirty="0">
                          <a:solidFill>
                            <a:schemeClr val="tx1"/>
                          </a:solidFill>
                          <a:latin typeface="Arial Narrow" pitchFamily="34" charset="0"/>
                          <a:ea typeface="Dotum" pitchFamily="34" charset="-127"/>
                          <a:cs typeface="Arial" pitchFamily="34" charset="0"/>
                        </a:rPr>
                        <a:t>Responsibility and authority</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08</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342911">
                <a:tc rowSpan="10">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tx1"/>
                          </a:solidFill>
                          <a:latin typeface="Arial Narrow" pitchFamily="34" charset="0"/>
                          <a:cs typeface="Arial" pitchFamily="34" charset="0"/>
                        </a:rPr>
                        <a:t>Process</a:t>
                      </a:r>
                      <a:endParaRPr lang="en-US" altLang="ko-KR" sz="1200" b="1" dirty="0">
                        <a:solidFill>
                          <a:schemeClr val="tx1"/>
                        </a:solidFill>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Article</a:t>
                      </a:r>
                      <a:r>
                        <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 </a:t>
                      </a: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5 </a:t>
                      </a:r>
                      <a:r>
                        <a:rPr lang="en-US" altLang="ko-KR" sz="1200" b="1" dirty="0">
                          <a:solidFill>
                            <a:schemeClr val="tx1"/>
                          </a:solidFill>
                          <a:latin typeface="Arial Narrow" pitchFamily="34" charset="0"/>
                          <a:cs typeface="Arial" pitchFamily="34" charset="0"/>
                        </a:rPr>
                        <a:t>Procedure</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09</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r h="512086">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solidFill>
                            <a:schemeClr val="tx1"/>
                          </a:solidFill>
                          <a:latin typeface="Arial Narrow" pitchFamily="34" charset="0"/>
                          <a:cs typeface="Arial" pitchFamily="34" charset="0"/>
                        </a:rPr>
                        <a:t>Article 5.1 </a:t>
                      </a:r>
                      <a:r>
                        <a:rPr kumimoji="1" lang="en-US" altLang="ko-KR" sz="1200" b="1" i="0" u="none" strike="noStrike" kern="1200" cap="none" spc="0" normalizeH="0" baseline="0" noProof="0" dirty="0">
                          <a:ln>
                            <a:noFill/>
                          </a:ln>
                          <a:solidFill>
                            <a:prstClr val="black"/>
                          </a:solidFill>
                          <a:effectLst/>
                          <a:uLnTx/>
                          <a:uFillTx/>
                          <a:latin typeface="Arial Narrow" pitchFamily="34" charset="0"/>
                          <a:ea typeface="굴림체" pitchFamily="49" charset="-127"/>
                          <a:cs typeface="Arial" charset="0"/>
                        </a:rPr>
                        <a:t>Establishment of internal audit plan (program) and audit notice </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09</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512086">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solidFill>
                            <a:schemeClr val="tx1"/>
                          </a:solidFill>
                          <a:latin typeface="Arial Narrow" pitchFamily="34" charset="0"/>
                          <a:ea typeface="Dotum" pitchFamily="34" charset="-127"/>
                          <a:cs typeface="Arial" pitchFamily="34" charset="0"/>
                        </a:rPr>
                        <a:t>Article 5.2 Hold an auditor meetings and share audit related information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10</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r h="34291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solidFill>
                            <a:schemeClr val="tx1"/>
                          </a:solidFill>
                          <a:latin typeface="Arial Narrow" pitchFamily="34" charset="0"/>
                          <a:ea typeface="Dotum" pitchFamily="34" charset="-127"/>
                          <a:cs typeface="Arial" pitchFamily="34" charset="0"/>
                        </a:rPr>
                        <a:t>Article 5.3 Perform internal audit</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12</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8"/>
                  </a:ext>
                </a:extLst>
              </a:tr>
              <a:tr h="34291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solidFill>
                            <a:schemeClr val="tx1"/>
                          </a:solidFill>
                          <a:latin typeface="Arial Narrow" pitchFamily="34" charset="0"/>
                          <a:ea typeface="Dotum" pitchFamily="34" charset="-127"/>
                          <a:cs typeface="Arial" pitchFamily="34" charset="0"/>
                        </a:rPr>
                        <a:t>Article 5.4 Non-conformity report</a:t>
                      </a:r>
                      <a:endParaRPr lang="ko-KR" altLang="en-US" sz="1200" b="1" dirty="0">
                        <a:solidFill>
                          <a:srgbClr val="000000"/>
                        </a:solidFill>
                        <a:latin typeface="Arial Narrow" panose="020B0606020202030204" pitchFamily="34" charset="0"/>
                        <a:ea typeface="Dotum" pitchFamily="34"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12</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9"/>
                  </a:ext>
                </a:extLst>
              </a:tr>
              <a:tr h="34291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solidFill>
                            <a:schemeClr val="tx1"/>
                          </a:solidFill>
                          <a:latin typeface="Arial Narrow" pitchFamily="34" charset="0"/>
                          <a:ea typeface="Dotum" pitchFamily="34" charset="-127"/>
                          <a:cs typeface="Arial" pitchFamily="34" charset="0"/>
                        </a:rPr>
                        <a:t>Article 5.5 Report of audit result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13</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0"/>
                  </a:ext>
                </a:extLst>
              </a:tr>
              <a:tr h="34291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solidFill>
                            <a:schemeClr val="tx1"/>
                          </a:solidFill>
                          <a:latin typeface="Arial Narrow" pitchFamily="34" charset="0"/>
                          <a:ea typeface="Dotum" pitchFamily="34" charset="-127"/>
                          <a:cs typeface="Arial" pitchFamily="34" charset="0"/>
                        </a:rPr>
                        <a:t>Article 5.6 Verify corrective action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13</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1"/>
                  </a:ext>
                </a:extLst>
              </a:tr>
              <a:tr h="342911">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solidFill>
                            <a:schemeClr val="tx1"/>
                          </a:solidFill>
                          <a:latin typeface="Arial Narrow" pitchFamily="34" charset="0"/>
                          <a:ea typeface="Dotum" pitchFamily="34" charset="-127"/>
                          <a:cs typeface="Arial" pitchFamily="34" charset="0"/>
                        </a:rPr>
                        <a:t>Article 5.7 Maintain internal audit records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13</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2"/>
                  </a:ext>
                </a:extLst>
              </a:tr>
              <a:tr h="342911">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latin typeface="Arial Narrow" pitchFamily="34" charset="0"/>
                          <a:ea typeface="Dotum" pitchFamily="34" charset="-127"/>
                          <a:cs typeface="Arial" charset="0"/>
                        </a:rPr>
                        <a:t>Article 5.8 </a:t>
                      </a:r>
                      <a:r>
                        <a:rPr lang="en-US" altLang="ko-KR" sz="1200" b="1" dirty="0">
                          <a:latin typeface="Arial Narrow" panose="020B0606020202030204" pitchFamily="34" charset="0"/>
                          <a:ea typeface="LG스마트체 Regular" panose="020B0600000101010101" pitchFamily="50" charset="-127"/>
                          <a:cs typeface="Arial" charset="0"/>
                        </a:rPr>
                        <a:t>Management of auditor qualification</a:t>
                      </a:r>
                      <a:endParaRPr lang="en-US" altLang="ko-KR" sz="1200" b="1" dirty="0">
                        <a:latin typeface="Arial Narrow" pitchFamily="34" charset="0"/>
                        <a:ea typeface="Dotum" pitchFamily="34" charset="-127"/>
                        <a:cs typeface="Arial"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13</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3"/>
                  </a:ext>
                </a:extLst>
              </a:tr>
              <a:tr h="34291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100" b="1" dirty="0">
                        <a:solidFill>
                          <a:schemeClr val="tx1"/>
                        </a:solidFill>
                        <a:latin typeface="맑은 고딕" panose="020B0503020000020004" pitchFamily="50" charset="-127"/>
                        <a:ea typeface="맑은 고딕" panose="020B0503020000020004" pitchFamily="50" charset="-127"/>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ko-KR" sz="1200" b="1" dirty="0">
                          <a:solidFill>
                            <a:schemeClr val="tx1"/>
                          </a:solidFill>
                          <a:latin typeface="Arial Narrow" pitchFamily="34" charset="0"/>
                          <a:ea typeface="돋움" pitchFamily="50" charset="-127"/>
                          <a:cs typeface="Arial" pitchFamily="34" charset="0"/>
                        </a:rPr>
                        <a:t>Article 5.9 </a:t>
                      </a:r>
                      <a:r>
                        <a:rPr lang="en-US" altLang="ko-KR" sz="1200" b="1" dirty="0">
                          <a:latin typeface="Arial Narrow" pitchFamily="34" charset="0"/>
                          <a:ea typeface="맑은 고딕" pitchFamily="34" charset="-127"/>
                          <a:cs typeface="Arial" pitchFamily="34" charset="0"/>
                        </a:rPr>
                        <a:t>Internal auditor qualification maintenance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15</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4"/>
                  </a:ext>
                </a:extLst>
              </a:tr>
              <a:tr h="512086">
                <a:tc row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tx1"/>
                          </a:solidFill>
                          <a:latin typeface="Arial Narrow" pitchFamily="34" charset="0"/>
                          <a:ea typeface="맑은 고딕" panose="020B0503020000020004" pitchFamily="50" charset="-127"/>
                          <a:cs typeface="Arial" pitchFamily="34" charset="0"/>
                        </a:rPr>
                        <a:t>Epilogue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defRPr/>
                      </a:pPr>
                      <a:r>
                        <a:rPr lang="en-US" altLang="ko-KR" sz="1200" b="1" dirty="0">
                          <a:solidFill>
                            <a:srgbClr val="000000"/>
                          </a:solidFill>
                          <a:latin typeface="Arial Narrow" pitchFamily="34" charset="0"/>
                          <a:ea typeface="맑은 고딕" panose="020B0503020000020004" pitchFamily="50" charset="-127"/>
                        </a:rPr>
                        <a:t>Article 6</a:t>
                      </a:r>
                      <a:r>
                        <a:rPr lang="en-US" altLang="ko-KR" sz="1200" b="1" baseline="0" dirty="0">
                          <a:solidFill>
                            <a:srgbClr val="000000"/>
                          </a:solidFill>
                          <a:latin typeface="Arial Narrow" pitchFamily="34" charset="0"/>
                          <a:ea typeface="맑은 고딕" panose="020B0503020000020004" pitchFamily="50" charset="-127"/>
                        </a:rPr>
                        <a:t> </a:t>
                      </a:r>
                      <a:r>
                        <a:rPr lang="en-US" altLang="ko-KR" sz="1200" b="1" dirty="0">
                          <a:solidFill>
                            <a:srgbClr val="000000"/>
                          </a:solidFill>
                          <a:latin typeface="Arial Narrow" pitchFamily="34" charset="0"/>
                          <a:ea typeface="맑은 고딕" panose="020B0503020000020004" pitchFamily="50" charset="-127"/>
                        </a:rPr>
                        <a:t>Attachments</a:t>
                      </a:r>
                      <a:endParaRPr lang="ko-KR" altLang="en-US" sz="1200" b="1" dirty="0">
                        <a:solidFill>
                          <a:srgbClr val="000000"/>
                        </a:solidFill>
                        <a:latin typeface="Arial Narrow" pitchFamily="34" charset="0"/>
                        <a:ea typeface="맑은 고딕" panose="020B0503020000020004" pitchFamily="50" charset="-127"/>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15</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15"/>
                  </a:ext>
                </a:extLst>
              </a:tr>
              <a:tr h="512086">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tx1"/>
                        </a:solidFill>
                        <a:latin typeface="Arial Narrow" panose="020B0606020202030204"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00000"/>
                          </a:solidFill>
                          <a:effectLst/>
                          <a:uLnTx/>
                          <a:uFillTx/>
                          <a:latin typeface="Arial Narrow" pitchFamily="34" charset="0"/>
                          <a:ea typeface="맑은 고딕" panose="020B0503020000020004" pitchFamily="50" charset="-127"/>
                          <a:cs typeface="+mn-cs"/>
                        </a:rPr>
                        <a:t>Article 7 Records retention policy</a:t>
                      </a:r>
                      <a:endParaRPr kumimoji="0" lang="ko-KR" altLang="en-US" sz="1200" b="1" i="0" u="none" strike="noStrike" kern="1200" cap="none" spc="0" normalizeH="0" baseline="0" noProof="0" dirty="0">
                        <a:ln>
                          <a:noFill/>
                        </a:ln>
                        <a:solidFill>
                          <a:srgbClr val="000000"/>
                        </a:solidFill>
                        <a:effectLst/>
                        <a:uLnTx/>
                        <a:uFillTx/>
                        <a:latin typeface="Arial Narrow" pitchFamily="34" charset="0"/>
                        <a:ea typeface="맑은 고딕" panose="020B0503020000020004" pitchFamily="50" charset="-127"/>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ko-KR"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rPr>
                        <a:t>16</a:t>
                      </a:r>
                      <a:endParaRPr kumimoji="1" lang="ko-KR" altLang="en-US" sz="1200" b="1" i="0" u="none" strike="noStrike" kern="1200" cap="none" spc="0" normalizeH="0" baseline="0" noProof="0" dirty="0">
                        <a:ln>
                          <a:noFill/>
                        </a:ln>
                        <a:solidFill>
                          <a:schemeClr val="tx1"/>
                        </a:solidFill>
                        <a:effectLst/>
                        <a:uLnTx/>
                        <a:uFillTx/>
                        <a:latin typeface="Arial Narrow" pitchFamily="34" charset="0"/>
                        <a:ea typeface="맑은 고딕" panose="020B0503020000020004" pitchFamily="50" charset="-127"/>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12610321"/>
                  </a:ext>
                </a:extLst>
              </a:tr>
            </a:tbl>
          </a:graphicData>
        </a:graphic>
      </p:graphicFrame>
    </p:spTree>
    <p:extLst>
      <p:ext uri="{BB962C8B-B14F-4D97-AF65-F5344CB8AC3E}">
        <p14:creationId xmlns:p14="http://schemas.microsoft.com/office/powerpoint/2010/main" val="3339116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B3E6-4E48-D3C6-87FC-75F9670D8ED6}"/>
            </a:ext>
          </a:extLst>
        </p:cNvPr>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1124F8BF-FDC8-2EFD-515A-E213EBE9D79D}"/>
              </a:ext>
            </a:extLst>
          </p:cNvPr>
          <p:cNvCxnSpPr>
            <a:endCxn id="33" idx="0"/>
          </p:cNvCxnSpPr>
          <p:nvPr/>
        </p:nvCxnSpPr>
        <p:spPr>
          <a:xfrm flipH="1">
            <a:off x="4502264" y="9104951"/>
            <a:ext cx="4760" cy="194503"/>
          </a:xfrm>
          <a:prstGeom prst="straightConnector1">
            <a:avLst/>
          </a:prstGeom>
          <a:noFill/>
          <a:ln w="9525">
            <a:solidFill>
              <a:srgbClr val="000000"/>
            </a:solidFill>
            <a:miter lim="800000"/>
            <a:headEnd/>
            <a:tailEnd type="triangle" w="sm" len="med"/>
          </a:ln>
        </p:spPr>
      </p:cxnSp>
      <p:cxnSp>
        <p:nvCxnSpPr>
          <p:cNvPr id="3" name="AutoShape 50">
            <a:extLst>
              <a:ext uri="{FF2B5EF4-FFF2-40B4-BE49-F238E27FC236}">
                <a16:creationId xmlns:a16="http://schemas.microsoft.com/office/drawing/2014/main" id="{D7E7CAB8-970A-D372-941F-4E64B85CADAA}"/>
              </a:ext>
            </a:extLst>
          </p:cNvPr>
          <p:cNvCxnSpPr>
            <a:cxnSpLocks noChangeShapeType="1"/>
          </p:cNvCxnSpPr>
          <p:nvPr/>
        </p:nvCxnSpPr>
        <p:spPr bwMode="auto">
          <a:xfrm rot="16200000" flipH="1" flipV="1">
            <a:off x="2719086" y="7025932"/>
            <a:ext cx="602137" cy="528339"/>
          </a:xfrm>
          <a:prstGeom prst="bentConnector3">
            <a:avLst>
              <a:gd name="adj1" fmla="val 64764"/>
            </a:avLst>
          </a:prstGeom>
          <a:noFill/>
          <a:ln w="9525">
            <a:solidFill>
              <a:srgbClr val="000000"/>
            </a:solidFill>
            <a:miter lim="800000"/>
            <a:headEnd/>
            <a:tailEnd type="triangle" w="sm" len="med"/>
          </a:ln>
        </p:spPr>
      </p:cxnSp>
      <p:cxnSp>
        <p:nvCxnSpPr>
          <p:cNvPr id="4" name="AutoShape 50">
            <a:extLst>
              <a:ext uri="{FF2B5EF4-FFF2-40B4-BE49-F238E27FC236}">
                <a16:creationId xmlns:a16="http://schemas.microsoft.com/office/drawing/2014/main" id="{649D25FF-779A-CF49-8F3C-07E7912F0DF2}"/>
              </a:ext>
            </a:extLst>
          </p:cNvPr>
          <p:cNvCxnSpPr>
            <a:cxnSpLocks noChangeShapeType="1"/>
          </p:cNvCxnSpPr>
          <p:nvPr/>
        </p:nvCxnSpPr>
        <p:spPr bwMode="auto">
          <a:xfrm rot="16200000" flipH="1">
            <a:off x="2343723" y="7917571"/>
            <a:ext cx="508787" cy="1"/>
          </a:xfrm>
          <a:prstGeom prst="bentConnector3">
            <a:avLst>
              <a:gd name="adj1" fmla="val 50000"/>
            </a:avLst>
          </a:prstGeom>
          <a:noFill/>
          <a:ln w="9525">
            <a:solidFill>
              <a:srgbClr val="000000"/>
            </a:solidFill>
            <a:miter lim="800000"/>
            <a:headEnd/>
            <a:tailEnd type="triangle" w="sm" len="med"/>
          </a:ln>
        </p:spPr>
      </p:cxnSp>
      <p:sp>
        <p:nvSpPr>
          <p:cNvPr id="5" name="직사각형 7">
            <a:extLst>
              <a:ext uri="{FF2B5EF4-FFF2-40B4-BE49-F238E27FC236}">
                <a16:creationId xmlns:a16="http://schemas.microsoft.com/office/drawing/2014/main" id="{EC67F92A-3138-77C8-AE15-E49DAC536DB0}"/>
              </a:ext>
            </a:extLst>
          </p:cNvPr>
          <p:cNvSpPr/>
          <p:nvPr/>
        </p:nvSpPr>
        <p:spPr>
          <a:xfrm>
            <a:off x="188640" y="1215277"/>
            <a:ext cx="6480720" cy="369332"/>
          </a:xfrm>
          <a:prstGeom prst="rect">
            <a:avLst/>
          </a:prstGeom>
        </p:spPr>
        <p:txBody>
          <a:bodyPr wrap="square">
            <a:spAutoFit/>
          </a:bodyPr>
          <a:lstStyle/>
          <a:p>
            <a:pPr algn="ctr">
              <a:defRPr/>
            </a:pPr>
            <a:r>
              <a:rPr lang="en-US" altLang="ko-KR" sz="1800" b="1" dirty="0">
                <a:solidFill>
                  <a:srgbClr val="000000"/>
                </a:solidFill>
                <a:latin typeface="Arial Narrow" panose="020B0606020202030204" pitchFamily="34" charset="0"/>
                <a:ea typeface="맑은 고딕" panose="020B0503020000020004" pitchFamily="50" charset="-127"/>
              </a:rPr>
              <a:t>Flow Chart</a:t>
            </a:r>
            <a:endParaRPr lang="ko-KR" altLang="en-US" sz="1800" b="1" dirty="0">
              <a:solidFill>
                <a:srgbClr val="000000"/>
              </a:solidFill>
              <a:latin typeface="Arial Narrow" panose="020B0606020202030204" pitchFamily="34" charset="0"/>
              <a:ea typeface="맑은 고딕" panose="020B0503020000020004" pitchFamily="50" charset="-127"/>
            </a:endParaRPr>
          </a:p>
        </p:txBody>
      </p:sp>
      <p:graphicFrame>
        <p:nvGraphicFramePr>
          <p:cNvPr id="6" name="Group 182">
            <a:extLst>
              <a:ext uri="{FF2B5EF4-FFF2-40B4-BE49-F238E27FC236}">
                <a16:creationId xmlns:a16="http://schemas.microsoft.com/office/drawing/2014/main" id="{2E13C282-7739-F0DF-B53F-B464D4D26022}"/>
              </a:ext>
            </a:extLst>
          </p:cNvPr>
          <p:cNvGraphicFramePr>
            <a:graphicFrameLocks noGrp="1"/>
          </p:cNvGraphicFramePr>
          <p:nvPr>
            <p:extLst>
              <p:ext uri="{D42A27DB-BD31-4B8C-83A1-F6EECF244321}">
                <p14:modId xmlns:p14="http://schemas.microsoft.com/office/powerpoint/2010/main" val="641831190"/>
              </p:ext>
            </p:extLst>
          </p:nvPr>
        </p:nvGraphicFramePr>
        <p:xfrm>
          <a:off x="153193" y="1686515"/>
          <a:ext cx="6551613" cy="7920879"/>
        </p:xfrm>
        <a:graphic>
          <a:graphicData uri="http://schemas.openxmlformats.org/drawingml/2006/table">
            <a:tbl>
              <a:tblPr/>
              <a:tblGrid>
                <a:gridCol w="838532">
                  <a:extLst>
                    <a:ext uri="{9D8B030D-6E8A-4147-A177-3AD203B41FA5}">
                      <a16:colId xmlns:a16="http://schemas.microsoft.com/office/drawing/2014/main" val="20000"/>
                    </a:ext>
                  </a:extLst>
                </a:gridCol>
                <a:gridCol w="838533">
                  <a:extLst>
                    <a:ext uri="{9D8B030D-6E8A-4147-A177-3AD203B41FA5}">
                      <a16:colId xmlns:a16="http://schemas.microsoft.com/office/drawing/2014/main" val="20001"/>
                    </a:ext>
                  </a:extLst>
                </a:gridCol>
                <a:gridCol w="1866930">
                  <a:extLst>
                    <a:ext uri="{9D8B030D-6E8A-4147-A177-3AD203B41FA5}">
                      <a16:colId xmlns:a16="http://schemas.microsoft.com/office/drawing/2014/main" val="20002"/>
                    </a:ext>
                  </a:extLst>
                </a:gridCol>
                <a:gridCol w="1562761">
                  <a:extLst>
                    <a:ext uri="{9D8B030D-6E8A-4147-A177-3AD203B41FA5}">
                      <a16:colId xmlns:a16="http://schemas.microsoft.com/office/drawing/2014/main" val="20003"/>
                    </a:ext>
                  </a:extLst>
                </a:gridCol>
                <a:gridCol w="847114">
                  <a:extLst>
                    <a:ext uri="{9D8B030D-6E8A-4147-A177-3AD203B41FA5}">
                      <a16:colId xmlns:a16="http://schemas.microsoft.com/office/drawing/2014/main" val="20004"/>
                    </a:ext>
                  </a:extLst>
                </a:gridCol>
                <a:gridCol w="597743">
                  <a:extLst>
                    <a:ext uri="{9D8B030D-6E8A-4147-A177-3AD203B41FA5}">
                      <a16:colId xmlns:a16="http://schemas.microsoft.com/office/drawing/2014/main" val="20005"/>
                    </a:ext>
                  </a:extLst>
                </a:gridCol>
              </a:tblGrid>
              <a:tr h="256171">
                <a:tc row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Process step</a:t>
                      </a:r>
                      <a:endParaRPr kumimoji="0" lang="ko-KR"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row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Input</a:t>
                      </a:r>
                      <a:endParaRPr kumimoji="0" lang="ko-KR"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grid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Department / Team</a:t>
                      </a:r>
                      <a:endParaRPr kumimoji="0" lang="ko-KR"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hMerge="1">
                  <a:txBody>
                    <a:bodyPr/>
                    <a:lstStyle/>
                    <a:p>
                      <a:pPr marL="0" marR="0" lvl="0" indent="0" algn="ctr" defTabSz="762000" rtl="0" eaLnBrk="1" fontAlgn="base" latinLnBrk="1" hangingPunct="1">
                        <a:lnSpc>
                          <a:spcPct val="100000"/>
                        </a:lnSpc>
                        <a:spcBef>
                          <a:spcPct val="20000"/>
                        </a:spcBef>
                        <a:spcAft>
                          <a:spcPct val="0"/>
                        </a:spcAft>
                        <a:buClrTx/>
                        <a:buSzTx/>
                        <a:buFontTx/>
                        <a:buNone/>
                        <a:tabLst/>
                      </a:pPr>
                      <a:endParaRPr kumimoji="0" lang="ko-KR"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row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Output</a:t>
                      </a:r>
                      <a:endParaRPr kumimoji="0" lang="ko-KR"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row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Approver</a:t>
                      </a: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r h="407660">
                <a:tc vMerge="1">
                  <a:txBody>
                    <a:bodyPr/>
                    <a:lstStyle/>
                    <a:p>
                      <a:endParaRPr lang="en-US"/>
                    </a:p>
                  </a:txBody>
                  <a:tcPr/>
                </a:tc>
                <a:tc vMerge="1">
                  <a:txBody>
                    <a:bodyPr/>
                    <a:lstStyle/>
                    <a:p>
                      <a:endParaRPr lang="en-US"/>
                    </a:p>
                  </a:txBody>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Quality department</a:t>
                      </a:r>
                    </a:p>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(planning, outgoing)</a:t>
                      </a:r>
                      <a:endParaRPr kumimoji="0" lang="ko-KR"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Auditee</a:t>
                      </a:r>
                    </a:p>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rPr>
                        <a:t>department</a:t>
                      </a:r>
                      <a:endParaRPr kumimoji="0" lang="ko-KR" altLang="ko-KR" sz="1000" b="1" i="0" u="none" strike="noStrike" cap="none" normalizeH="0" baseline="0" dirty="0">
                        <a:ln>
                          <a:noFill/>
                        </a:ln>
                        <a:solidFill>
                          <a:schemeClr val="tx1"/>
                        </a:solidFill>
                        <a:effectLst/>
                        <a:latin typeface="Arial Narrow" panose="020B0606020202030204"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2878810">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anchor="ctr" anchorCtr="1"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indent="0" algn="l" eaLnBrk="1" latinLnBrk="1" hangingPunct="1"/>
                      <a:r>
                        <a:rPr lang="en-US" altLang="ko-KR" sz="800" b="0" dirty="0">
                          <a:solidFill>
                            <a:srgbClr val="000000"/>
                          </a:solidFill>
                          <a:latin typeface="Arial Narrow" panose="020B0606020202030204" pitchFamily="34" charset="0"/>
                          <a:ea typeface="Dotum" pitchFamily="34" charset="-127"/>
                          <a:cs typeface="Arial" charset="0"/>
                        </a:rPr>
                        <a:t>1. Audit plan</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2. Past Audit Report</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3. Product Spec.</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4. Control plan</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5. Customer Claim list</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6. Customer and External Audit Report</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7. Design Change/Process Change</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8. Management review</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9. Shift service</a:t>
                      </a:r>
                      <a:br>
                        <a:rPr lang="en-US" altLang="ko-KR" sz="800" b="0" dirty="0">
                          <a:solidFill>
                            <a:srgbClr val="000000"/>
                          </a:solidFill>
                          <a:latin typeface="Arial Narrow" panose="020B0606020202030204" pitchFamily="34" charset="0"/>
                          <a:ea typeface="Dotum" pitchFamily="34" charset="-127"/>
                          <a:cs typeface="Arial" charset="0"/>
                        </a:rPr>
                      </a:br>
                      <a:r>
                        <a:rPr lang="en-US" altLang="ko-KR" sz="800" b="0" dirty="0">
                          <a:solidFill>
                            <a:srgbClr val="000000"/>
                          </a:solidFill>
                          <a:latin typeface="Arial Narrow" panose="020B0606020202030204" pitchFamily="34" charset="0"/>
                          <a:ea typeface="Dotum" pitchFamily="34" charset="-127"/>
                          <a:cs typeface="Arial" charset="0"/>
                        </a:rPr>
                        <a:t>10. Process information</a:t>
                      </a:r>
                    </a:p>
                    <a:p>
                      <a:pPr marL="0" indent="0" algn="l" eaLnBrk="1" latinLnBrk="1" hangingPunct="1"/>
                      <a:r>
                        <a:rPr lang="en-US" altLang="ko-KR" sz="800" b="0" dirty="0">
                          <a:solidFill>
                            <a:srgbClr val="000000"/>
                          </a:solidFill>
                          <a:latin typeface="Arial Narrow" panose="020B0606020202030204" pitchFamily="34" charset="0"/>
                          <a:ea typeface="Dotum" pitchFamily="34" charset="-127"/>
                          <a:cs typeface="Arial" charset="0"/>
                        </a:rPr>
                        <a:t>11. Customer Specific</a:t>
                      </a:r>
                      <a:r>
                        <a:rPr lang="en-US" altLang="ko-KR" sz="800" b="0" baseline="0" dirty="0">
                          <a:solidFill>
                            <a:srgbClr val="000000"/>
                          </a:solidFill>
                          <a:latin typeface="Arial Narrow" panose="020B0606020202030204" pitchFamily="34" charset="0"/>
                          <a:ea typeface="Dotum" pitchFamily="34" charset="-127"/>
                          <a:cs typeface="Arial" charset="0"/>
                        </a:rPr>
                        <a:t> </a:t>
                      </a:r>
                      <a:r>
                        <a:rPr lang="en-US" altLang="ko-KR" sz="800" b="0" dirty="0">
                          <a:solidFill>
                            <a:srgbClr val="000000"/>
                          </a:solidFill>
                          <a:latin typeface="Arial Narrow" panose="020B0606020202030204" pitchFamily="34" charset="0"/>
                          <a:ea typeface="Dotum" pitchFamily="34" charset="-127"/>
                          <a:cs typeface="Arial" charset="0"/>
                        </a:rPr>
                        <a:t>Requirement</a:t>
                      </a:r>
                    </a:p>
                    <a:p>
                      <a:pPr marL="0" indent="0" algn="l" eaLnBrk="1" latinLnBrk="1" hangingPunct="1"/>
                      <a:r>
                        <a:rPr lang="en-US" altLang="ko-KR" sz="800" b="0" dirty="0">
                          <a:solidFill>
                            <a:srgbClr val="000000"/>
                          </a:solidFill>
                          <a:latin typeface="Arial Narrow" panose="020B0606020202030204" pitchFamily="34" charset="0"/>
                          <a:ea typeface="Dotum" pitchFamily="34" charset="-127"/>
                          <a:cs typeface="Arial" charset="0"/>
                        </a:rPr>
                        <a:t>12. </a:t>
                      </a:r>
                      <a:r>
                        <a:rPr kumimoji="0" lang="en-US" altLang="ko-KR" sz="800" b="0" i="0" u="none" strike="noStrike" cap="none" normalizeH="0" baseline="0" dirty="0">
                          <a:ln>
                            <a:noFill/>
                          </a:ln>
                          <a:solidFill>
                            <a:schemeClr val="tx1"/>
                          </a:solidFill>
                          <a:effectLst/>
                          <a:latin typeface="Arial Narrow" panose="020B0606020202030204" pitchFamily="34" charset="0"/>
                          <a:ea typeface="Malgun Gothic" pitchFamily="34" charset="-127"/>
                          <a:cs typeface="Arial" pitchFamily="34" charset="0"/>
                        </a:rPr>
                        <a:t>Risk assessment result</a:t>
                      </a:r>
                      <a:endParaRPr lang="en-US" altLang="ko-KR" sz="800" b="0" dirty="0">
                        <a:solidFill>
                          <a:srgbClr val="000000"/>
                        </a:solidFill>
                        <a:latin typeface="Arial Narrow" panose="020B0606020202030204" pitchFamily="34" charset="0"/>
                        <a:ea typeface="Dotum" pitchFamily="34" charset="-127"/>
                        <a:cs typeface="Arial" charset="0"/>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rgbClr val="0000FF"/>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rgbClr val="0000FF"/>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anchor="b"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15447">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anchor="ctr" anchorCtr="1"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latin typeface="Arial Narrow" panose="020B0606020202030204"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latin typeface="Arial Narrow" panose="020B0606020202030204"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lang="en-US" altLang="ko-KR" sz="900" b="0" kern="1200" dirty="0">
                          <a:solidFill>
                            <a:schemeClr val="tx1"/>
                          </a:solidFill>
                          <a:latin typeface="Arial Narrow" panose="020B0606020202030204" pitchFamily="34" charset="0"/>
                          <a:ea typeface="+mn-ea"/>
                          <a:cs typeface="+mn-cs"/>
                        </a:rPr>
                        <a:t>1. Annual audit plan</a:t>
                      </a:r>
                    </a:p>
                    <a:p>
                      <a:pPr marL="0" marR="0" lvl="0" indent="0" algn="l" defTabSz="762000" rtl="0" eaLnBrk="1" fontAlgn="base" latinLnBrk="1" hangingPunct="1">
                        <a:lnSpc>
                          <a:spcPct val="100000"/>
                        </a:lnSpc>
                        <a:spcBef>
                          <a:spcPct val="20000"/>
                        </a:spcBef>
                        <a:spcAft>
                          <a:spcPct val="0"/>
                        </a:spcAft>
                        <a:buClrTx/>
                        <a:buSzTx/>
                        <a:buFontTx/>
                        <a:buNone/>
                        <a:tabLst/>
                        <a:defRPr/>
                      </a:pPr>
                      <a:r>
                        <a:rPr lang="en-US" altLang="ko-KR" sz="900" b="0" dirty="0">
                          <a:latin typeface="Arial Narrow" panose="020B0606020202030204" pitchFamily="34" charset="0"/>
                        </a:rPr>
                        <a:t>2.</a:t>
                      </a:r>
                      <a:r>
                        <a:rPr lang="en-US" altLang="ko-KR" sz="900" b="0" baseline="0" dirty="0">
                          <a:latin typeface="Arial Narrow" panose="020B0606020202030204" pitchFamily="34" charset="0"/>
                        </a:rPr>
                        <a:t> </a:t>
                      </a:r>
                      <a:r>
                        <a:rPr lang="en-US" altLang="ko-KR" sz="900" b="0" dirty="0">
                          <a:latin typeface="Arial Narrow" panose="020B0606020202030204" pitchFamily="34" charset="0"/>
                        </a:rPr>
                        <a:t>Customer CSRs</a:t>
                      </a:r>
                      <a:br>
                        <a:rPr lang="en-US" altLang="ko-KR" sz="900" b="0" dirty="0">
                          <a:latin typeface="Arial Narrow" panose="020B0606020202030204" pitchFamily="34" charset="0"/>
                        </a:rPr>
                      </a:b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rgbClr val="0000FF"/>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rgbClr val="0000FF"/>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eaLnBrk="1" latinLnBrk="1" hangingPunct="1"/>
                      <a:endParaRPr lang="en-US" altLang="ko-KR" sz="900" b="0" dirty="0">
                        <a:solidFill>
                          <a:srgbClr val="000000"/>
                        </a:solidFill>
                        <a:latin typeface="Arial Narrow" panose="020B0606020202030204" pitchFamily="34" charset="0"/>
                        <a:ea typeface="Dotum" pitchFamily="34" charset="-127"/>
                        <a:cs typeface="Arial" charset="0"/>
                      </a:endParaRPr>
                    </a:p>
                    <a:p>
                      <a:pPr eaLnBrk="1" latinLnBrk="1" hangingPunct="1"/>
                      <a:endParaRPr lang="en-US" altLang="ko-KR" sz="900" b="0" dirty="0">
                        <a:solidFill>
                          <a:srgbClr val="000000"/>
                        </a:solidFill>
                        <a:latin typeface="Arial Narrow" panose="020B0606020202030204" pitchFamily="34" charset="0"/>
                        <a:ea typeface="Dotum" pitchFamily="34" charset="-127"/>
                        <a:cs typeface="Arial" charset="0"/>
                      </a:endParaRPr>
                    </a:p>
                    <a:p>
                      <a:pPr eaLnBrk="1" latinLnBrk="1" hangingPunct="1"/>
                      <a:endParaRPr lang="en-US" altLang="ko-KR" sz="900" b="0" dirty="0">
                        <a:solidFill>
                          <a:srgbClr val="000000"/>
                        </a:solidFill>
                        <a:latin typeface="Arial Narrow" panose="020B0606020202030204" pitchFamily="34" charset="0"/>
                        <a:ea typeface="Dotum" pitchFamily="34" charset="-127"/>
                        <a:cs typeface="Arial"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rgbClr val="000000"/>
                          </a:solidFill>
                          <a:latin typeface="Arial Narrow" panose="020B0606020202030204" pitchFamily="34" charset="0"/>
                          <a:ea typeface="LG스마트체 Regular" panose="020B0600000101010101" pitchFamily="50" charset="-127"/>
                          <a:cs typeface="Arial" charset="0"/>
                        </a:rPr>
                        <a:t>Meeting minutes</a:t>
                      </a:r>
                      <a:endParaRPr lang="en-US" altLang="ko-KR" sz="900" b="0" dirty="0">
                        <a:solidFill>
                          <a:srgbClr val="000000"/>
                        </a:solidFill>
                        <a:latin typeface="Arial Narrow" panose="020B0606020202030204" pitchFamily="34" charset="0"/>
                        <a:ea typeface="Dotum" pitchFamily="34" charset="-127"/>
                        <a:cs typeface="Arial" charset="0"/>
                      </a:endParaRPr>
                    </a:p>
                    <a:p>
                      <a:pPr algn="ctr" eaLnBrk="1" latinLnBrk="1" hangingPunct="1"/>
                      <a:r>
                        <a:rPr lang="en-US" altLang="ko-KR" sz="900" b="0" dirty="0">
                          <a:solidFill>
                            <a:srgbClr val="000000"/>
                          </a:solidFill>
                          <a:latin typeface="Arial Narrow" panose="020B0606020202030204" pitchFamily="34" charset="0"/>
                          <a:ea typeface="Dotum" pitchFamily="34" charset="-127"/>
                          <a:cs typeface="Arial" charset="0"/>
                        </a:rPr>
                        <a:t>Checklist</a:t>
                      </a:r>
                      <a:br>
                        <a:rPr lang="en-US" altLang="ko-KR" sz="900" b="0" dirty="0">
                          <a:solidFill>
                            <a:srgbClr val="000000"/>
                          </a:solidFill>
                          <a:latin typeface="Arial Narrow" panose="020B0606020202030204" pitchFamily="34" charset="0"/>
                          <a:ea typeface="Dotum" pitchFamily="34" charset="-127"/>
                          <a:cs typeface="Arial" charset="0"/>
                        </a:rPr>
                      </a:br>
                      <a:r>
                        <a:rPr lang="en-US" altLang="ko-KR" sz="900" b="0" dirty="0">
                          <a:solidFill>
                            <a:srgbClr val="000000"/>
                          </a:solidFill>
                          <a:latin typeface="Arial Narrow" panose="020B0606020202030204" pitchFamily="34" charset="0"/>
                          <a:ea typeface="Dotum" pitchFamily="34" charset="-127"/>
                          <a:cs typeface="Arial" charset="0"/>
                        </a:rPr>
                        <a:t>Audit schedule</a:t>
                      </a:r>
                      <a:endParaRPr lang="ko-KR" altLang="en-US" sz="900" b="0" dirty="0">
                        <a:solidFill>
                          <a:srgbClr val="000000"/>
                        </a:solidFill>
                        <a:latin typeface="Arial Narrow" panose="020B0606020202030204" pitchFamily="34" charset="0"/>
                        <a:ea typeface="Dotum" pitchFamily="34" charset="-127"/>
                        <a:cs typeface="Arial" charset="0"/>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87597">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anchor="ctr" anchorCtr="1"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solidFill>
                          <a:srgbClr val="000000"/>
                        </a:solidFill>
                        <a:latin typeface="Arial Narrow" panose="020B0606020202030204" pitchFamily="34" charset="0"/>
                        <a:ea typeface="Dotum"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solidFill>
                          <a:srgbClr val="000000"/>
                        </a:solidFill>
                        <a:latin typeface="Arial Narrow" panose="020B0606020202030204" pitchFamily="34" charset="0"/>
                        <a:ea typeface="Dotum"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lang="en-US" altLang="ko-KR" sz="900" b="0" dirty="0">
                          <a:solidFill>
                            <a:srgbClr val="000000"/>
                          </a:solidFill>
                          <a:latin typeface="Arial Narrow" panose="020B0606020202030204" pitchFamily="34" charset="0"/>
                          <a:ea typeface="Dotum" pitchFamily="34" charset="-127"/>
                          <a:cs typeface="Arial" pitchFamily="34" charset="0"/>
                        </a:rPr>
                        <a:t>1. Checklist</a:t>
                      </a:r>
                      <a:br>
                        <a:rPr lang="en-US" altLang="ko-KR" sz="900" b="0" dirty="0">
                          <a:solidFill>
                            <a:srgbClr val="000000"/>
                          </a:solidFill>
                          <a:latin typeface="Arial Narrow" panose="020B0606020202030204" pitchFamily="34" charset="0"/>
                          <a:ea typeface="Dotum" pitchFamily="34" charset="-127"/>
                          <a:cs typeface="Arial" pitchFamily="34" charset="0"/>
                        </a:rPr>
                      </a:br>
                      <a:r>
                        <a:rPr lang="en-US" altLang="ko-KR" sz="900" b="0" dirty="0">
                          <a:solidFill>
                            <a:srgbClr val="000000"/>
                          </a:solidFill>
                          <a:latin typeface="Arial Narrow" panose="020B0606020202030204" pitchFamily="34" charset="0"/>
                          <a:ea typeface="Dotum" pitchFamily="34" charset="-127"/>
                          <a:cs typeface="Arial" pitchFamily="34" charset="0"/>
                        </a:rPr>
                        <a:t>2. Audit schedule</a:t>
                      </a:r>
                      <a:endParaRPr lang="ko-KR" altLang="en-US" sz="900" b="0" dirty="0">
                        <a:solidFill>
                          <a:srgbClr val="000000"/>
                        </a:solidFill>
                        <a:latin typeface="Arial Narrow" panose="020B0606020202030204" pitchFamily="34" charset="0"/>
                        <a:ea typeface="Dotum"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rgbClr val="0000FF"/>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rgbClr val="0000FF"/>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latin typeface="Arial Narrow" panose="020B0606020202030204" pitchFamily="34" charset="0"/>
                        <a:ea typeface="Malgun Gothic"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latin typeface="Arial Narrow" panose="020B0606020202030204" pitchFamily="34" charset="0"/>
                        <a:ea typeface="Malgun Gothic"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lang="ko-KR" altLang="en-US" sz="900" b="0" dirty="0">
                        <a:latin typeface="Arial Narrow" panose="020B0606020202030204" pitchFamily="34" charset="0"/>
                        <a:ea typeface="Malgun Gothic" pitchFamily="34" charset="-127"/>
                        <a:cs typeface="Arial" pitchFamily="34" charset="0"/>
                      </a:endParaRPr>
                    </a:p>
                    <a:p>
                      <a:pPr marL="0" marR="0" lvl="0" indent="0" algn="ctr" defTabSz="762000" rtl="0" eaLnBrk="1" fontAlgn="base" latinLnBrk="1" hangingPunct="1">
                        <a:lnSpc>
                          <a:spcPct val="100000"/>
                        </a:lnSpc>
                        <a:spcBef>
                          <a:spcPct val="20000"/>
                        </a:spcBef>
                        <a:spcAft>
                          <a:spcPct val="0"/>
                        </a:spcAft>
                        <a:buClrTx/>
                        <a:buSzTx/>
                        <a:buFontTx/>
                        <a:buNone/>
                        <a:tabLst/>
                      </a:pPr>
                      <a:r>
                        <a:rPr lang="en-US" altLang="ko-KR" sz="900" b="0" dirty="0">
                          <a:latin typeface="Arial Narrow" panose="020B0606020202030204" pitchFamily="34" charset="0"/>
                          <a:ea typeface="Dotum" pitchFamily="34" charset="-127"/>
                          <a:cs typeface="Arial" pitchFamily="34" charset="0"/>
                        </a:rPr>
                        <a:t>Nonconformity issues</a:t>
                      </a: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75194">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anchor="ctr" anchorCtr="1"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solidFill>
                          <a:srgbClr val="000000"/>
                        </a:solidFill>
                        <a:latin typeface="Arial Narrow" panose="020B0606020202030204" pitchFamily="34" charset="0"/>
                        <a:ea typeface="Malgun Gothic"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solidFill>
                          <a:srgbClr val="000000"/>
                        </a:solidFill>
                        <a:latin typeface="Arial Narrow" panose="020B0606020202030204" pitchFamily="34" charset="0"/>
                        <a:ea typeface="Malgun Gothic"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lang="en-US" altLang="ko-KR" sz="900" b="0" dirty="0">
                          <a:solidFill>
                            <a:srgbClr val="000000"/>
                          </a:solidFill>
                          <a:latin typeface="Arial Narrow" panose="020B0606020202030204" pitchFamily="34" charset="0"/>
                          <a:ea typeface="Malgun Gothic" pitchFamily="34" charset="-127"/>
                          <a:cs typeface="Arial" pitchFamily="34" charset="0"/>
                        </a:rPr>
                        <a:t>1. </a:t>
                      </a:r>
                      <a:r>
                        <a:rPr lang="en-US" altLang="ko-KR" sz="900" b="0" dirty="0">
                          <a:latin typeface="Arial Narrow" panose="020B0606020202030204" pitchFamily="34" charset="0"/>
                          <a:ea typeface="Dotum" pitchFamily="34" charset="-127"/>
                          <a:cs typeface="Arial" pitchFamily="34" charset="0"/>
                        </a:rPr>
                        <a:t>Nonconformity issues</a:t>
                      </a:r>
                      <a:endParaRPr kumimoji="0" lang="ko-KR"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defRPr/>
                      </a:pPr>
                      <a:r>
                        <a:rPr lang="en-US" altLang="ko-KR" sz="900" b="0" dirty="0">
                          <a:solidFill>
                            <a:srgbClr val="000000"/>
                          </a:solidFill>
                          <a:latin typeface="Arial Narrow" panose="020B0606020202030204" pitchFamily="34" charset="0"/>
                          <a:ea typeface="Malgun Gothic" pitchFamily="34" charset="-127"/>
                          <a:cs typeface="Arial" pitchFamily="34" charset="0"/>
                        </a:rPr>
                        <a:t>2. Audit evidence</a:t>
                      </a:r>
                      <a:br>
                        <a:rPr lang="en-US" altLang="ko-KR" sz="900" b="0" dirty="0">
                          <a:solidFill>
                            <a:srgbClr val="000000"/>
                          </a:solidFill>
                          <a:latin typeface="Arial Narrow" panose="020B0606020202030204" pitchFamily="34" charset="0"/>
                          <a:ea typeface="Malgun Gothic" pitchFamily="34" charset="-127"/>
                          <a:cs typeface="Arial" pitchFamily="34" charset="0"/>
                        </a:rPr>
                      </a:br>
                      <a:endParaRPr lang="en-US" altLang="ko-KR" sz="900" b="0" dirty="0">
                        <a:solidFill>
                          <a:srgbClr val="000000"/>
                        </a:solidFill>
                        <a:latin typeface="Arial Narrow" panose="020B0606020202030204" pitchFamily="34" charset="0"/>
                        <a:ea typeface="Malgun Gothic"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solidFill>
                          <a:srgbClr val="000000"/>
                        </a:solidFill>
                        <a:latin typeface="Arial Narrow" panose="020B0606020202030204" pitchFamily="34" charset="0"/>
                        <a:ea typeface="Malgun Gothic"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solidFill>
                          <a:srgbClr val="000000"/>
                        </a:solidFill>
                        <a:latin typeface="Arial Narrow" panose="020B0606020202030204" pitchFamily="34" charset="0"/>
                        <a:ea typeface="Malgun Gothic"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defRPr/>
                      </a:pPr>
                      <a:endParaRPr lang="en-US" altLang="ko-KR" sz="900" b="0" dirty="0">
                        <a:solidFill>
                          <a:srgbClr val="000000"/>
                        </a:solidFill>
                        <a:latin typeface="Arial Narrow" panose="020B0606020202030204" pitchFamily="34" charset="0"/>
                        <a:ea typeface="Malgun Gothic" pitchFamily="34" charset="-127"/>
                        <a:cs typeface="Arial" pitchFamily="34" charset="0"/>
                      </a:endParaRPr>
                    </a:p>
                    <a:p>
                      <a:pPr algn="ctr" eaLnBrk="1" latinLnBrk="1" hangingPunct="1"/>
                      <a:r>
                        <a:rPr lang="en-US" altLang="ko-KR" sz="900" b="0" dirty="0">
                          <a:latin typeface="Arial Narrow" panose="020B0606020202030204" pitchFamily="34" charset="0"/>
                          <a:ea typeface="Dotum" pitchFamily="34" charset="-127"/>
                          <a:cs typeface="Arial" pitchFamily="34" charset="0"/>
                        </a:rPr>
                        <a:t>Nonconformity reports</a:t>
                      </a:r>
                      <a:endParaRPr lang="ko-KR" altLang="en-US" sz="900" b="0" dirty="0">
                        <a:latin typeface="Arial Narrow" panose="020B0606020202030204" pitchFamily="34" charset="0"/>
                        <a:ea typeface="Dotum" pitchFamily="34" charset="-127"/>
                        <a:cs typeface="Arial" pitchFamily="34" charset="0"/>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eaLnBrk="1" latinLnBrk="1" hangingPunct="1"/>
                      <a:endParaRPr lang="en-US" altLang="ko-KR" sz="900" b="0" dirty="0">
                        <a:latin typeface="Arial Narrow" panose="020B0606020202030204" pitchFamily="34" charset="0"/>
                        <a:ea typeface="Dotum" pitchFamily="34" charset="-127"/>
                        <a:cs typeface="Arial" pitchFamily="34" charset="0"/>
                      </a:endParaRPr>
                    </a:p>
                    <a:p>
                      <a:pPr eaLnBrk="1" latinLnBrk="1" hangingPunct="1"/>
                      <a:endParaRPr lang="en-US" altLang="ko-KR" sz="900" b="0" dirty="0">
                        <a:latin typeface="Arial Narrow" panose="020B0606020202030204" pitchFamily="34" charset="0"/>
                        <a:ea typeface="Dotum" pitchFamily="34" charset="-127"/>
                        <a:cs typeface="Arial" pitchFamily="34" charset="0"/>
                      </a:endParaRPr>
                    </a:p>
                    <a:p>
                      <a:pPr algn="ctr" eaLnBrk="1" latinLnBrk="1" hangingPunct="1"/>
                      <a:endParaRPr lang="en-US" altLang="ko-KR" sz="900" b="0" dirty="0">
                        <a:latin typeface="Arial Narrow" panose="020B0606020202030204" pitchFamily="34" charset="0"/>
                        <a:ea typeface="Dotum" pitchFamily="34" charset="-127"/>
                        <a:cs typeface="Arial" pitchFamily="34" charset="0"/>
                      </a:endParaRPr>
                    </a:p>
                    <a:p>
                      <a:pPr algn="ctr" eaLnBrk="1" latinLnBrk="1" hangingPunct="1"/>
                      <a:r>
                        <a:rPr lang="en-US" altLang="ko-KR" sz="900" b="0" dirty="0">
                          <a:latin typeface="Arial Narrow" panose="020B0606020202030204" pitchFamily="34" charset="0"/>
                          <a:ea typeface="Dotum" pitchFamily="34" charset="-127"/>
                          <a:cs typeface="Arial" pitchFamily="34" charset="0"/>
                        </a:rPr>
                        <a:t>Nonconformity reports</a:t>
                      </a:r>
                      <a:endParaRPr lang="ko-KR" altLang="en-US" sz="900" b="0" dirty="0">
                        <a:latin typeface="Arial Narrow" panose="020B0606020202030204" pitchFamily="34" charset="0"/>
                        <a:ea typeface="Dotum" pitchFamily="34" charset="-127"/>
                        <a:cs typeface="Arial" pitchFamily="34" charset="0"/>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ctr" defTabSz="762000" rtl="0" eaLnBrk="1" fontAlgn="base" latinLnBrk="1" hangingPunct="1">
                        <a:lnSpc>
                          <a:spcPct val="100000"/>
                        </a:lnSpc>
                        <a:spcBef>
                          <a:spcPct val="20000"/>
                        </a:spcBef>
                        <a:spcAft>
                          <a:spcPct val="0"/>
                        </a:spcAft>
                        <a:buClrTx/>
                        <a:buSzTx/>
                        <a:buFontTx/>
                        <a:buNone/>
                        <a:tabLst/>
                        <a:defRPr/>
                      </a:pPr>
                      <a:r>
                        <a:rPr lang="en-US" altLang="ko-KR" sz="900" b="0" dirty="0">
                          <a:latin typeface="Arial Narrow" panose="020B0606020202030204" pitchFamily="34" charset="0"/>
                          <a:ea typeface="Malgun Gothic" pitchFamily="34" charset="-127"/>
                          <a:cs typeface="Arial" pitchFamily="34" charset="0"/>
                        </a:rPr>
                        <a:t>Corrective and Preventive Actio</a:t>
                      </a:r>
                      <a:r>
                        <a:rPr lang="en-US" altLang="ko-KR" sz="900" b="0" baseline="0" dirty="0">
                          <a:latin typeface="Arial Narrow" panose="020B0606020202030204" pitchFamily="34" charset="0"/>
                          <a:ea typeface="Malgun Gothic" pitchFamily="34" charset="-127"/>
                          <a:cs typeface="Arial" pitchFamily="34" charset="0"/>
                        </a:rPr>
                        <a:t>n plan &amp; report</a:t>
                      </a: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Malgun Gothic" pitchFamily="34" charset="-127"/>
                        <a:ea typeface="Malgun Gothic"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TextBox 128">
            <a:extLst>
              <a:ext uri="{FF2B5EF4-FFF2-40B4-BE49-F238E27FC236}">
                <a16:creationId xmlns:a16="http://schemas.microsoft.com/office/drawing/2014/main" id="{8273BFC7-CDA0-156F-0345-C5693035458A}"/>
              </a:ext>
            </a:extLst>
          </p:cNvPr>
          <p:cNvSpPr txBox="1">
            <a:spLocks noChangeArrowheads="1"/>
          </p:cNvSpPr>
          <p:nvPr/>
        </p:nvSpPr>
        <p:spPr bwMode="auto">
          <a:xfrm>
            <a:off x="184670" y="5233434"/>
            <a:ext cx="795359" cy="246221"/>
          </a:xfrm>
          <a:prstGeom prst="rect">
            <a:avLst/>
          </a:prstGeom>
          <a:noFill/>
          <a:ln w="9525">
            <a:noFill/>
            <a:miter lim="800000"/>
            <a:headEnd/>
            <a:tailEnd/>
          </a:ln>
        </p:spPr>
        <p:txBody>
          <a:bodyPr wrap="square" lIns="36000" rIns="36000">
            <a:spAutoFit/>
          </a:bodyPr>
          <a:lstStyle/>
          <a:p>
            <a:pPr eaLnBrk="1" latinLnBrk="1" hangingPunct="1"/>
            <a:r>
              <a:rPr lang="en-US" altLang="ko-KR" sz="1000" b="0" dirty="0">
                <a:solidFill>
                  <a:srgbClr val="000000"/>
                </a:solidFill>
                <a:latin typeface="Arial Narrow" panose="020B0606020202030204" pitchFamily="34" charset="0"/>
                <a:ea typeface="Dotum" pitchFamily="34" charset="-127"/>
                <a:cs typeface="Arial" charset="0"/>
              </a:rPr>
              <a:t>Prepare details</a:t>
            </a:r>
            <a:endParaRPr lang="ko-KR" altLang="en-US" sz="1000" b="0" dirty="0">
              <a:solidFill>
                <a:srgbClr val="000000"/>
              </a:solidFill>
              <a:latin typeface="Arial Narrow" panose="020B0606020202030204" pitchFamily="34" charset="0"/>
              <a:ea typeface="Dotum" pitchFamily="34" charset="-127"/>
              <a:cs typeface="Arial" charset="0"/>
            </a:endParaRPr>
          </a:p>
        </p:txBody>
      </p:sp>
      <p:sp>
        <p:nvSpPr>
          <p:cNvPr id="8" name="TextBox 128">
            <a:extLst>
              <a:ext uri="{FF2B5EF4-FFF2-40B4-BE49-F238E27FC236}">
                <a16:creationId xmlns:a16="http://schemas.microsoft.com/office/drawing/2014/main" id="{3ADF8C62-CE16-06E1-8EF5-8BB36EABFC6F}"/>
              </a:ext>
            </a:extLst>
          </p:cNvPr>
          <p:cNvSpPr txBox="1">
            <a:spLocks noChangeArrowheads="1"/>
          </p:cNvSpPr>
          <p:nvPr/>
        </p:nvSpPr>
        <p:spPr bwMode="auto">
          <a:xfrm>
            <a:off x="184671" y="2356202"/>
            <a:ext cx="795361" cy="400110"/>
          </a:xfrm>
          <a:prstGeom prst="rect">
            <a:avLst/>
          </a:prstGeom>
          <a:noFill/>
          <a:ln w="9525">
            <a:noFill/>
            <a:miter lim="800000"/>
            <a:headEnd/>
            <a:tailEnd/>
          </a:ln>
        </p:spPr>
        <p:txBody>
          <a:bodyPr wrap="square" lIns="36000" rIns="36000">
            <a:spAutoFit/>
          </a:bodyPr>
          <a:lstStyle/>
          <a:p>
            <a:pPr eaLnBrk="1" latinLnBrk="1" hangingPunct="1"/>
            <a:r>
              <a:rPr lang="en-US" altLang="ko-KR" sz="1000" dirty="0">
                <a:latin typeface="Arial Narrow" panose="020B0606020202030204" pitchFamily="34" charset="0"/>
              </a:rPr>
              <a:t>A</a:t>
            </a:r>
            <a:r>
              <a:rPr lang="en-US" altLang="ko-KR" sz="1000" b="0" dirty="0">
                <a:latin typeface="Arial Narrow" panose="020B0606020202030204" pitchFamily="34" charset="0"/>
              </a:rPr>
              <a:t>udit annual plan</a:t>
            </a:r>
            <a:endParaRPr lang="ko-KR" altLang="en-US" sz="1000" b="0" dirty="0">
              <a:solidFill>
                <a:srgbClr val="000000"/>
              </a:solidFill>
              <a:latin typeface="Arial Narrow" panose="020B0606020202030204" pitchFamily="34" charset="0"/>
              <a:ea typeface="Dotum" pitchFamily="34" charset="-127"/>
              <a:cs typeface="Arial" charset="0"/>
            </a:endParaRPr>
          </a:p>
        </p:txBody>
      </p:sp>
      <p:sp>
        <p:nvSpPr>
          <p:cNvPr id="9" name="TextBox 128">
            <a:extLst>
              <a:ext uri="{FF2B5EF4-FFF2-40B4-BE49-F238E27FC236}">
                <a16:creationId xmlns:a16="http://schemas.microsoft.com/office/drawing/2014/main" id="{B847A716-4AEA-C010-5E32-FB8B81CBE284}"/>
              </a:ext>
            </a:extLst>
          </p:cNvPr>
          <p:cNvSpPr txBox="1">
            <a:spLocks noChangeArrowheads="1"/>
          </p:cNvSpPr>
          <p:nvPr/>
        </p:nvSpPr>
        <p:spPr bwMode="auto">
          <a:xfrm>
            <a:off x="184671" y="6353212"/>
            <a:ext cx="702266" cy="230832"/>
          </a:xfrm>
          <a:prstGeom prst="rect">
            <a:avLst/>
          </a:prstGeom>
          <a:noFill/>
          <a:ln w="9525">
            <a:noFill/>
            <a:miter lim="800000"/>
            <a:headEnd/>
            <a:tailEnd/>
          </a:ln>
        </p:spPr>
        <p:txBody>
          <a:bodyPr wrap="square" lIns="36000" rIns="36000">
            <a:spAutoFit/>
          </a:bodyPr>
          <a:lstStyle/>
          <a:p>
            <a:pPr eaLnBrk="1" latinLnBrk="1" hangingPunct="1"/>
            <a:r>
              <a:rPr lang="en-US" altLang="ko-KR" sz="900" b="0" dirty="0">
                <a:solidFill>
                  <a:srgbClr val="000000"/>
                </a:solidFill>
                <a:latin typeface="Arial Narrow" panose="020B0606020202030204" pitchFamily="34" charset="0"/>
                <a:ea typeface="Dotum" pitchFamily="34" charset="-127"/>
                <a:cs typeface="Arial" pitchFamily="34" charset="0"/>
              </a:rPr>
              <a:t>Perform audits</a:t>
            </a:r>
            <a:endParaRPr lang="ko-KR" altLang="en-US" sz="900" b="0" dirty="0">
              <a:solidFill>
                <a:srgbClr val="000000"/>
              </a:solidFill>
              <a:latin typeface="Arial Narrow" panose="020B0606020202030204" pitchFamily="34" charset="0"/>
              <a:ea typeface="Dotum" pitchFamily="34" charset="-127"/>
              <a:cs typeface="Arial" pitchFamily="34" charset="0"/>
            </a:endParaRPr>
          </a:p>
        </p:txBody>
      </p:sp>
      <p:sp>
        <p:nvSpPr>
          <p:cNvPr id="10" name="TextBox 128">
            <a:extLst>
              <a:ext uri="{FF2B5EF4-FFF2-40B4-BE49-F238E27FC236}">
                <a16:creationId xmlns:a16="http://schemas.microsoft.com/office/drawing/2014/main" id="{121D2B82-0998-DF34-D918-FE219C54F856}"/>
              </a:ext>
            </a:extLst>
          </p:cNvPr>
          <p:cNvSpPr txBox="1">
            <a:spLocks noChangeArrowheads="1"/>
          </p:cNvSpPr>
          <p:nvPr/>
        </p:nvSpPr>
        <p:spPr bwMode="auto">
          <a:xfrm>
            <a:off x="172243" y="7441052"/>
            <a:ext cx="826837" cy="646331"/>
          </a:xfrm>
          <a:prstGeom prst="rect">
            <a:avLst/>
          </a:prstGeom>
          <a:noFill/>
          <a:ln w="9525">
            <a:noFill/>
            <a:miter lim="800000"/>
            <a:headEnd/>
            <a:tailEnd/>
          </a:ln>
        </p:spPr>
        <p:txBody>
          <a:bodyPr wrap="square" lIns="36000" rIns="36000">
            <a:spAutoFit/>
          </a:bodyPr>
          <a:lstStyle/>
          <a:p>
            <a:pPr eaLnBrk="1" latinLnBrk="1" hangingPunct="1"/>
            <a:r>
              <a:rPr lang="en-US" altLang="ko-KR" sz="900" b="0" dirty="0">
                <a:solidFill>
                  <a:srgbClr val="000000"/>
                </a:solidFill>
                <a:latin typeface="Arial Narrow" pitchFamily="34" charset="0"/>
                <a:ea typeface="Dotum" pitchFamily="34" charset="-127"/>
                <a:cs typeface="Arial" pitchFamily="34" charset="0"/>
              </a:rPr>
              <a:t>Nonconformity reporting and corrective action follow up</a:t>
            </a:r>
          </a:p>
        </p:txBody>
      </p:sp>
      <p:sp>
        <p:nvSpPr>
          <p:cNvPr id="11" name="TextBox 136">
            <a:extLst>
              <a:ext uri="{FF2B5EF4-FFF2-40B4-BE49-F238E27FC236}">
                <a16:creationId xmlns:a16="http://schemas.microsoft.com/office/drawing/2014/main" id="{65B58747-3EC6-CBD5-C2FD-E336A5E02EB2}"/>
              </a:ext>
            </a:extLst>
          </p:cNvPr>
          <p:cNvSpPr txBox="1">
            <a:spLocks noChangeArrowheads="1"/>
          </p:cNvSpPr>
          <p:nvPr/>
        </p:nvSpPr>
        <p:spPr bwMode="auto">
          <a:xfrm>
            <a:off x="6108701" y="3309690"/>
            <a:ext cx="682625" cy="369332"/>
          </a:xfrm>
          <a:prstGeom prst="rect">
            <a:avLst/>
          </a:prstGeom>
          <a:noFill/>
          <a:ln w="9525">
            <a:noFill/>
            <a:miter lim="800000"/>
            <a:headEnd/>
            <a:tailEnd/>
          </a:ln>
        </p:spPr>
        <p:txBody>
          <a:bodyPr lIns="0" rIns="0">
            <a:spAutoFit/>
          </a:bodyPr>
          <a:lstStyle/>
          <a:p>
            <a:pPr algn="ctr" eaLnBrk="1" latinLnBrk="1" hangingPunct="1"/>
            <a:r>
              <a:rPr lang="en-US" altLang="ko-KR" sz="900" b="0" dirty="0">
                <a:solidFill>
                  <a:srgbClr val="000000"/>
                </a:solidFill>
                <a:latin typeface="Arial Narrow" panose="020B0606020202030204" pitchFamily="34" charset="0"/>
                <a:ea typeface="Dotum" pitchFamily="34" charset="-127"/>
                <a:cs typeface="Arial" charset="0"/>
              </a:rPr>
              <a:t>Quality Manager</a:t>
            </a:r>
            <a:endParaRPr lang="ko-KR" altLang="en-US" sz="900" b="0" dirty="0">
              <a:solidFill>
                <a:srgbClr val="000000"/>
              </a:solidFill>
              <a:latin typeface="Arial Narrow" panose="020B0606020202030204" pitchFamily="34" charset="0"/>
              <a:ea typeface="Dotum" pitchFamily="34" charset="-127"/>
              <a:cs typeface="Arial" charset="0"/>
            </a:endParaRPr>
          </a:p>
        </p:txBody>
      </p:sp>
      <p:sp>
        <p:nvSpPr>
          <p:cNvPr id="12" name="TextBox 136">
            <a:extLst>
              <a:ext uri="{FF2B5EF4-FFF2-40B4-BE49-F238E27FC236}">
                <a16:creationId xmlns:a16="http://schemas.microsoft.com/office/drawing/2014/main" id="{12759200-DB53-0D93-E51B-BDC2451E4F51}"/>
              </a:ext>
            </a:extLst>
          </p:cNvPr>
          <p:cNvSpPr txBox="1">
            <a:spLocks noChangeArrowheads="1"/>
          </p:cNvSpPr>
          <p:nvPr/>
        </p:nvSpPr>
        <p:spPr bwMode="auto">
          <a:xfrm>
            <a:off x="5359401" y="3320714"/>
            <a:ext cx="682625" cy="369332"/>
          </a:xfrm>
          <a:prstGeom prst="rect">
            <a:avLst/>
          </a:prstGeom>
          <a:noFill/>
          <a:ln w="9525">
            <a:noFill/>
            <a:miter lim="800000"/>
            <a:headEnd/>
            <a:tailEnd/>
          </a:ln>
        </p:spPr>
        <p:txBody>
          <a:bodyPr lIns="0" rIns="0">
            <a:spAutoFit/>
          </a:bodyPr>
          <a:lstStyle/>
          <a:p>
            <a:pPr lvl="0" defTabSz="762000" latinLnBrk="1">
              <a:spcBef>
                <a:spcPct val="20000"/>
              </a:spcBef>
              <a:defRPr/>
            </a:pPr>
            <a:r>
              <a:rPr lang="en-US" altLang="ko-KR" sz="900" dirty="0">
                <a:solidFill>
                  <a:srgbClr val="000000"/>
                </a:solidFill>
                <a:latin typeface="Arial Narrow" panose="020B0606020202030204" pitchFamily="34" charset="0"/>
                <a:ea typeface="Dotum" pitchFamily="34" charset="-127"/>
                <a:cs typeface="Arial" charset="0"/>
              </a:rPr>
              <a:t>Annual audit plan</a:t>
            </a:r>
            <a:endParaRPr lang="ko-KR" altLang="en-US" sz="900" dirty="0">
              <a:solidFill>
                <a:srgbClr val="000000"/>
              </a:solidFill>
              <a:latin typeface="Arial Narrow" panose="020B0606020202030204" pitchFamily="34" charset="0"/>
              <a:ea typeface="Dotum" pitchFamily="34" charset="-127"/>
              <a:cs typeface="Arial" charset="0"/>
            </a:endParaRPr>
          </a:p>
        </p:txBody>
      </p:sp>
      <p:sp>
        <p:nvSpPr>
          <p:cNvPr id="13" name="AutoShape 59">
            <a:extLst>
              <a:ext uri="{FF2B5EF4-FFF2-40B4-BE49-F238E27FC236}">
                <a16:creationId xmlns:a16="http://schemas.microsoft.com/office/drawing/2014/main" id="{8B8B6243-E20C-C345-7E5B-8DBFD7A271A8}"/>
              </a:ext>
            </a:extLst>
          </p:cNvPr>
          <p:cNvSpPr>
            <a:spLocks noChangeArrowheads="1"/>
          </p:cNvSpPr>
          <p:nvPr/>
        </p:nvSpPr>
        <p:spPr bwMode="auto">
          <a:xfrm>
            <a:off x="1989310" y="3395385"/>
            <a:ext cx="1116012" cy="467702"/>
          </a:xfrm>
          <a:prstGeom prst="flowChartDecision">
            <a:avLst/>
          </a:prstGeom>
          <a:solidFill>
            <a:srgbClr val="FFFFFF"/>
          </a:solidFill>
          <a:ln w="9525">
            <a:solidFill>
              <a:srgbClr val="000000"/>
            </a:solidFill>
            <a:miter lim="800000"/>
            <a:headEnd/>
            <a:tailEnd/>
          </a:ln>
        </p:spPr>
        <p:txBody>
          <a:bodyPr/>
          <a:lstStyle/>
          <a:p>
            <a:pPr eaLnBrk="1" latinLnBrk="1" hangingPunct="1">
              <a:lnSpc>
                <a:spcPct val="80000"/>
              </a:lnSpc>
            </a:pPr>
            <a:r>
              <a:rPr lang="en-US" altLang="ko-KR" sz="750" dirty="0">
                <a:solidFill>
                  <a:srgbClr val="000000"/>
                </a:solidFill>
                <a:latin typeface="Arial Narrow" panose="020B0606020202030204" pitchFamily="34" charset="0"/>
                <a:ea typeface="Dotum" pitchFamily="34" charset="-127"/>
                <a:cs typeface="Arial" charset="0"/>
              </a:rPr>
              <a:t>A</a:t>
            </a:r>
            <a:r>
              <a:rPr lang="en-US" altLang="ko-KR" sz="750" b="0" dirty="0">
                <a:solidFill>
                  <a:srgbClr val="000000"/>
                </a:solidFill>
                <a:latin typeface="Arial Narrow" panose="020B0606020202030204" pitchFamily="34" charset="0"/>
                <a:ea typeface="Dotum" pitchFamily="34" charset="-127"/>
                <a:cs typeface="Arial" charset="0"/>
              </a:rPr>
              <a:t>pproval</a:t>
            </a:r>
            <a:endParaRPr lang="ko-KR" altLang="en-US" sz="750" b="0" dirty="0">
              <a:solidFill>
                <a:srgbClr val="000000"/>
              </a:solidFill>
              <a:latin typeface="Arial Narrow" panose="020B0606020202030204" pitchFamily="34" charset="0"/>
              <a:ea typeface="Dotum" pitchFamily="34" charset="-127"/>
              <a:cs typeface="Arial" charset="0"/>
            </a:endParaRPr>
          </a:p>
        </p:txBody>
      </p:sp>
      <p:cxnSp>
        <p:nvCxnSpPr>
          <p:cNvPr id="14" name="AutoShape 43">
            <a:extLst>
              <a:ext uri="{FF2B5EF4-FFF2-40B4-BE49-F238E27FC236}">
                <a16:creationId xmlns:a16="http://schemas.microsoft.com/office/drawing/2014/main" id="{2718177F-D841-8046-63A7-52E2F694DA1E}"/>
              </a:ext>
            </a:extLst>
          </p:cNvPr>
          <p:cNvCxnSpPr>
            <a:cxnSpLocks noChangeShapeType="1"/>
            <a:endCxn id="13" idx="0"/>
          </p:cNvCxnSpPr>
          <p:nvPr/>
        </p:nvCxnSpPr>
        <p:spPr bwMode="auto">
          <a:xfrm>
            <a:off x="2546522" y="2991778"/>
            <a:ext cx="794" cy="403607"/>
          </a:xfrm>
          <a:prstGeom prst="straightConnector1">
            <a:avLst/>
          </a:prstGeom>
          <a:noFill/>
          <a:ln w="9525">
            <a:solidFill>
              <a:srgbClr val="000000"/>
            </a:solidFill>
            <a:round/>
            <a:headEnd/>
            <a:tailEnd type="triangle" w="sm" len="med"/>
          </a:ln>
        </p:spPr>
      </p:cxnSp>
      <p:sp>
        <p:nvSpPr>
          <p:cNvPr id="15" name="Rectangle 496">
            <a:extLst>
              <a:ext uri="{FF2B5EF4-FFF2-40B4-BE49-F238E27FC236}">
                <a16:creationId xmlns:a16="http://schemas.microsoft.com/office/drawing/2014/main" id="{E5D6097B-B14E-5655-4AFD-B849887EF26F}"/>
              </a:ext>
            </a:extLst>
          </p:cNvPr>
          <p:cNvSpPr>
            <a:spLocks noChangeArrowheads="1"/>
          </p:cNvSpPr>
          <p:nvPr/>
        </p:nvSpPr>
        <p:spPr bwMode="auto">
          <a:xfrm>
            <a:off x="1989310" y="5375758"/>
            <a:ext cx="2663826" cy="584628"/>
          </a:xfrm>
          <a:prstGeom prst="rect">
            <a:avLst/>
          </a:prstGeom>
          <a:solidFill>
            <a:srgbClr val="FFFFFF"/>
          </a:solidFill>
          <a:ln w="9525">
            <a:solidFill>
              <a:srgbClr val="000000"/>
            </a:solidFill>
            <a:miter lim="800000"/>
            <a:headEnd/>
            <a:tailEnd/>
          </a:ln>
        </p:spPr>
        <p:txBody>
          <a:bodyPr lIns="27432" tIns="18288" rIns="27432" bIns="18288" anchor="ctr"/>
          <a:lstStyle/>
          <a:p>
            <a:pPr rtl="1" latinLnBrk="1"/>
            <a:r>
              <a:rPr lang="en-US" altLang="ko-KR" sz="900" dirty="0">
                <a:latin typeface="Arial Narrow" pitchFamily="34" charset="0"/>
                <a:ea typeface="Dotum" pitchFamily="34" charset="-127"/>
                <a:cs typeface="Arial" charset="0"/>
              </a:rPr>
              <a:t>Hold an auditor meetings and share audit related information</a:t>
            </a:r>
          </a:p>
        </p:txBody>
      </p:sp>
      <p:sp>
        <p:nvSpPr>
          <p:cNvPr id="16" name="Rectangle 496">
            <a:extLst>
              <a:ext uri="{FF2B5EF4-FFF2-40B4-BE49-F238E27FC236}">
                <a16:creationId xmlns:a16="http://schemas.microsoft.com/office/drawing/2014/main" id="{79CAB477-DE41-A3E5-CA02-6C1D87FC357C}"/>
              </a:ext>
            </a:extLst>
          </p:cNvPr>
          <p:cNvSpPr>
            <a:spLocks noChangeArrowheads="1"/>
          </p:cNvSpPr>
          <p:nvPr/>
        </p:nvSpPr>
        <p:spPr bwMode="auto">
          <a:xfrm>
            <a:off x="1989311" y="4439522"/>
            <a:ext cx="2663825" cy="342179"/>
          </a:xfrm>
          <a:prstGeom prst="rect">
            <a:avLst/>
          </a:prstGeom>
          <a:solidFill>
            <a:srgbClr val="FFFFFF"/>
          </a:solidFill>
          <a:ln w="9525">
            <a:solidFill>
              <a:srgbClr val="000000"/>
            </a:solidFill>
            <a:miter lim="800000"/>
            <a:headEnd/>
            <a:tailEnd/>
          </a:ln>
        </p:spPr>
        <p:txBody>
          <a:bodyPr lIns="27432" tIns="18288" rIns="27432" bIns="18288" anchor="ctr"/>
          <a:lstStyle/>
          <a:p>
            <a:pPr algn="ctr" rtl="1" eaLnBrk="1" latinLnBrk="1" hangingPunct="1"/>
            <a:r>
              <a:rPr lang="en-US" altLang="ko-KR" sz="900" dirty="0">
                <a:solidFill>
                  <a:srgbClr val="000000"/>
                </a:solidFill>
                <a:latin typeface="Arial Narrow" panose="020B0606020202030204" pitchFamily="34" charset="0"/>
                <a:ea typeface="Dotum" pitchFamily="34" charset="-127"/>
                <a:cs typeface="Arial" charset="0"/>
              </a:rPr>
              <a:t>A</a:t>
            </a:r>
            <a:r>
              <a:rPr lang="en-US" altLang="ko-KR" sz="900" b="0" dirty="0">
                <a:solidFill>
                  <a:srgbClr val="000000"/>
                </a:solidFill>
                <a:latin typeface="Arial Narrow" panose="020B0606020202030204" pitchFamily="34" charset="0"/>
                <a:ea typeface="Dotum" pitchFamily="34" charset="-127"/>
                <a:cs typeface="Arial" charset="0"/>
              </a:rPr>
              <a:t>udit notice</a:t>
            </a:r>
            <a:endParaRPr lang="ko-KR" altLang="en-US" sz="900" b="0" dirty="0">
              <a:solidFill>
                <a:srgbClr val="000000"/>
              </a:solidFill>
              <a:latin typeface="Arial Narrow" panose="020B0606020202030204" pitchFamily="34" charset="0"/>
              <a:ea typeface="Dotum" pitchFamily="34" charset="-127"/>
              <a:cs typeface="Arial" charset="0"/>
            </a:endParaRPr>
          </a:p>
        </p:txBody>
      </p:sp>
      <p:cxnSp>
        <p:nvCxnSpPr>
          <p:cNvPr id="17" name="AutoShape 50">
            <a:extLst>
              <a:ext uri="{FF2B5EF4-FFF2-40B4-BE49-F238E27FC236}">
                <a16:creationId xmlns:a16="http://schemas.microsoft.com/office/drawing/2014/main" id="{EB1D64D4-5E10-3B87-93C0-DCC1A69BF5A0}"/>
              </a:ext>
            </a:extLst>
          </p:cNvPr>
          <p:cNvCxnSpPr>
            <a:cxnSpLocks noChangeShapeType="1"/>
            <a:stCxn id="13" idx="2"/>
            <a:endCxn id="16" idx="0"/>
          </p:cNvCxnSpPr>
          <p:nvPr/>
        </p:nvCxnSpPr>
        <p:spPr bwMode="auto">
          <a:xfrm rot="16200000" flipH="1">
            <a:off x="2646053" y="3764350"/>
            <a:ext cx="576435" cy="773908"/>
          </a:xfrm>
          <a:prstGeom prst="bentConnector3">
            <a:avLst>
              <a:gd name="adj1" fmla="val 50000"/>
            </a:avLst>
          </a:prstGeom>
          <a:noFill/>
          <a:ln w="9525">
            <a:solidFill>
              <a:srgbClr val="000000"/>
            </a:solidFill>
            <a:miter lim="800000"/>
            <a:headEnd/>
            <a:tailEnd type="triangle" w="sm" len="med"/>
          </a:ln>
        </p:spPr>
      </p:cxnSp>
      <p:cxnSp>
        <p:nvCxnSpPr>
          <p:cNvPr id="18" name="AutoShape 50">
            <a:extLst>
              <a:ext uri="{FF2B5EF4-FFF2-40B4-BE49-F238E27FC236}">
                <a16:creationId xmlns:a16="http://schemas.microsoft.com/office/drawing/2014/main" id="{580A1E0A-ADF1-6173-B7B6-E933C9F783C2}"/>
              </a:ext>
            </a:extLst>
          </p:cNvPr>
          <p:cNvCxnSpPr>
            <a:cxnSpLocks noChangeShapeType="1"/>
            <a:stCxn id="16" idx="2"/>
            <a:endCxn id="15" idx="0"/>
          </p:cNvCxnSpPr>
          <p:nvPr/>
        </p:nvCxnSpPr>
        <p:spPr bwMode="auto">
          <a:xfrm rot="5400000">
            <a:off x="3024196" y="5078729"/>
            <a:ext cx="594057" cy="1"/>
          </a:xfrm>
          <a:prstGeom prst="bentConnector3">
            <a:avLst>
              <a:gd name="adj1" fmla="val 50000"/>
            </a:avLst>
          </a:prstGeom>
          <a:noFill/>
          <a:ln w="9525">
            <a:solidFill>
              <a:srgbClr val="000000"/>
            </a:solidFill>
            <a:miter lim="800000"/>
            <a:headEnd/>
            <a:tailEnd type="triangle" w="sm" len="med"/>
          </a:ln>
        </p:spPr>
      </p:cxnSp>
      <p:sp>
        <p:nvSpPr>
          <p:cNvPr id="19" name="직사각형 236">
            <a:extLst>
              <a:ext uri="{FF2B5EF4-FFF2-40B4-BE49-F238E27FC236}">
                <a16:creationId xmlns:a16="http://schemas.microsoft.com/office/drawing/2014/main" id="{38B73DAE-A347-3A34-585E-8641F431C457}"/>
              </a:ext>
            </a:extLst>
          </p:cNvPr>
          <p:cNvSpPr/>
          <p:nvPr/>
        </p:nvSpPr>
        <p:spPr>
          <a:xfrm>
            <a:off x="1937029" y="2395180"/>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1</a:t>
            </a:r>
            <a:endParaRPr lang="ko-KR" altLang="en-US" sz="1000" dirty="0">
              <a:latin typeface="Arial Narrow" panose="020B0606020202030204" pitchFamily="34" charset="0"/>
            </a:endParaRPr>
          </a:p>
        </p:txBody>
      </p:sp>
      <p:sp>
        <p:nvSpPr>
          <p:cNvPr id="20" name="순서도: 수행의 시작/종료 17">
            <a:extLst>
              <a:ext uri="{FF2B5EF4-FFF2-40B4-BE49-F238E27FC236}">
                <a16:creationId xmlns:a16="http://schemas.microsoft.com/office/drawing/2014/main" id="{46670CEB-257F-3BFB-2059-4C3C86B2766C}"/>
              </a:ext>
            </a:extLst>
          </p:cNvPr>
          <p:cNvSpPr/>
          <p:nvPr/>
        </p:nvSpPr>
        <p:spPr>
          <a:xfrm>
            <a:off x="2045021" y="2451384"/>
            <a:ext cx="1008112" cy="540394"/>
          </a:xfrm>
          <a:prstGeom prst="flowChartTerminator">
            <a:avLst/>
          </a:prstGeom>
          <a:solidFill>
            <a:schemeClr val="bg1"/>
          </a:solidFill>
          <a:ln w="9525">
            <a:solidFill>
              <a:srgbClr val="000000"/>
            </a:solidFill>
            <a:miter lim="800000"/>
            <a:headEnd/>
            <a:tailEnd/>
          </a:ln>
        </p:spPr>
        <p:txBody>
          <a:bodyPr lIns="27432" tIns="18288" rIns="27432" bIns="18288" anchor="ctr"/>
          <a:lstStyle/>
          <a:p>
            <a:pPr rtl="1" latinLnBrk="1"/>
            <a:r>
              <a:rPr lang="en-US" altLang="ko-KR" sz="900" dirty="0">
                <a:solidFill>
                  <a:srgbClr val="000000"/>
                </a:solidFill>
                <a:latin typeface="Arial Narrow" panose="020B0606020202030204" pitchFamily="34" charset="0"/>
                <a:ea typeface="Dotum" pitchFamily="34" charset="-127"/>
                <a:cs typeface="Arial" charset="0"/>
              </a:rPr>
              <a:t>Establish an annual  audit plan (program)</a:t>
            </a:r>
            <a:endParaRPr lang="ko-KR" altLang="en-US" sz="900" dirty="0">
              <a:solidFill>
                <a:srgbClr val="000000"/>
              </a:solidFill>
              <a:latin typeface="Arial Narrow" panose="020B0606020202030204" pitchFamily="34" charset="0"/>
              <a:ea typeface="Dotum" pitchFamily="34" charset="-127"/>
              <a:cs typeface="Arial" charset="0"/>
            </a:endParaRPr>
          </a:p>
        </p:txBody>
      </p:sp>
      <p:sp>
        <p:nvSpPr>
          <p:cNvPr id="21" name="직사각형 236">
            <a:extLst>
              <a:ext uri="{FF2B5EF4-FFF2-40B4-BE49-F238E27FC236}">
                <a16:creationId xmlns:a16="http://schemas.microsoft.com/office/drawing/2014/main" id="{378B90B3-9852-B2C0-15AB-92D8A9E65F89}"/>
              </a:ext>
            </a:extLst>
          </p:cNvPr>
          <p:cNvSpPr/>
          <p:nvPr/>
        </p:nvSpPr>
        <p:spPr>
          <a:xfrm>
            <a:off x="1901005" y="5285757"/>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2</a:t>
            </a:r>
            <a:endParaRPr lang="ko-KR" altLang="en-US" sz="1000" dirty="0">
              <a:latin typeface="Arial Narrow" panose="020B0606020202030204" pitchFamily="34" charset="0"/>
            </a:endParaRPr>
          </a:p>
        </p:txBody>
      </p:sp>
      <p:cxnSp>
        <p:nvCxnSpPr>
          <p:cNvPr id="22" name="Elbow Connector 42">
            <a:extLst>
              <a:ext uri="{FF2B5EF4-FFF2-40B4-BE49-F238E27FC236}">
                <a16:creationId xmlns:a16="http://schemas.microsoft.com/office/drawing/2014/main" id="{F657EFC5-E153-0935-BD42-0B9AE78F09A1}"/>
              </a:ext>
            </a:extLst>
          </p:cNvPr>
          <p:cNvCxnSpPr>
            <a:stCxn id="13" idx="3"/>
            <a:endCxn id="20" idx="3"/>
          </p:cNvCxnSpPr>
          <p:nvPr/>
        </p:nvCxnSpPr>
        <p:spPr>
          <a:xfrm flipH="1" flipV="1">
            <a:off x="3053133" y="2721581"/>
            <a:ext cx="52189" cy="907655"/>
          </a:xfrm>
          <a:prstGeom prst="bentConnector3">
            <a:avLst>
              <a:gd name="adj1" fmla="val -438023"/>
            </a:avLst>
          </a:prstGeom>
          <a:noFill/>
          <a:ln w="9525">
            <a:solidFill>
              <a:srgbClr val="000000"/>
            </a:solidFill>
            <a:miter lim="800000"/>
            <a:headEnd/>
            <a:tailEnd type="triangle" w="sm" len="med"/>
          </a:ln>
        </p:spPr>
      </p:cxnSp>
      <p:sp>
        <p:nvSpPr>
          <p:cNvPr id="23" name="TextBox 136">
            <a:extLst>
              <a:ext uri="{FF2B5EF4-FFF2-40B4-BE49-F238E27FC236}">
                <a16:creationId xmlns:a16="http://schemas.microsoft.com/office/drawing/2014/main" id="{E7AA2B9A-6B1B-9375-985A-E9FE7A59E0E9}"/>
              </a:ext>
            </a:extLst>
          </p:cNvPr>
          <p:cNvSpPr txBox="1">
            <a:spLocks noChangeArrowheads="1"/>
          </p:cNvSpPr>
          <p:nvPr/>
        </p:nvSpPr>
        <p:spPr bwMode="auto">
          <a:xfrm>
            <a:off x="2598910" y="3792255"/>
            <a:ext cx="457471" cy="184666"/>
          </a:xfrm>
          <a:prstGeom prst="rect">
            <a:avLst/>
          </a:prstGeom>
          <a:noFill/>
          <a:ln w="9525">
            <a:noFill/>
            <a:miter lim="800000"/>
            <a:headEnd/>
            <a:tailEnd/>
          </a:ln>
        </p:spPr>
        <p:txBody>
          <a:bodyPr/>
          <a:lstStyle>
            <a:defPPr>
              <a:defRPr lang="ko-KR"/>
            </a:defPPr>
            <a:lvl1pPr eaLnBrk="1" latinLnBrk="1" hangingPunct="1">
              <a:lnSpc>
                <a:spcPct val="80000"/>
              </a:lnSpc>
              <a:defRPr sz="750" b="0">
                <a:solidFill>
                  <a:srgbClr val="000000"/>
                </a:solidFill>
                <a:latin typeface="Arial Narrow" panose="020B0606020202030204" pitchFamily="34" charset="0"/>
                <a:ea typeface="Dotum" pitchFamily="34" charset="-127"/>
                <a:cs typeface="Arial" charset="0"/>
              </a:defRPr>
            </a:lvl1pPr>
          </a:lstStyle>
          <a:p>
            <a:r>
              <a:rPr lang="en-US" altLang="ko-KR" dirty="0"/>
              <a:t>Yes</a:t>
            </a:r>
            <a:endParaRPr lang="ko-KR" altLang="en-US" dirty="0"/>
          </a:p>
        </p:txBody>
      </p:sp>
      <p:sp>
        <p:nvSpPr>
          <p:cNvPr id="24" name="TextBox 136">
            <a:extLst>
              <a:ext uri="{FF2B5EF4-FFF2-40B4-BE49-F238E27FC236}">
                <a16:creationId xmlns:a16="http://schemas.microsoft.com/office/drawing/2014/main" id="{0AAA16AD-9014-B587-12D9-EE7A98A71CA2}"/>
              </a:ext>
            </a:extLst>
          </p:cNvPr>
          <p:cNvSpPr txBox="1">
            <a:spLocks noChangeArrowheads="1"/>
          </p:cNvSpPr>
          <p:nvPr/>
        </p:nvSpPr>
        <p:spPr bwMode="auto">
          <a:xfrm>
            <a:off x="3333933" y="3083075"/>
            <a:ext cx="367272" cy="184666"/>
          </a:xfrm>
          <a:prstGeom prst="rect">
            <a:avLst/>
          </a:prstGeom>
          <a:noFill/>
          <a:ln w="9525">
            <a:noFill/>
            <a:miter lim="800000"/>
            <a:headEnd/>
            <a:tailEnd/>
          </a:ln>
        </p:spPr>
        <p:txBody>
          <a:bodyPr/>
          <a:lstStyle>
            <a:defPPr>
              <a:defRPr lang="ko-KR"/>
            </a:defPPr>
            <a:lvl1pPr eaLnBrk="1" latinLnBrk="1" hangingPunct="1">
              <a:lnSpc>
                <a:spcPct val="80000"/>
              </a:lnSpc>
              <a:defRPr sz="750" b="0">
                <a:solidFill>
                  <a:srgbClr val="000000"/>
                </a:solidFill>
                <a:latin typeface="Arial Narrow" panose="020B0606020202030204" pitchFamily="34" charset="0"/>
                <a:ea typeface="Dotum" pitchFamily="34" charset="-127"/>
                <a:cs typeface="Arial" charset="0"/>
              </a:defRPr>
            </a:lvl1pPr>
          </a:lstStyle>
          <a:p>
            <a:r>
              <a:rPr lang="en-US" altLang="ko-KR" dirty="0"/>
              <a:t>No</a:t>
            </a:r>
            <a:endParaRPr lang="ko-KR" altLang="en-US" dirty="0"/>
          </a:p>
        </p:txBody>
      </p:sp>
      <p:sp>
        <p:nvSpPr>
          <p:cNvPr id="25" name="Rectangle 496">
            <a:extLst>
              <a:ext uri="{FF2B5EF4-FFF2-40B4-BE49-F238E27FC236}">
                <a16:creationId xmlns:a16="http://schemas.microsoft.com/office/drawing/2014/main" id="{71E09756-FF49-3992-45A4-3B67476CC7FE}"/>
              </a:ext>
            </a:extLst>
          </p:cNvPr>
          <p:cNvSpPr>
            <a:spLocks noChangeArrowheads="1"/>
          </p:cNvSpPr>
          <p:nvPr/>
        </p:nvSpPr>
        <p:spPr bwMode="auto">
          <a:xfrm>
            <a:off x="1989311" y="6476911"/>
            <a:ext cx="2663825" cy="780650"/>
          </a:xfrm>
          <a:prstGeom prst="rect">
            <a:avLst/>
          </a:prstGeom>
          <a:solidFill>
            <a:srgbClr val="FFFFFF"/>
          </a:solidFill>
          <a:ln w="9525">
            <a:solidFill>
              <a:srgbClr val="000000"/>
            </a:solidFill>
            <a:miter lim="800000"/>
            <a:headEnd/>
            <a:tailEnd/>
          </a:ln>
        </p:spPr>
        <p:txBody>
          <a:bodyPr lIns="27432" tIns="18288" rIns="27432" bIns="18288" anchor="ctr"/>
          <a:lstStyle/>
          <a:p>
            <a:pPr algn="ctr" rtl="1" eaLnBrk="1" latinLnBrk="1" hangingPunct="1"/>
            <a:r>
              <a:rPr lang="en-US" altLang="ko-KR" sz="900" b="0" dirty="0">
                <a:solidFill>
                  <a:srgbClr val="000000"/>
                </a:solidFill>
                <a:latin typeface="Arial Narrow" pitchFamily="34" charset="0"/>
                <a:ea typeface="Dotum" pitchFamily="34" charset="-127"/>
                <a:cs typeface="Arial" pitchFamily="34" charset="0"/>
              </a:rPr>
              <a:t>Perform audit</a:t>
            </a:r>
          </a:p>
          <a:p>
            <a:pPr rtl="1" latinLnBrk="1"/>
            <a:r>
              <a:rPr lang="en-US" altLang="ko-KR" sz="900" dirty="0">
                <a:solidFill>
                  <a:srgbClr val="000000"/>
                </a:solidFill>
                <a:latin typeface="Arial Narrow" panose="020B0606020202030204" pitchFamily="34" charset="0"/>
                <a:ea typeface="LG스마트체 Regular" panose="020B0600000101010101" pitchFamily="50" charset="-127"/>
                <a:cs typeface="Arial" charset="0"/>
              </a:rPr>
              <a:t>(System/manufacturing process/product)</a:t>
            </a:r>
            <a:endParaRPr lang="en-US" altLang="ko-KR" sz="900" b="0" dirty="0">
              <a:solidFill>
                <a:srgbClr val="000000"/>
              </a:solidFill>
              <a:latin typeface="Arial Narrow" panose="020B0606020202030204" pitchFamily="34" charset="0"/>
              <a:ea typeface="Dotum" pitchFamily="34" charset="-127"/>
              <a:cs typeface="Arial" pitchFamily="34" charset="0"/>
            </a:endParaRPr>
          </a:p>
        </p:txBody>
      </p:sp>
      <p:cxnSp>
        <p:nvCxnSpPr>
          <p:cNvPr id="26" name="AutoShape 50">
            <a:extLst>
              <a:ext uri="{FF2B5EF4-FFF2-40B4-BE49-F238E27FC236}">
                <a16:creationId xmlns:a16="http://schemas.microsoft.com/office/drawing/2014/main" id="{5A2138A7-007F-0CF1-B276-89495FE6E3F0}"/>
              </a:ext>
            </a:extLst>
          </p:cNvPr>
          <p:cNvCxnSpPr>
            <a:cxnSpLocks noChangeShapeType="1"/>
            <a:stCxn id="15" idx="2"/>
            <a:endCxn id="25" idx="0"/>
          </p:cNvCxnSpPr>
          <p:nvPr/>
        </p:nvCxnSpPr>
        <p:spPr bwMode="auto">
          <a:xfrm rot="16200000" flipH="1">
            <a:off x="3062961" y="6218647"/>
            <a:ext cx="516525" cy="1"/>
          </a:xfrm>
          <a:prstGeom prst="bentConnector3">
            <a:avLst>
              <a:gd name="adj1" fmla="val 50000"/>
            </a:avLst>
          </a:prstGeom>
          <a:noFill/>
          <a:ln w="9525">
            <a:solidFill>
              <a:srgbClr val="000000"/>
            </a:solidFill>
            <a:miter lim="800000"/>
            <a:headEnd/>
            <a:tailEnd type="triangle" w="sm" len="med"/>
          </a:ln>
        </p:spPr>
      </p:cxnSp>
      <p:sp>
        <p:nvSpPr>
          <p:cNvPr id="27" name="Rectangle 496">
            <a:extLst>
              <a:ext uri="{FF2B5EF4-FFF2-40B4-BE49-F238E27FC236}">
                <a16:creationId xmlns:a16="http://schemas.microsoft.com/office/drawing/2014/main" id="{65F86C94-6336-45DF-9F42-B344CF59E56E}"/>
              </a:ext>
            </a:extLst>
          </p:cNvPr>
          <p:cNvSpPr>
            <a:spLocks noChangeArrowheads="1"/>
          </p:cNvSpPr>
          <p:nvPr/>
        </p:nvSpPr>
        <p:spPr bwMode="auto">
          <a:xfrm>
            <a:off x="1989310" y="7609189"/>
            <a:ext cx="1217612" cy="323265"/>
          </a:xfrm>
          <a:prstGeom prst="rect">
            <a:avLst/>
          </a:prstGeom>
          <a:solidFill>
            <a:srgbClr val="FFFFFF"/>
          </a:solidFill>
          <a:ln w="9525">
            <a:solidFill>
              <a:srgbClr val="000000"/>
            </a:solidFill>
            <a:miter lim="800000"/>
            <a:headEnd/>
            <a:tailEnd/>
          </a:ln>
        </p:spPr>
        <p:txBody>
          <a:bodyPr lIns="27432" tIns="18288" rIns="27432" bIns="18288" anchor="ctr"/>
          <a:lstStyle/>
          <a:p>
            <a:pPr algn="ctr" rtl="1" eaLnBrk="1" latinLnBrk="1" hangingPunct="1"/>
            <a:r>
              <a:rPr lang="en-US" altLang="ko-KR" sz="900" b="0" dirty="0">
                <a:solidFill>
                  <a:srgbClr val="000000"/>
                </a:solidFill>
                <a:latin typeface="Arial Narrow" panose="020B0606020202030204" pitchFamily="34" charset="0"/>
                <a:ea typeface="Dotum" pitchFamily="34" charset="-127"/>
                <a:cs typeface="Arial" pitchFamily="34" charset="0"/>
              </a:rPr>
              <a:t>Nonconformity reports</a:t>
            </a:r>
            <a:endParaRPr lang="ko-KR" altLang="en-US" sz="900" b="0" dirty="0">
              <a:solidFill>
                <a:srgbClr val="000000"/>
              </a:solidFill>
              <a:latin typeface="Arial Narrow" panose="020B0606020202030204" pitchFamily="34" charset="0"/>
              <a:ea typeface="Dotum" pitchFamily="34" charset="-127"/>
              <a:cs typeface="Arial" pitchFamily="34" charset="0"/>
            </a:endParaRPr>
          </a:p>
        </p:txBody>
      </p:sp>
      <p:sp>
        <p:nvSpPr>
          <p:cNvPr id="28" name="Rectangle 496">
            <a:extLst>
              <a:ext uri="{FF2B5EF4-FFF2-40B4-BE49-F238E27FC236}">
                <a16:creationId xmlns:a16="http://schemas.microsoft.com/office/drawing/2014/main" id="{A45B832A-8E1C-1FDE-6447-12919A82B4B5}"/>
              </a:ext>
            </a:extLst>
          </p:cNvPr>
          <p:cNvSpPr>
            <a:spLocks noChangeArrowheads="1"/>
          </p:cNvSpPr>
          <p:nvPr/>
        </p:nvSpPr>
        <p:spPr bwMode="auto">
          <a:xfrm>
            <a:off x="1989311" y="8179934"/>
            <a:ext cx="1217611" cy="395761"/>
          </a:xfrm>
          <a:prstGeom prst="rect">
            <a:avLst/>
          </a:prstGeom>
          <a:solidFill>
            <a:srgbClr val="FFFFFF"/>
          </a:solidFill>
          <a:ln w="9525">
            <a:solidFill>
              <a:srgbClr val="000000"/>
            </a:solidFill>
            <a:miter lim="800000"/>
            <a:headEnd/>
            <a:tailEnd/>
          </a:ln>
        </p:spPr>
        <p:txBody>
          <a:bodyPr lIns="27432" tIns="18288" rIns="27432" bIns="18288" anchor="ctr"/>
          <a:lstStyle/>
          <a:p>
            <a:pPr algn="ctr" rtl="1" eaLnBrk="1" latinLnBrk="1" hangingPunct="1"/>
            <a:r>
              <a:rPr lang="en-US" altLang="ko-KR" sz="900" b="0" dirty="0">
                <a:solidFill>
                  <a:srgbClr val="000000"/>
                </a:solidFill>
                <a:latin typeface="Arial Narrow" panose="020B0606020202030204" pitchFamily="34" charset="0"/>
                <a:ea typeface="Dotum" pitchFamily="34" charset="-127"/>
                <a:cs typeface="Arial" pitchFamily="34" charset="0"/>
              </a:rPr>
              <a:t>Request to </a:t>
            </a:r>
            <a:r>
              <a:rPr lang="en-US" altLang="ko-KR" sz="900" dirty="0">
                <a:solidFill>
                  <a:srgbClr val="000000"/>
                </a:solidFill>
                <a:latin typeface="Arial Narrow" panose="020B0606020202030204" pitchFamily="34" charset="0"/>
                <a:ea typeface="Dotum" pitchFamily="34" charset="-127"/>
                <a:cs typeface="Arial" pitchFamily="34" charset="0"/>
              </a:rPr>
              <a:t>submit c</a:t>
            </a:r>
            <a:r>
              <a:rPr lang="en-US" altLang="ko-KR" sz="900" b="0" dirty="0">
                <a:solidFill>
                  <a:srgbClr val="000000"/>
                </a:solidFill>
                <a:latin typeface="Arial Narrow" panose="020B0606020202030204" pitchFamily="34" charset="0"/>
                <a:ea typeface="Dotum" pitchFamily="34" charset="-127"/>
                <a:cs typeface="Arial" pitchFamily="34" charset="0"/>
              </a:rPr>
              <a:t>orrective and preventive actions</a:t>
            </a:r>
            <a:endParaRPr lang="ko-KR" altLang="en-US" sz="900" b="0" dirty="0">
              <a:solidFill>
                <a:srgbClr val="000000"/>
              </a:solidFill>
              <a:latin typeface="Arial Narrow" panose="020B0606020202030204" pitchFamily="34" charset="0"/>
              <a:ea typeface="Dotum" pitchFamily="34" charset="-127"/>
              <a:cs typeface="Arial" pitchFamily="34" charset="0"/>
            </a:endParaRPr>
          </a:p>
        </p:txBody>
      </p:sp>
      <p:sp>
        <p:nvSpPr>
          <p:cNvPr id="29" name="직사각형 236">
            <a:extLst>
              <a:ext uri="{FF2B5EF4-FFF2-40B4-BE49-F238E27FC236}">
                <a16:creationId xmlns:a16="http://schemas.microsoft.com/office/drawing/2014/main" id="{758BF98B-7213-1296-9A6D-D2346E2C2602}"/>
              </a:ext>
            </a:extLst>
          </p:cNvPr>
          <p:cNvSpPr/>
          <p:nvPr/>
        </p:nvSpPr>
        <p:spPr>
          <a:xfrm>
            <a:off x="1955021" y="6382318"/>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3</a:t>
            </a:r>
            <a:endParaRPr lang="ko-KR" altLang="en-US" sz="1000" dirty="0">
              <a:latin typeface="Arial Narrow" panose="020B0606020202030204" pitchFamily="34" charset="0"/>
            </a:endParaRPr>
          </a:p>
        </p:txBody>
      </p:sp>
      <p:sp>
        <p:nvSpPr>
          <p:cNvPr id="30" name="직사각형 236">
            <a:extLst>
              <a:ext uri="{FF2B5EF4-FFF2-40B4-BE49-F238E27FC236}">
                <a16:creationId xmlns:a16="http://schemas.microsoft.com/office/drawing/2014/main" id="{D8A30C61-3F35-A042-46BD-E4C47F8611EA}"/>
              </a:ext>
            </a:extLst>
          </p:cNvPr>
          <p:cNvSpPr/>
          <p:nvPr/>
        </p:nvSpPr>
        <p:spPr>
          <a:xfrm>
            <a:off x="1923919" y="7591170"/>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4</a:t>
            </a:r>
            <a:endParaRPr lang="ko-KR" altLang="en-US" sz="1000" dirty="0">
              <a:latin typeface="Arial Narrow" panose="020B0606020202030204" pitchFamily="34" charset="0"/>
            </a:endParaRPr>
          </a:p>
        </p:txBody>
      </p:sp>
      <p:sp>
        <p:nvSpPr>
          <p:cNvPr id="31" name="Rectangle 496">
            <a:extLst>
              <a:ext uri="{FF2B5EF4-FFF2-40B4-BE49-F238E27FC236}">
                <a16:creationId xmlns:a16="http://schemas.microsoft.com/office/drawing/2014/main" id="{36E195D7-6393-42A8-CCF7-E5D15551FB3C}"/>
              </a:ext>
            </a:extLst>
          </p:cNvPr>
          <p:cNvSpPr>
            <a:spLocks noChangeArrowheads="1"/>
          </p:cNvSpPr>
          <p:nvPr/>
        </p:nvSpPr>
        <p:spPr bwMode="auto">
          <a:xfrm>
            <a:off x="3822948" y="8828006"/>
            <a:ext cx="1368152" cy="323265"/>
          </a:xfrm>
          <a:prstGeom prst="rect">
            <a:avLst/>
          </a:prstGeom>
          <a:solidFill>
            <a:srgbClr val="FFFFFF"/>
          </a:solidFill>
          <a:ln w="9525">
            <a:solidFill>
              <a:srgbClr val="000000"/>
            </a:solidFill>
            <a:miter lim="800000"/>
            <a:headEnd/>
            <a:tailEnd/>
          </a:ln>
        </p:spPr>
        <p:txBody>
          <a:bodyPr lIns="27432" tIns="18288" rIns="27432" bIns="18288" anchor="ctr"/>
          <a:lstStyle/>
          <a:p>
            <a:pPr rtl="1" latinLnBrk="1"/>
            <a:r>
              <a:rPr lang="en-US" altLang="ko-KR" sz="900" b="0" dirty="0">
                <a:solidFill>
                  <a:srgbClr val="000000"/>
                </a:solidFill>
                <a:latin typeface="Arial Narrow" panose="020B0606020202030204" pitchFamily="34" charset="0"/>
                <a:ea typeface="Dotum" pitchFamily="34" charset="-127"/>
                <a:cs typeface="Arial" pitchFamily="34" charset="0"/>
              </a:rPr>
              <a:t>Make &amp; submit </a:t>
            </a:r>
            <a:r>
              <a:rPr lang="en-US" altLang="ko-KR" sz="900" dirty="0">
                <a:solidFill>
                  <a:srgbClr val="000000"/>
                </a:solidFill>
                <a:latin typeface="Arial Narrow" panose="020B0606020202030204" pitchFamily="34" charset="0"/>
                <a:ea typeface="Dotum" pitchFamily="34" charset="-127"/>
                <a:cs typeface="Arial" pitchFamily="34" charset="0"/>
              </a:rPr>
              <a:t>corrective and preventive actions plan</a:t>
            </a:r>
            <a:endParaRPr lang="ko-KR" altLang="en-US" sz="900" dirty="0">
              <a:solidFill>
                <a:srgbClr val="000000"/>
              </a:solidFill>
              <a:latin typeface="Arial Narrow" panose="020B0606020202030204" pitchFamily="34" charset="0"/>
              <a:ea typeface="Dotum" pitchFamily="34" charset="-127"/>
              <a:cs typeface="Arial" pitchFamily="34" charset="0"/>
            </a:endParaRPr>
          </a:p>
        </p:txBody>
      </p:sp>
      <p:cxnSp>
        <p:nvCxnSpPr>
          <p:cNvPr id="32" name="Elbow Connector 32">
            <a:extLst>
              <a:ext uri="{FF2B5EF4-FFF2-40B4-BE49-F238E27FC236}">
                <a16:creationId xmlns:a16="http://schemas.microsoft.com/office/drawing/2014/main" id="{76E865C1-2E47-0AF6-C967-3D30DD23C36B}"/>
              </a:ext>
            </a:extLst>
          </p:cNvPr>
          <p:cNvCxnSpPr>
            <a:stCxn id="28" idx="2"/>
            <a:endCxn id="31" idx="0"/>
          </p:cNvCxnSpPr>
          <p:nvPr/>
        </p:nvCxnSpPr>
        <p:spPr>
          <a:xfrm rot="16200000" flipH="1">
            <a:off x="3426415" y="7747396"/>
            <a:ext cx="252311" cy="1908907"/>
          </a:xfrm>
          <a:prstGeom prst="bentConnector3">
            <a:avLst/>
          </a:prstGeom>
          <a:noFill/>
          <a:ln w="9525">
            <a:solidFill>
              <a:srgbClr val="000000"/>
            </a:solidFill>
            <a:miter lim="800000"/>
            <a:headEnd/>
            <a:tailEnd type="triangle" w="sm" len="med"/>
          </a:ln>
        </p:spPr>
      </p:cxnSp>
      <p:sp>
        <p:nvSpPr>
          <p:cNvPr id="33" name="AutoShape 86">
            <a:extLst>
              <a:ext uri="{FF2B5EF4-FFF2-40B4-BE49-F238E27FC236}">
                <a16:creationId xmlns:a16="http://schemas.microsoft.com/office/drawing/2014/main" id="{BBCEB424-89AF-F0D2-A8F6-B37A67917238}"/>
              </a:ext>
            </a:extLst>
          </p:cNvPr>
          <p:cNvSpPr>
            <a:spLocks noChangeArrowheads="1"/>
          </p:cNvSpPr>
          <p:nvPr/>
        </p:nvSpPr>
        <p:spPr bwMode="auto">
          <a:xfrm>
            <a:off x="4365104" y="9299454"/>
            <a:ext cx="274320" cy="274320"/>
          </a:xfrm>
          <a:prstGeom prst="flowChartConnector">
            <a:avLst/>
          </a:prstGeom>
          <a:solidFill>
            <a:srgbClr val="FFFFFF"/>
          </a:solidFill>
          <a:ln w="9525">
            <a:solidFill>
              <a:srgbClr val="000000"/>
            </a:solidFill>
            <a:round/>
            <a:headEnd/>
            <a:tailEnd/>
          </a:ln>
        </p:spPr>
        <p:txBody>
          <a:bodyPr lIns="27432" tIns="27432" rIns="27432" bIns="27432" anchor="ctr"/>
          <a:lstStyle/>
          <a:p>
            <a:pPr algn="ctr" eaLnBrk="1" latinLnBrk="1" hangingPunct="1"/>
            <a:r>
              <a:rPr lang="en-US" altLang="ko-KR" sz="1400" b="1" dirty="0">
                <a:solidFill>
                  <a:srgbClr val="000000"/>
                </a:solidFill>
                <a:latin typeface="Arial Narrow" pitchFamily="34" charset="0"/>
                <a:ea typeface="Dotum" pitchFamily="34" charset="-127"/>
                <a:cs typeface="Arial" pitchFamily="34" charset="0"/>
              </a:rPr>
              <a:t>A</a:t>
            </a:r>
          </a:p>
        </p:txBody>
      </p:sp>
    </p:spTree>
    <p:extLst>
      <p:ext uri="{BB962C8B-B14F-4D97-AF65-F5344CB8AC3E}">
        <p14:creationId xmlns:p14="http://schemas.microsoft.com/office/powerpoint/2010/main" val="1047322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698CF-98F1-3921-61B1-7442385F709B}"/>
            </a:ext>
          </a:extLst>
        </p:cNvPr>
        <p:cNvGrpSpPr/>
        <p:nvPr/>
      </p:nvGrpSpPr>
      <p:grpSpPr>
        <a:xfrm>
          <a:off x="0" y="0"/>
          <a:ext cx="0" cy="0"/>
          <a:chOff x="0" y="0"/>
          <a:chExt cx="0" cy="0"/>
        </a:xfrm>
      </p:grpSpPr>
      <p:graphicFrame>
        <p:nvGraphicFramePr>
          <p:cNvPr id="2" name="Group 182">
            <a:extLst>
              <a:ext uri="{FF2B5EF4-FFF2-40B4-BE49-F238E27FC236}">
                <a16:creationId xmlns:a16="http://schemas.microsoft.com/office/drawing/2014/main" id="{B3DBDCC7-2384-DBE9-59F0-F4A719760E59}"/>
              </a:ext>
            </a:extLst>
          </p:cNvPr>
          <p:cNvGraphicFramePr>
            <a:graphicFrameLocks noGrp="1"/>
          </p:cNvGraphicFramePr>
          <p:nvPr>
            <p:extLst>
              <p:ext uri="{D42A27DB-BD31-4B8C-83A1-F6EECF244321}">
                <p14:modId xmlns:p14="http://schemas.microsoft.com/office/powerpoint/2010/main" val="452262926"/>
              </p:ext>
            </p:extLst>
          </p:nvPr>
        </p:nvGraphicFramePr>
        <p:xfrm>
          <a:off x="192930" y="1329265"/>
          <a:ext cx="6548438" cy="8331868"/>
        </p:xfrm>
        <a:graphic>
          <a:graphicData uri="http://schemas.openxmlformats.org/drawingml/2006/table">
            <a:tbl>
              <a:tblPr/>
              <a:tblGrid>
                <a:gridCol w="838126">
                  <a:extLst>
                    <a:ext uri="{9D8B030D-6E8A-4147-A177-3AD203B41FA5}">
                      <a16:colId xmlns:a16="http://schemas.microsoft.com/office/drawing/2014/main" val="20000"/>
                    </a:ext>
                  </a:extLst>
                </a:gridCol>
                <a:gridCol w="838127">
                  <a:extLst>
                    <a:ext uri="{9D8B030D-6E8A-4147-A177-3AD203B41FA5}">
                      <a16:colId xmlns:a16="http://schemas.microsoft.com/office/drawing/2014/main" val="20001"/>
                    </a:ext>
                  </a:extLst>
                </a:gridCol>
                <a:gridCol w="1549152">
                  <a:extLst>
                    <a:ext uri="{9D8B030D-6E8A-4147-A177-3AD203B41FA5}">
                      <a16:colId xmlns:a16="http://schemas.microsoft.com/office/drawing/2014/main" val="20002"/>
                    </a:ext>
                  </a:extLst>
                </a:gridCol>
                <a:gridCol w="1878876">
                  <a:extLst>
                    <a:ext uri="{9D8B030D-6E8A-4147-A177-3AD203B41FA5}">
                      <a16:colId xmlns:a16="http://schemas.microsoft.com/office/drawing/2014/main" val="20003"/>
                    </a:ext>
                  </a:extLst>
                </a:gridCol>
                <a:gridCol w="760762">
                  <a:extLst>
                    <a:ext uri="{9D8B030D-6E8A-4147-A177-3AD203B41FA5}">
                      <a16:colId xmlns:a16="http://schemas.microsoft.com/office/drawing/2014/main" val="20004"/>
                    </a:ext>
                  </a:extLst>
                </a:gridCol>
                <a:gridCol w="683395">
                  <a:extLst>
                    <a:ext uri="{9D8B030D-6E8A-4147-A177-3AD203B41FA5}">
                      <a16:colId xmlns:a16="http://schemas.microsoft.com/office/drawing/2014/main" val="20005"/>
                    </a:ext>
                  </a:extLst>
                </a:gridCol>
              </a:tblGrid>
              <a:tr h="246265">
                <a:tc row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Process step</a:t>
                      </a:r>
                      <a:endParaRPr kumimoji="0" lang="ko-KR" altLang="ko-KR" sz="1000" b="1" i="0" u="none" strike="noStrike" cap="none" normalizeH="0" baseline="0" dirty="0">
                        <a:ln>
                          <a:noFill/>
                        </a:ln>
                        <a:solidFill>
                          <a:schemeClr val="tx1"/>
                        </a:solidFill>
                        <a:effectLst/>
                        <a:latin typeface="Arial Narrow"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row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Input</a:t>
                      </a:r>
                      <a:endParaRPr kumimoji="0" lang="ko-KR" altLang="ko-KR" sz="1000" b="1" i="0" u="none" strike="noStrike" cap="none" normalizeH="0" baseline="0" dirty="0">
                        <a:ln>
                          <a:noFill/>
                        </a:ln>
                        <a:solidFill>
                          <a:schemeClr val="tx1"/>
                        </a:solidFill>
                        <a:effectLst/>
                        <a:latin typeface="Arial Narrow"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Responsible department</a:t>
                      </a:r>
                      <a:endParaRPr kumimoji="0" lang="ko-KR" altLang="ko-KR" sz="1000" b="1" i="0" u="none" strike="noStrike" cap="none" normalizeH="0" baseline="0" dirty="0">
                        <a:ln>
                          <a:noFill/>
                        </a:ln>
                        <a:solidFill>
                          <a:schemeClr val="tx1"/>
                        </a:solidFill>
                        <a:effectLst/>
                        <a:latin typeface="Arial Narrow"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Related organizations</a:t>
                      </a:r>
                      <a:endParaRPr kumimoji="0" lang="ko-KR" altLang="ko-KR" sz="1000" b="1" i="0" u="none" strike="noStrike" cap="none" normalizeH="0" baseline="0" dirty="0">
                        <a:ln>
                          <a:noFill/>
                        </a:ln>
                        <a:solidFill>
                          <a:schemeClr val="tx1"/>
                        </a:solidFill>
                        <a:effectLst/>
                        <a:latin typeface="Arial Narrow"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row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Output</a:t>
                      </a:r>
                      <a:endParaRPr kumimoji="0" lang="ko-KR" altLang="ko-KR" sz="1000" b="1" i="0" u="none" strike="noStrike" cap="none" normalizeH="0" baseline="0" dirty="0">
                        <a:ln>
                          <a:noFill/>
                        </a:ln>
                        <a:solidFill>
                          <a:schemeClr val="tx1"/>
                        </a:solidFill>
                        <a:effectLst/>
                        <a:latin typeface="Arial Narrow"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rowSpan="2">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Final</a:t>
                      </a:r>
                    </a:p>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approver</a:t>
                      </a: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r h="428908">
                <a:tc vMerge="1">
                  <a:txBody>
                    <a:bodyPr/>
                    <a:lstStyle/>
                    <a:p>
                      <a:endParaRPr lang="en-US"/>
                    </a:p>
                  </a:txBody>
                  <a:tcPr/>
                </a:tc>
                <a:tc vMerge="1">
                  <a:txBody>
                    <a:bodyPr/>
                    <a:lstStyle/>
                    <a:p>
                      <a:endParaRPr lang="en-US"/>
                    </a:p>
                  </a:txBody>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Quality department (planning, outgoing)</a:t>
                      </a:r>
                      <a:endParaRPr kumimoji="0" lang="ko-KR" altLang="ko-KR" sz="1000" b="1" i="0" u="none" strike="noStrike" cap="none" normalizeH="0" baseline="0" dirty="0">
                        <a:ln>
                          <a:noFill/>
                        </a:ln>
                        <a:solidFill>
                          <a:schemeClr val="tx1"/>
                        </a:solidFill>
                        <a:effectLst/>
                        <a:latin typeface="Arial Narrow"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Auditee </a:t>
                      </a:r>
                    </a:p>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itchFamily="34" charset="0"/>
                          <a:ea typeface="Dotum" pitchFamily="34" charset="-127"/>
                          <a:cs typeface="Arial" charset="0"/>
                        </a:rPr>
                        <a:t>department</a:t>
                      </a:r>
                      <a:endParaRPr kumimoji="0" lang="ko-KR" altLang="ko-KR" sz="1000" b="1" i="0" u="none" strike="noStrike" cap="none" normalizeH="0" baseline="0" dirty="0">
                        <a:ln>
                          <a:noFill/>
                        </a:ln>
                        <a:solidFill>
                          <a:schemeClr val="tx1"/>
                        </a:solidFill>
                        <a:effectLst/>
                        <a:latin typeface="Arial Narrow" pitchFamily="34" charset="0"/>
                        <a:ea typeface="Dotum" pitchFamily="34" charset="-127"/>
                        <a:cs typeface="Arial" charset="0"/>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solidFill>
                      <a:srgbClr val="F2F2F2"/>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1590240">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anchor="ctr" anchorCtr="1"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algn="l" eaLnBrk="1" latinLnBrk="1" hangingPunct="1"/>
                      <a:endParaRPr lang="en-US" altLang="ko-KR" sz="900" b="0" dirty="0">
                        <a:latin typeface="Arial Narrow" pitchFamily="34" charset="0"/>
                        <a:ea typeface="Dotum" pitchFamily="34" charset="-127"/>
                        <a:cs typeface="Arial" charset="0"/>
                      </a:endParaRPr>
                    </a:p>
                    <a:p>
                      <a:pPr algn="l" eaLnBrk="1" latinLnBrk="1" hangingPunct="1"/>
                      <a:r>
                        <a:rPr lang="en-US" altLang="ko-KR" sz="900" b="0" dirty="0">
                          <a:latin typeface="Arial Narrow" pitchFamily="34" charset="0"/>
                          <a:ea typeface="Dotum" pitchFamily="34" charset="-127"/>
                          <a:cs typeface="Arial" charset="0"/>
                        </a:rPr>
                        <a:t>1. Nonconformity reports</a:t>
                      </a:r>
                      <a:endParaRPr lang="ko-KR" altLang="en-US" sz="900" b="0" dirty="0">
                        <a:latin typeface="Arial Narrow" pitchFamily="34" charset="0"/>
                        <a:ea typeface="Dotum" pitchFamily="34" charset="-127"/>
                        <a:cs typeface="Arial" charset="0"/>
                      </a:endParaRPr>
                    </a:p>
                    <a:p>
                      <a:pPr algn="l" eaLnBrk="1" latinLnBrk="1" hangingPunct="1"/>
                      <a:r>
                        <a:rPr lang="en-US" altLang="ko-KR" sz="900" b="0" dirty="0">
                          <a:latin typeface="Arial Narrow" pitchFamily="34" charset="0"/>
                          <a:ea typeface="맑은 고딕" pitchFamily="34" charset="-127"/>
                          <a:cs typeface="Arial" charset="0"/>
                        </a:rPr>
                        <a:t>2. Corrective and Preventive Action Report</a:t>
                      </a:r>
                      <a:endParaRPr lang="ko-KR" altLang="en-US" sz="900" b="0" dirty="0">
                        <a:latin typeface="Arial Narrow" pitchFamily="34" charset="0"/>
                        <a:ea typeface="맑은 고딕" pitchFamily="34" charset="-127"/>
                        <a:cs typeface="Arial" charset="0"/>
                      </a:endParaRPr>
                    </a:p>
                    <a:p>
                      <a:pPr algn="l" eaLnBrk="1" latinLnBrk="1" hangingPunct="1"/>
                      <a:endParaRPr lang="ko-KR" altLang="en-US" sz="900" b="0" dirty="0">
                        <a:latin typeface="Arial Narrow" pitchFamily="34" charset="0"/>
                        <a:ea typeface="Dotum" pitchFamily="34" charset="-127"/>
                        <a:cs typeface="Arial" charset="0"/>
                      </a:endParaRPr>
                    </a:p>
                    <a:p>
                      <a:pPr algn="l" eaLnBrk="1" latinLnBrk="1" hangingPunct="1"/>
                      <a:endParaRPr lang="ko-KR" altLang="en-US" sz="900" b="0" dirty="0">
                        <a:latin typeface="Arial Narrow" pitchFamily="34" charset="0"/>
                        <a:ea typeface="맑은 고딕" pitchFamily="34" charset="-127"/>
                        <a:cs typeface="Arial" charset="0"/>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rgbClr val="0000FF"/>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rgbClr val="0000FF"/>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19936">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anchor="ctr" anchorCtr="1"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t>1. Audit</a:t>
                      </a:r>
                      <a:b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br>
                      <a: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t> Nonconformity report</a:t>
                      </a:r>
                    </a:p>
                    <a:p>
                      <a:pPr marL="0" marR="0" lvl="0" indent="0" algn="l" defTabSz="762000" rtl="0" eaLnBrk="1" fontAlgn="base" latinLnBrk="1" hangingPunct="1">
                        <a:lnSpc>
                          <a:spcPct val="100000"/>
                        </a:lnSpc>
                        <a:spcBef>
                          <a:spcPct val="20000"/>
                        </a:spcBef>
                        <a:spcAft>
                          <a:spcPct val="0"/>
                        </a:spcAft>
                        <a:buClrTx/>
                        <a:buSzTx/>
                        <a:buFontTx/>
                        <a:buNone/>
                        <a:tabLst/>
                      </a:pPr>
                      <a:b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br>
                      <a: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t>2. External audit</a:t>
                      </a:r>
                      <a:b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br>
                      <a: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t>Nonconformity report</a:t>
                      </a: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anchor="b"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cs typeface="Arial" pitchFamily="34" charset="0"/>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61630">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anchor="ctr" anchorCtr="1"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t>Audit </a:t>
                      </a:r>
                    </a:p>
                    <a:p>
                      <a:pPr marL="0" marR="0" lvl="0" indent="0" algn="ctr" defTabSz="762000" rtl="0" eaLnBrk="1" fontAlgn="base" latinLnBrk="1" hangingPunct="1">
                        <a:lnSpc>
                          <a:spcPct val="100000"/>
                        </a:lnSpc>
                        <a:spcBef>
                          <a:spcPct val="20000"/>
                        </a:spcBef>
                        <a:spcAft>
                          <a:spcPct val="0"/>
                        </a:spcAft>
                        <a:buClrTx/>
                        <a:buSzTx/>
                        <a:buFontTx/>
                        <a:buNone/>
                        <a:tabLst/>
                      </a:pPr>
                      <a: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t>records</a:t>
                      </a: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anchor="ctr"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84889">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anchor="ctr" anchorCtr="1"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p>
                      <a:pPr marL="0" marR="0" lvl="0" indent="0" algn="l" defTabSz="762000" rtl="0" eaLnBrk="1" fontAlgn="base" latinLnBrk="1" hangingPunct="1">
                        <a:lnSpc>
                          <a:spcPct val="100000"/>
                        </a:lnSpc>
                        <a:spcBef>
                          <a:spcPct val="20000"/>
                        </a:spcBef>
                        <a:spcAft>
                          <a:spcPct val="0"/>
                        </a:spcAft>
                        <a:buClrTx/>
                        <a:buSzTx/>
                        <a:buFontTx/>
                        <a:buNone/>
                        <a:tabLst/>
                      </a:pPr>
                      <a:r>
                        <a:rPr kumimoji="0" lang="en-US" altLang="ko-KR" sz="900" b="0" i="0" u="none" strike="noStrike" cap="none" normalizeH="0" baseline="0" dirty="0">
                          <a:ln>
                            <a:noFill/>
                          </a:ln>
                          <a:solidFill>
                            <a:schemeClr val="tx1"/>
                          </a:solidFill>
                          <a:effectLst/>
                          <a:latin typeface="Arial Narrow" pitchFamily="34" charset="0"/>
                          <a:ea typeface="맑은 고딕" pitchFamily="34" charset="-127"/>
                        </a:rPr>
                        <a:t>Internal auditor selection / training</a:t>
                      </a:r>
                    </a:p>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ctr"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p>
                      <a:pPr marL="0" marR="0" lvl="0" indent="0" algn="ctr"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p>
                      <a:pPr marL="0" marR="0" lvl="0" indent="0" algn="ctr"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p>
                      <a:pPr lvl="0" algn="ctr" eaLnBrk="1" latinLnBrk="1" hangingPunct="1">
                        <a:lnSpc>
                          <a:spcPct val="120000"/>
                        </a:lnSpc>
                      </a:pPr>
                      <a:r>
                        <a:rPr lang="en-US" altLang="ko-KR" sz="900" b="0" dirty="0">
                          <a:solidFill>
                            <a:srgbClr val="000000"/>
                          </a:solidFill>
                          <a:latin typeface="Arial Narrow" panose="020B0606020202030204" pitchFamily="34" charset="0"/>
                          <a:ea typeface="LG스마트체 Regular" panose="020B0600000101010101" pitchFamily="50" charset="-127"/>
                          <a:cs typeface="Arial" charset="0"/>
                        </a:rPr>
                        <a:t>Internal auditor qualification list</a:t>
                      </a:r>
                    </a:p>
                    <a:p>
                      <a:pPr lvl="0" algn="ctr" eaLnBrk="1" latinLnBrk="1" hangingPunct="1">
                        <a:lnSpc>
                          <a:spcPct val="120000"/>
                        </a:lnSpc>
                      </a:pPr>
                      <a:endParaRPr lang="en-US" altLang="ko-KR" sz="900" b="0" dirty="0">
                        <a:solidFill>
                          <a:srgbClr val="000000"/>
                        </a:solidFill>
                        <a:latin typeface="Arial Narrow" panose="020B0606020202030204" pitchFamily="34" charset="0"/>
                        <a:ea typeface="LG스마트체 Regular" panose="020B0600000101010101" pitchFamily="50" charset="-127"/>
                        <a:cs typeface="Arial" charset="0"/>
                      </a:endParaRPr>
                    </a:p>
                    <a:p>
                      <a:pPr lvl="0" algn="ctr" eaLnBrk="1" latinLnBrk="1" hangingPunct="1">
                        <a:lnSpc>
                          <a:spcPct val="120000"/>
                        </a:lnSpc>
                      </a:pPr>
                      <a:endParaRPr lang="en-US" altLang="ko-KR" sz="900" b="0" dirty="0">
                        <a:solidFill>
                          <a:srgbClr val="000000"/>
                        </a:solidFill>
                        <a:latin typeface="Arial Narrow" panose="020B0606020202030204" pitchFamily="34" charset="0"/>
                        <a:ea typeface="LG스마트체 Regular" panose="020B0600000101010101" pitchFamily="50" charset="-127"/>
                        <a:cs typeface="Arial" charset="0"/>
                      </a:endParaRPr>
                    </a:p>
                    <a:p>
                      <a:pPr lvl="0" algn="ctr" eaLnBrk="1" latinLnBrk="1" hangingPunct="1">
                        <a:lnSpc>
                          <a:spcPct val="120000"/>
                        </a:lnSpc>
                      </a:pPr>
                      <a:endParaRPr lang="en-US" altLang="ko-KR" sz="900" b="0" dirty="0">
                        <a:solidFill>
                          <a:srgbClr val="000000"/>
                        </a:solidFill>
                        <a:latin typeface="Arial Narrow" panose="020B0606020202030204" pitchFamily="34" charset="0"/>
                        <a:ea typeface="LG스마트체 Regular" panose="020B0600000101010101" pitchFamily="50" charset="-127"/>
                        <a:cs typeface="Arial" charset="0"/>
                      </a:endParaRPr>
                    </a:p>
                    <a:p>
                      <a:pPr lvl="0" algn="ctr" eaLnBrk="1" latinLnBrk="1" hangingPunct="1">
                        <a:lnSpc>
                          <a:spcPct val="120000"/>
                        </a:lnSpc>
                      </a:pPr>
                      <a:endParaRPr lang="en-US" altLang="ko-KR" sz="900" b="0" dirty="0">
                        <a:solidFill>
                          <a:srgbClr val="000000"/>
                        </a:solidFill>
                        <a:latin typeface="Arial Narrow" panose="020B0606020202030204" pitchFamily="34" charset="0"/>
                        <a:ea typeface="LG스마트체 Regular" panose="020B0600000101010101" pitchFamily="50" charset="-127"/>
                        <a:cs typeface="Arial" charset="0"/>
                      </a:endParaRPr>
                    </a:p>
                    <a:p>
                      <a:pPr lvl="0" algn="ctr" eaLnBrk="1" latinLnBrk="1" hangingPunct="1">
                        <a:lnSpc>
                          <a:spcPct val="120000"/>
                        </a:lnSpc>
                      </a:pPr>
                      <a:r>
                        <a:rPr lang="en-US" altLang="ko-KR" sz="900" b="0" dirty="0">
                          <a:solidFill>
                            <a:srgbClr val="000000"/>
                          </a:solidFill>
                          <a:latin typeface="Arial Narrow" panose="020B0606020202030204" pitchFamily="34" charset="0"/>
                          <a:ea typeface="LG스마트체 Regular" panose="020B0600000101010101" pitchFamily="50" charset="-127"/>
                          <a:cs typeface="Arial" charset="0"/>
                        </a:rPr>
                        <a:t>Internal auditor qualification list</a:t>
                      </a:r>
                    </a:p>
                    <a:p>
                      <a:pPr lvl="0" algn="ctr" eaLnBrk="1" latinLnBrk="1" hangingPunct="1">
                        <a:lnSpc>
                          <a:spcPct val="120000"/>
                        </a:lnSpc>
                      </a:pPr>
                      <a:endParaRPr lang="en-US" altLang="ko-KR" sz="900" b="0" dirty="0">
                        <a:solidFill>
                          <a:srgbClr val="000000"/>
                        </a:solidFill>
                        <a:latin typeface="Arial Narrow" panose="020B0606020202030204" pitchFamily="34" charset="0"/>
                        <a:ea typeface="LG스마트체 Regular" panose="020B0600000101010101" pitchFamily="50" charset="-127"/>
                        <a:cs typeface="Arial" charset="0"/>
                      </a:endParaRPr>
                    </a:p>
                    <a:p>
                      <a:pPr marL="0" marR="0" lvl="0" indent="0" algn="ctr"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tc>
                  <a:txBody>
                    <a:bodyPr/>
                    <a:lstStyle/>
                    <a:p>
                      <a:pPr marL="0" marR="0" lvl="0" indent="0" algn="l" defTabSz="762000" rtl="0" eaLnBrk="1" fontAlgn="base" latinLnBrk="1" hangingPunct="1">
                        <a:lnSpc>
                          <a:spcPct val="100000"/>
                        </a:lnSpc>
                        <a:spcBef>
                          <a:spcPct val="20000"/>
                        </a:spcBef>
                        <a:spcAft>
                          <a:spcPct val="0"/>
                        </a:spcAft>
                        <a:buClrTx/>
                        <a:buSzTx/>
                        <a:buFontTx/>
                        <a:buNone/>
                        <a:tabLst/>
                      </a:pPr>
                      <a:endParaRPr kumimoji="0" lang="en-US" altLang="ko-KR" sz="900" b="0" i="0" u="none" strike="noStrike" cap="none" normalizeH="0" baseline="0" dirty="0">
                        <a:ln>
                          <a:noFill/>
                        </a:ln>
                        <a:solidFill>
                          <a:schemeClr val="tx1"/>
                        </a:solidFill>
                        <a:effectLst/>
                        <a:latin typeface="Arial Narrow" pitchFamily="34" charset="0"/>
                        <a:ea typeface="맑은 고딕" pitchFamily="34" charset="-127"/>
                      </a:endParaRPr>
                    </a:p>
                  </a:txBody>
                  <a:tcPr marL="36001" marR="36001" marT="36003" marB="36003" horzOverflow="overflow">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 name="TextBox 128">
            <a:extLst>
              <a:ext uri="{FF2B5EF4-FFF2-40B4-BE49-F238E27FC236}">
                <a16:creationId xmlns:a16="http://schemas.microsoft.com/office/drawing/2014/main" id="{FE9CBB54-B232-DCB4-DF98-62160C25B2C6}"/>
              </a:ext>
            </a:extLst>
          </p:cNvPr>
          <p:cNvSpPr txBox="1">
            <a:spLocks noChangeArrowheads="1"/>
          </p:cNvSpPr>
          <p:nvPr/>
        </p:nvSpPr>
        <p:spPr bwMode="auto">
          <a:xfrm>
            <a:off x="195757" y="6490340"/>
            <a:ext cx="828675" cy="507831"/>
          </a:xfrm>
          <a:prstGeom prst="rect">
            <a:avLst/>
          </a:prstGeom>
          <a:noFill/>
          <a:ln w="9525">
            <a:noFill/>
            <a:miter lim="800000"/>
            <a:headEnd/>
            <a:tailEnd/>
          </a:ln>
        </p:spPr>
        <p:txBody>
          <a:bodyPr wrap="square" lIns="36000" rIns="36000">
            <a:spAutoFit/>
          </a:bodyPr>
          <a:lstStyle/>
          <a:p>
            <a:pPr algn="ctr" eaLnBrk="1" latinLnBrk="1" hangingPunct="1"/>
            <a:r>
              <a:rPr lang="en-US" altLang="ko-KR" sz="900" b="0" dirty="0">
                <a:latin typeface="Arial Narrow" pitchFamily="34" charset="0"/>
                <a:ea typeface="Dotum" pitchFamily="34" charset="-127"/>
                <a:cs typeface="Arial" charset="0"/>
              </a:rPr>
              <a:t>Internal Auditor qualification</a:t>
            </a:r>
          </a:p>
          <a:p>
            <a:pPr algn="ctr" eaLnBrk="1" latinLnBrk="1" hangingPunct="1"/>
            <a:r>
              <a:rPr lang="en-US" altLang="ko-KR" sz="900" b="0" dirty="0">
                <a:latin typeface="Arial Narrow" pitchFamily="34" charset="0"/>
                <a:ea typeface="Dotum" pitchFamily="34" charset="-127"/>
                <a:cs typeface="Arial" charset="0"/>
              </a:rPr>
              <a:t>Management</a:t>
            </a:r>
          </a:p>
        </p:txBody>
      </p:sp>
      <p:sp>
        <p:nvSpPr>
          <p:cNvPr id="4" name="TextBox 128">
            <a:extLst>
              <a:ext uri="{FF2B5EF4-FFF2-40B4-BE49-F238E27FC236}">
                <a16:creationId xmlns:a16="http://schemas.microsoft.com/office/drawing/2014/main" id="{7D443F81-B5C9-B982-C31A-311EC31FD383}"/>
              </a:ext>
            </a:extLst>
          </p:cNvPr>
          <p:cNvSpPr txBox="1">
            <a:spLocks noChangeArrowheads="1"/>
          </p:cNvSpPr>
          <p:nvPr/>
        </p:nvSpPr>
        <p:spPr bwMode="auto">
          <a:xfrm>
            <a:off x="195757" y="3598102"/>
            <a:ext cx="865187" cy="369332"/>
          </a:xfrm>
          <a:prstGeom prst="rect">
            <a:avLst/>
          </a:prstGeom>
          <a:noFill/>
          <a:ln w="9525">
            <a:noFill/>
            <a:miter lim="800000"/>
            <a:headEnd/>
            <a:tailEnd/>
          </a:ln>
        </p:spPr>
        <p:txBody>
          <a:bodyPr wrap="square" lIns="36000" rIns="36000">
            <a:spAutoFit/>
          </a:bodyPr>
          <a:lstStyle/>
          <a:p>
            <a:pPr algn="ctr" eaLnBrk="1" latinLnBrk="1" hangingPunct="1"/>
            <a:r>
              <a:rPr lang="en-US" altLang="ko-KR" sz="900" b="0" dirty="0">
                <a:solidFill>
                  <a:srgbClr val="000000"/>
                </a:solidFill>
                <a:latin typeface="Arial Narrow" pitchFamily="34" charset="0"/>
                <a:ea typeface="Dotum" pitchFamily="34" charset="-127"/>
                <a:cs typeface="Arial" charset="0"/>
              </a:rPr>
              <a:t>Corrective</a:t>
            </a:r>
            <a:endParaRPr lang="vi-VN" altLang="ko-KR" sz="900" b="0" dirty="0">
              <a:solidFill>
                <a:srgbClr val="000000"/>
              </a:solidFill>
              <a:latin typeface="Arial Narrow" pitchFamily="34" charset="0"/>
              <a:ea typeface="Dotum" pitchFamily="34" charset="-127"/>
              <a:cs typeface="Arial" charset="0"/>
            </a:endParaRPr>
          </a:p>
          <a:p>
            <a:pPr algn="ctr" eaLnBrk="1" latinLnBrk="1" hangingPunct="1"/>
            <a:r>
              <a:rPr lang="en-US" altLang="ko-KR" sz="900" b="0" dirty="0">
                <a:solidFill>
                  <a:srgbClr val="000000"/>
                </a:solidFill>
                <a:latin typeface="Arial Narrow" pitchFamily="34" charset="0"/>
                <a:ea typeface="Dotum" pitchFamily="34" charset="-127"/>
                <a:cs typeface="Arial" charset="0"/>
              </a:rPr>
              <a:t> action / validation</a:t>
            </a:r>
          </a:p>
        </p:txBody>
      </p:sp>
      <p:sp>
        <p:nvSpPr>
          <p:cNvPr id="5" name="TextBox 128">
            <a:extLst>
              <a:ext uri="{FF2B5EF4-FFF2-40B4-BE49-F238E27FC236}">
                <a16:creationId xmlns:a16="http://schemas.microsoft.com/office/drawing/2014/main" id="{977CA82A-ED1F-FA4E-F48A-9D80363E490C}"/>
              </a:ext>
            </a:extLst>
          </p:cNvPr>
          <p:cNvSpPr txBox="1">
            <a:spLocks noChangeArrowheads="1"/>
          </p:cNvSpPr>
          <p:nvPr/>
        </p:nvSpPr>
        <p:spPr bwMode="auto">
          <a:xfrm>
            <a:off x="195756" y="2012712"/>
            <a:ext cx="828675" cy="369332"/>
          </a:xfrm>
          <a:prstGeom prst="rect">
            <a:avLst/>
          </a:prstGeom>
          <a:noFill/>
          <a:ln w="9525">
            <a:noFill/>
            <a:miter lim="800000"/>
            <a:headEnd/>
            <a:tailEnd/>
          </a:ln>
        </p:spPr>
        <p:txBody>
          <a:bodyPr wrap="square" lIns="36000" rIns="36000">
            <a:spAutoFit/>
          </a:bodyPr>
          <a:lstStyle/>
          <a:p>
            <a:pPr algn="ctr" eaLnBrk="1" latinLnBrk="1" hangingPunct="1"/>
            <a:r>
              <a:rPr lang="en-US" altLang="ko-KR" sz="900" dirty="0">
                <a:solidFill>
                  <a:srgbClr val="000000"/>
                </a:solidFill>
                <a:latin typeface="Arial Narrow" pitchFamily="34" charset="0"/>
                <a:ea typeface="Dotum" pitchFamily="34" charset="-127"/>
                <a:cs typeface="Arial" charset="0"/>
              </a:rPr>
              <a:t>A</a:t>
            </a:r>
            <a:r>
              <a:rPr lang="en-US" altLang="ko-KR" sz="900" b="0" dirty="0">
                <a:solidFill>
                  <a:srgbClr val="000000"/>
                </a:solidFill>
                <a:latin typeface="Arial Narrow" pitchFamily="34" charset="0"/>
                <a:ea typeface="Dotum" pitchFamily="34" charset="-127"/>
                <a:cs typeface="Arial" charset="0"/>
              </a:rPr>
              <a:t>udit </a:t>
            </a:r>
            <a:r>
              <a:rPr lang="en-US" altLang="ko-KR" sz="900" b="0">
                <a:solidFill>
                  <a:srgbClr val="000000"/>
                </a:solidFill>
                <a:latin typeface="Arial Narrow" pitchFamily="34" charset="0"/>
                <a:ea typeface="Dotum" pitchFamily="34" charset="-127"/>
                <a:cs typeface="Arial" charset="0"/>
              </a:rPr>
              <a:t>result </a:t>
            </a:r>
          </a:p>
          <a:p>
            <a:pPr algn="ctr" eaLnBrk="1" latinLnBrk="1" hangingPunct="1"/>
            <a:r>
              <a:rPr lang="en-US" altLang="ko-KR" sz="900" b="0">
                <a:solidFill>
                  <a:srgbClr val="000000"/>
                </a:solidFill>
                <a:latin typeface="Arial Narrow" pitchFamily="34" charset="0"/>
                <a:ea typeface="Dotum" pitchFamily="34" charset="-127"/>
                <a:cs typeface="Arial" charset="0"/>
              </a:rPr>
              <a:t>report</a:t>
            </a:r>
            <a:endParaRPr lang="en-US" altLang="ko-KR" sz="900" b="0" dirty="0">
              <a:solidFill>
                <a:srgbClr val="000000"/>
              </a:solidFill>
              <a:latin typeface="Arial Narrow" pitchFamily="34" charset="0"/>
              <a:ea typeface="Dotum" pitchFamily="34" charset="-127"/>
              <a:cs typeface="Arial" charset="0"/>
            </a:endParaRPr>
          </a:p>
        </p:txBody>
      </p:sp>
      <p:sp>
        <p:nvSpPr>
          <p:cNvPr id="6" name="TextBox 128">
            <a:extLst>
              <a:ext uri="{FF2B5EF4-FFF2-40B4-BE49-F238E27FC236}">
                <a16:creationId xmlns:a16="http://schemas.microsoft.com/office/drawing/2014/main" id="{5BC6851F-26A8-6F5D-FBFD-13D5C065506C}"/>
              </a:ext>
            </a:extLst>
          </p:cNvPr>
          <p:cNvSpPr txBox="1">
            <a:spLocks noChangeArrowheads="1"/>
          </p:cNvSpPr>
          <p:nvPr/>
        </p:nvSpPr>
        <p:spPr bwMode="auto">
          <a:xfrm>
            <a:off x="195757" y="5420514"/>
            <a:ext cx="828674" cy="369332"/>
          </a:xfrm>
          <a:prstGeom prst="rect">
            <a:avLst/>
          </a:prstGeom>
          <a:noFill/>
          <a:ln w="9525">
            <a:noFill/>
            <a:miter lim="800000"/>
            <a:headEnd/>
            <a:tailEnd/>
          </a:ln>
        </p:spPr>
        <p:txBody>
          <a:bodyPr wrap="square" lIns="36000" rIns="36000">
            <a:spAutoFit/>
          </a:bodyPr>
          <a:lstStyle/>
          <a:p>
            <a:pPr algn="ctr" eaLnBrk="1" latinLnBrk="1" hangingPunct="1"/>
            <a:r>
              <a:rPr lang="en-US" altLang="ko-KR" sz="900" b="0" dirty="0">
                <a:solidFill>
                  <a:srgbClr val="000000"/>
                </a:solidFill>
                <a:latin typeface="Arial Narrow" pitchFamily="34" charset="0"/>
                <a:ea typeface="Dotum" pitchFamily="34" charset="-127"/>
                <a:cs typeface="Arial" charset="0"/>
              </a:rPr>
              <a:t>Maintain audit records</a:t>
            </a:r>
          </a:p>
        </p:txBody>
      </p:sp>
      <p:sp>
        <p:nvSpPr>
          <p:cNvPr id="7" name="AutoShape 86">
            <a:extLst>
              <a:ext uri="{FF2B5EF4-FFF2-40B4-BE49-F238E27FC236}">
                <a16:creationId xmlns:a16="http://schemas.microsoft.com/office/drawing/2014/main" id="{A797F027-D788-8951-973D-75B0A23653B5}"/>
              </a:ext>
            </a:extLst>
          </p:cNvPr>
          <p:cNvSpPr>
            <a:spLocks noChangeArrowheads="1"/>
          </p:cNvSpPr>
          <p:nvPr/>
        </p:nvSpPr>
        <p:spPr bwMode="auto">
          <a:xfrm>
            <a:off x="4221088" y="2144688"/>
            <a:ext cx="360363" cy="361094"/>
          </a:xfrm>
          <a:prstGeom prst="flowChartConnector">
            <a:avLst/>
          </a:prstGeom>
          <a:solidFill>
            <a:srgbClr val="FFFFFF"/>
          </a:solidFill>
          <a:ln w="9525">
            <a:solidFill>
              <a:srgbClr val="000000"/>
            </a:solidFill>
            <a:round/>
            <a:headEnd/>
            <a:tailEnd/>
          </a:ln>
        </p:spPr>
        <p:txBody>
          <a:bodyPr lIns="27432" tIns="27432" rIns="27432" bIns="27432" anchor="ctr"/>
          <a:lstStyle/>
          <a:p>
            <a:pPr algn="ctr" eaLnBrk="1" latinLnBrk="1" hangingPunct="1"/>
            <a:r>
              <a:rPr lang="en-US" altLang="ko-KR" sz="1400" b="1" dirty="0">
                <a:solidFill>
                  <a:srgbClr val="000000"/>
                </a:solidFill>
                <a:latin typeface="Arial Narrow" pitchFamily="34" charset="0"/>
                <a:ea typeface="Dotum" pitchFamily="34" charset="-127"/>
                <a:cs typeface="Arial" charset="0"/>
              </a:rPr>
              <a:t>A</a:t>
            </a:r>
          </a:p>
        </p:txBody>
      </p:sp>
      <p:sp>
        <p:nvSpPr>
          <p:cNvPr id="8" name="Rectangle 496">
            <a:extLst>
              <a:ext uri="{FF2B5EF4-FFF2-40B4-BE49-F238E27FC236}">
                <a16:creationId xmlns:a16="http://schemas.microsoft.com/office/drawing/2014/main" id="{CD7574D8-BD12-062B-88B4-7F06810D703D}"/>
              </a:ext>
            </a:extLst>
          </p:cNvPr>
          <p:cNvSpPr>
            <a:spLocks noChangeArrowheads="1"/>
          </p:cNvSpPr>
          <p:nvPr/>
        </p:nvSpPr>
        <p:spPr bwMode="auto">
          <a:xfrm>
            <a:off x="2020317" y="4461686"/>
            <a:ext cx="1095375" cy="409239"/>
          </a:xfrm>
          <a:prstGeom prst="rect">
            <a:avLst/>
          </a:prstGeom>
          <a:solidFill>
            <a:srgbClr val="FFFFFF"/>
          </a:solidFill>
          <a:ln w="9525">
            <a:solidFill>
              <a:srgbClr val="000000"/>
            </a:solidFill>
            <a:miter lim="800000"/>
            <a:headEnd/>
            <a:tailEnd/>
          </a:ln>
        </p:spPr>
        <p:txBody>
          <a:bodyPr lIns="27432" tIns="18288" rIns="27432" bIns="18288" anchor="ctr"/>
          <a:lstStyle/>
          <a:p>
            <a:pPr algn="ctr" rtl="1" eaLnBrk="1" latinLnBrk="1" hangingPunct="1"/>
            <a:r>
              <a:rPr lang="en-US" altLang="ko-KR" sz="900" b="0" dirty="0">
                <a:solidFill>
                  <a:srgbClr val="000000"/>
                </a:solidFill>
                <a:latin typeface="Arial Narrow" pitchFamily="34" charset="0"/>
                <a:ea typeface="Dotum" pitchFamily="34" charset="-127"/>
                <a:cs typeface="Arial" charset="0"/>
              </a:rPr>
              <a:t>Verify </a:t>
            </a:r>
            <a:r>
              <a:rPr lang="en-US" altLang="ko-KR" sz="900" dirty="0">
                <a:solidFill>
                  <a:srgbClr val="000000"/>
                </a:solidFill>
                <a:latin typeface="Arial Narrow" pitchFamily="34" charset="0"/>
                <a:ea typeface="Dotum" pitchFamily="34" charset="-127"/>
                <a:cs typeface="Arial" charset="0"/>
              </a:rPr>
              <a:t>c</a:t>
            </a:r>
            <a:r>
              <a:rPr lang="en-US" altLang="ko-KR" sz="900" b="0" dirty="0">
                <a:solidFill>
                  <a:srgbClr val="000000"/>
                </a:solidFill>
                <a:latin typeface="Arial Narrow" pitchFamily="34" charset="0"/>
                <a:ea typeface="Dotum" pitchFamily="34" charset="-127"/>
                <a:cs typeface="Arial" charset="0"/>
              </a:rPr>
              <a:t>orrective action</a:t>
            </a:r>
            <a:endParaRPr lang="ko-KR" altLang="en-US" sz="900" b="0" dirty="0">
              <a:solidFill>
                <a:srgbClr val="000000"/>
              </a:solidFill>
              <a:latin typeface="Arial Narrow" pitchFamily="34" charset="0"/>
              <a:ea typeface="Dotum" pitchFamily="34" charset="-127"/>
              <a:cs typeface="Arial" charset="0"/>
            </a:endParaRPr>
          </a:p>
        </p:txBody>
      </p:sp>
      <p:sp>
        <p:nvSpPr>
          <p:cNvPr id="9" name="Rectangle 496">
            <a:extLst>
              <a:ext uri="{FF2B5EF4-FFF2-40B4-BE49-F238E27FC236}">
                <a16:creationId xmlns:a16="http://schemas.microsoft.com/office/drawing/2014/main" id="{4E55AB8F-DA45-1DC5-834B-7282C5D45BEB}"/>
              </a:ext>
            </a:extLst>
          </p:cNvPr>
          <p:cNvSpPr>
            <a:spLocks noChangeArrowheads="1"/>
          </p:cNvSpPr>
          <p:nvPr/>
        </p:nvSpPr>
        <p:spPr bwMode="auto">
          <a:xfrm>
            <a:off x="2020317" y="3012837"/>
            <a:ext cx="1095375" cy="410958"/>
          </a:xfrm>
          <a:prstGeom prst="rect">
            <a:avLst/>
          </a:prstGeom>
          <a:solidFill>
            <a:srgbClr val="FFFFFF"/>
          </a:solidFill>
          <a:ln w="9525">
            <a:solidFill>
              <a:srgbClr val="000000"/>
            </a:solidFill>
            <a:miter lim="800000"/>
            <a:headEnd/>
            <a:tailEnd/>
          </a:ln>
        </p:spPr>
        <p:txBody>
          <a:bodyPr lIns="27432" tIns="18288" rIns="27432" bIns="18288" anchor="ctr"/>
          <a:lstStyle/>
          <a:p>
            <a:pPr algn="ctr" eaLnBrk="1" latinLnBrk="1" hangingPunct="1"/>
            <a:r>
              <a:rPr lang="en-US" altLang="ko-KR" sz="900" b="0" dirty="0">
                <a:solidFill>
                  <a:srgbClr val="000000"/>
                </a:solidFill>
                <a:latin typeface="Arial Narrow" pitchFamily="34" charset="0"/>
                <a:ea typeface="Dotum" pitchFamily="34" charset="-127"/>
                <a:cs typeface="Arial" charset="0"/>
              </a:rPr>
              <a:t>Final audit </a:t>
            </a:r>
          </a:p>
          <a:p>
            <a:pPr algn="ctr" eaLnBrk="1" latinLnBrk="1" hangingPunct="1"/>
            <a:r>
              <a:rPr lang="en-US" altLang="ko-KR" sz="900" b="0" dirty="0">
                <a:solidFill>
                  <a:srgbClr val="000000"/>
                </a:solidFill>
                <a:latin typeface="Arial Narrow" pitchFamily="34" charset="0"/>
                <a:ea typeface="Dotum" pitchFamily="34" charset="-127"/>
                <a:cs typeface="Arial" charset="0"/>
              </a:rPr>
              <a:t>result report</a:t>
            </a:r>
          </a:p>
        </p:txBody>
      </p:sp>
      <p:sp>
        <p:nvSpPr>
          <p:cNvPr id="10" name="Rectangle 496">
            <a:extLst>
              <a:ext uri="{FF2B5EF4-FFF2-40B4-BE49-F238E27FC236}">
                <a16:creationId xmlns:a16="http://schemas.microsoft.com/office/drawing/2014/main" id="{69F50100-5AE1-96E0-3106-7A93E9ED7064}"/>
              </a:ext>
            </a:extLst>
          </p:cNvPr>
          <p:cNvSpPr>
            <a:spLocks noChangeArrowheads="1"/>
          </p:cNvSpPr>
          <p:nvPr/>
        </p:nvSpPr>
        <p:spPr bwMode="auto">
          <a:xfrm>
            <a:off x="2020317" y="6837887"/>
            <a:ext cx="1095375" cy="546799"/>
          </a:xfrm>
          <a:prstGeom prst="rect">
            <a:avLst/>
          </a:prstGeom>
          <a:solidFill>
            <a:srgbClr val="FFFFFF"/>
          </a:solidFill>
          <a:ln w="9525">
            <a:solidFill>
              <a:srgbClr val="000000"/>
            </a:solidFill>
            <a:miter lim="800000"/>
            <a:headEnd/>
            <a:tailEnd/>
          </a:ln>
        </p:spPr>
        <p:txBody>
          <a:bodyPr lIns="27432" tIns="18288" rIns="27432" bIns="18288" anchor="ctr"/>
          <a:lstStyle/>
          <a:p>
            <a:pPr rtl="1" latinLnBrk="1"/>
            <a:r>
              <a:rPr lang="en-US" altLang="ko-KR" sz="900" dirty="0">
                <a:latin typeface="Arial Narrow" panose="020B0606020202030204" pitchFamily="34" charset="0"/>
                <a:ea typeface="LG스마트체 Regular" panose="020B0600000101010101" pitchFamily="50" charset="-127"/>
                <a:cs typeface="Arial" charset="0"/>
              </a:rPr>
              <a:t>Management of internal auditor qualification</a:t>
            </a:r>
            <a:endParaRPr lang="en-US" altLang="ko-KR" sz="900" dirty="0">
              <a:latin typeface="Arial Narrow" pitchFamily="34" charset="0"/>
              <a:ea typeface="Dotum" pitchFamily="34" charset="-127"/>
              <a:cs typeface="Arial" charset="0"/>
            </a:endParaRPr>
          </a:p>
        </p:txBody>
      </p:sp>
      <p:cxnSp>
        <p:nvCxnSpPr>
          <p:cNvPr id="11" name="AutoShape 43">
            <a:extLst>
              <a:ext uri="{FF2B5EF4-FFF2-40B4-BE49-F238E27FC236}">
                <a16:creationId xmlns:a16="http://schemas.microsoft.com/office/drawing/2014/main" id="{F407FC6A-1410-C161-81D1-D3DCD7820885}"/>
              </a:ext>
            </a:extLst>
          </p:cNvPr>
          <p:cNvCxnSpPr>
            <a:cxnSpLocks noChangeShapeType="1"/>
            <a:stCxn id="9" idx="2"/>
            <a:endCxn id="8" idx="0"/>
          </p:cNvCxnSpPr>
          <p:nvPr/>
        </p:nvCxnSpPr>
        <p:spPr bwMode="auto">
          <a:xfrm>
            <a:off x="2568005" y="3423795"/>
            <a:ext cx="0" cy="1037891"/>
          </a:xfrm>
          <a:prstGeom prst="straightConnector1">
            <a:avLst/>
          </a:prstGeom>
          <a:noFill/>
          <a:ln w="9525">
            <a:solidFill>
              <a:srgbClr val="000000"/>
            </a:solidFill>
            <a:round/>
            <a:headEnd/>
            <a:tailEnd type="triangle" w="sm" len="med"/>
          </a:ln>
        </p:spPr>
      </p:cxnSp>
      <p:sp>
        <p:nvSpPr>
          <p:cNvPr id="12" name="Rectangle 496">
            <a:extLst>
              <a:ext uri="{FF2B5EF4-FFF2-40B4-BE49-F238E27FC236}">
                <a16:creationId xmlns:a16="http://schemas.microsoft.com/office/drawing/2014/main" id="{69B9F644-B8CB-56D2-5A18-A927B8369395}"/>
              </a:ext>
            </a:extLst>
          </p:cNvPr>
          <p:cNvSpPr>
            <a:spLocks noChangeArrowheads="1"/>
          </p:cNvSpPr>
          <p:nvPr/>
        </p:nvSpPr>
        <p:spPr bwMode="auto">
          <a:xfrm>
            <a:off x="2020317" y="5585199"/>
            <a:ext cx="1095375" cy="409239"/>
          </a:xfrm>
          <a:prstGeom prst="rect">
            <a:avLst/>
          </a:prstGeom>
          <a:solidFill>
            <a:srgbClr val="FFFFFF"/>
          </a:solidFill>
          <a:ln w="9525">
            <a:solidFill>
              <a:srgbClr val="000000"/>
            </a:solidFill>
            <a:miter lim="800000"/>
            <a:headEnd/>
            <a:tailEnd/>
          </a:ln>
        </p:spPr>
        <p:txBody>
          <a:bodyPr lIns="27432" tIns="18288" rIns="27432" bIns="18288" anchor="ctr"/>
          <a:lstStyle/>
          <a:p>
            <a:pPr algn="ctr" rtl="1" eaLnBrk="1" latinLnBrk="1" hangingPunct="1"/>
            <a:r>
              <a:rPr lang="en-US" altLang="ko-KR" sz="900" b="0" dirty="0">
                <a:solidFill>
                  <a:srgbClr val="000000"/>
                </a:solidFill>
                <a:latin typeface="Arial Narrow" pitchFamily="34" charset="0"/>
                <a:ea typeface="Dotum" pitchFamily="34" charset="-127"/>
                <a:cs typeface="Arial" charset="0"/>
              </a:rPr>
              <a:t>Maintain audit records</a:t>
            </a:r>
            <a:endParaRPr lang="ko-KR" altLang="en-US" sz="900" b="0" dirty="0">
              <a:solidFill>
                <a:srgbClr val="000000"/>
              </a:solidFill>
              <a:latin typeface="Arial Narrow" pitchFamily="34" charset="0"/>
              <a:ea typeface="Dotum" pitchFamily="34" charset="-127"/>
              <a:cs typeface="Arial" charset="0"/>
            </a:endParaRPr>
          </a:p>
        </p:txBody>
      </p:sp>
      <p:cxnSp>
        <p:nvCxnSpPr>
          <p:cNvPr id="13" name="AutoShape 43">
            <a:extLst>
              <a:ext uri="{FF2B5EF4-FFF2-40B4-BE49-F238E27FC236}">
                <a16:creationId xmlns:a16="http://schemas.microsoft.com/office/drawing/2014/main" id="{36324596-9876-5BCE-47D1-FB69873349CF}"/>
              </a:ext>
            </a:extLst>
          </p:cNvPr>
          <p:cNvCxnSpPr>
            <a:cxnSpLocks noChangeShapeType="1"/>
            <a:stCxn id="8" idx="2"/>
            <a:endCxn id="12" idx="0"/>
          </p:cNvCxnSpPr>
          <p:nvPr/>
        </p:nvCxnSpPr>
        <p:spPr bwMode="auto">
          <a:xfrm>
            <a:off x="2568005" y="4870925"/>
            <a:ext cx="0" cy="714274"/>
          </a:xfrm>
          <a:prstGeom prst="straightConnector1">
            <a:avLst/>
          </a:prstGeom>
          <a:noFill/>
          <a:ln w="9525">
            <a:solidFill>
              <a:srgbClr val="000000"/>
            </a:solidFill>
            <a:round/>
            <a:headEnd/>
            <a:tailEnd type="triangle" w="sm" len="med"/>
          </a:ln>
        </p:spPr>
      </p:cxnSp>
      <p:sp>
        <p:nvSpPr>
          <p:cNvPr id="14" name="직사각형 236">
            <a:extLst>
              <a:ext uri="{FF2B5EF4-FFF2-40B4-BE49-F238E27FC236}">
                <a16:creationId xmlns:a16="http://schemas.microsoft.com/office/drawing/2014/main" id="{CF0B4FFA-1498-EE51-68A9-769FD5ADA54F}"/>
              </a:ext>
            </a:extLst>
          </p:cNvPr>
          <p:cNvSpPr/>
          <p:nvPr/>
        </p:nvSpPr>
        <p:spPr>
          <a:xfrm>
            <a:off x="1965241" y="4330370"/>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6</a:t>
            </a:r>
            <a:endParaRPr lang="ko-KR" altLang="en-US" sz="1000" dirty="0">
              <a:latin typeface="Arial Narrow" panose="020B0606020202030204" pitchFamily="34" charset="0"/>
            </a:endParaRPr>
          </a:p>
        </p:txBody>
      </p:sp>
      <p:sp>
        <p:nvSpPr>
          <p:cNvPr id="15" name="직사각형 236">
            <a:extLst>
              <a:ext uri="{FF2B5EF4-FFF2-40B4-BE49-F238E27FC236}">
                <a16:creationId xmlns:a16="http://schemas.microsoft.com/office/drawing/2014/main" id="{25450667-1450-E7DC-EDE1-694F5F6F2EF3}"/>
              </a:ext>
            </a:extLst>
          </p:cNvPr>
          <p:cNvSpPr/>
          <p:nvPr/>
        </p:nvSpPr>
        <p:spPr>
          <a:xfrm>
            <a:off x="1930317" y="6765942"/>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8</a:t>
            </a:r>
            <a:endParaRPr lang="ko-KR" altLang="en-US" sz="1000" dirty="0">
              <a:latin typeface="Arial Narrow" panose="020B0606020202030204" pitchFamily="34" charset="0"/>
            </a:endParaRPr>
          </a:p>
        </p:txBody>
      </p:sp>
      <p:sp>
        <p:nvSpPr>
          <p:cNvPr id="16" name="직사각형 236">
            <a:extLst>
              <a:ext uri="{FF2B5EF4-FFF2-40B4-BE49-F238E27FC236}">
                <a16:creationId xmlns:a16="http://schemas.microsoft.com/office/drawing/2014/main" id="{9E311457-DDA6-5091-2B3F-4CF5D09FBDE6}"/>
              </a:ext>
            </a:extLst>
          </p:cNvPr>
          <p:cNvSpPr/>
          <p:nvPr/>
        </p:nvSpPr>
        <p:spPr>
          <a:xfrm>
            <a:off x="1930317" y="2969450"/>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5</a:t>
            </a:r>
            <a:endParaRPr lang="ko-KR" altLang="en-US" sz="1000" dirty="0">
              <a:latin typeface="Arial Narrow" panose="020B0606020202030204" pitchFamily="34" charset="0"/>
            </a:endParaRPr>
          </a:p>
        </p:txBody>
      </p:sp>
      <p:sp>
        <p:nvSpPr>
          <p:cNvPr id="17" name="직사각형 236">
            <a:extLst>
              <a:ext uri="{FF2B5EF4-FFF2-40B4-BE49-F238E27FC236}">
                <a16:creationId xmlns:a16="http://schemas.microsoft.com/office/drawing/2014/main" id="{325A4B5A-D78F-5F8B-385C-04370CFE4386}"/>
              </a:ext>
            </a:extLst>
          </p:cNvPr>
          <p:cNvSpPr/>
          <p:nvPr/>
        </p:nvSpPr>
        <p:spPr>
          <a:xfrm>
            <a:off x="1947326" y="5495199"/>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7</a:t>
            </a:r>
            <a:endParaRPr lang="ko-KR" altLang="en-US" sz="1000" dirty="0">
              <a:latin typeface="Arial Narrow" panose="020B0606020202030204" pitchFamily="34" charset="0"/>
            </a:endParaRPr>
          </a:p>
        </p:txBody>
      </p:sp>
      <p:cxnSp>
        <p:nvCxnSpPr>
          <p:cNvPr id="18" name="AutoShape 43">
            <a:extLst>
              <a:ext uri="{FF2B5EF4-FFF2-40B4-BE49-F238E27FC236}">
                <a16:creationId xmlns:a16="http://schemas.microsoft.com/office/drawing/2014/main" id="{AD463DA7-DE5B-8E6A-598A-0654427B0726}"/>
              </a:ext>
            </a:extLst>
          </p:cNvPr>
          <p:cNvCxnSpPr>
            <a:cxnSpLocks noChangeShapeType="1"/>
          </p:cNvCxnSpPr>
          <p:nvPr/>
        </p:nvCxnSpPr>
        <p:spPr bwMode="auto">
          <a:xfrm>
            <a:off x="2563241" y="7396135"/>
            <a:ext cx="0" cy="365760"/>
          </a:xfrm>
          <a:prstGeom prst="straightConnector1">
            <a:avLst/>
          </a:prstGeom>
          <a:noFill/>
          <a:ln w="9525">
            <a:solidFill>
              <a:srgbClr val="000000"/>
            </a:solidFill>
            <a:round/>
            <a:headEnd/>
            <a:tailEnd type="triangle" w="sm" len="med"/>
          </a:ln>
        </p:spPr>
      </p:cxnSp>
      <p:sp>
        <p:nvSpPr>
          <p:cNvPr id="19" name="Rectangle 496">
            <a:extLst>
              <a:ext uri="{FF2B5EF4-FFF2-40B4-BE49-F238E27FC236}">
                <a16:creationId xmlns:a16="http://schemas.microsoft.com/office/drawing/2014/main" id="{2CA46808-CBEB-E753-71C0-850BD276CB68}"/>
              </a:ext>
            </a:extLst>
          </p:cNvPr>
          <p:cNvSpPr>
            <a:spLocks noChangeArrowheads="1"/>
          </p:cNvSpPr>
          <p:nvPr/>
        </p:nvSpPr>
        <p:spPr bwMode="auto">
          <a:xfrm>
            <a:off x="2006832" y="7761895"/>
            <a:ext cx="1095375" cy="546799"/>
          </a:xfrm>
          <a:prstGeom prst="rect">
            <a:avLst/>
          </a:prstGeom>
          <a:solidFill>
            <a:srgbClr val="FFFFFF"/>
          </a:solidFill>
          <a:ln w="9525">
            <a:solidFill>
              <a:srgbClr val="000000"/>
            </a:solidFill>
            <a:miter lim="800000"/>
            <a:headEnd/>
            <a:tailEnd/>
          </a:ln>
        </p:spPr>
        <p:txBody>
          <a:bodyPr lIns="27432" tIns="18288" rIns="27432" bIns="18288" anchor="ctr"/>
          <a:lstStyle/>
          <a:p>
            <a:pPr rtl="1" latinLnBrk="1"/>
            <a:r>
              <a:rPr lang="en-US" altLang="ko-KR" sz="900" dirty="0">
                <a:latin typeface="Arial Narrow" pitchFamily="34" charset="0"/>
                <a:ea typeface="맑은 고딕" pitchFamily="34" charset="-127"/>
                <a:cs typeface="Arial" pitchFamily="34" charset="0"/>
              </a:rPr>
              <a:t>Internal auditor qualification maintenance</a:t>
            </a:r>
          </a:p>
        </p:txBody>
      </p:sp>
      <p:sp>
        <p:nvSpPr>
          <p:cNvPr id="20" name="직사각형 236">
            <a:extLst>
              <a:ext uri="{FF2B5EF4-FFF2-40B4-BE49-F238E27FC236}">
                <a16:creationId xmlns:a16="http://schemas.microsoft.com/office/drawing/2014/main" id="{5C8A701D-8281-38E4-E233-3F32159730F6}"/>
              </a:ext>
            </a:extLst>
          </p:cNvPr>
          <p:cNvSpPr/>
          <p:nvPr/>
        </p:nvSpPr>
        <p:spPr>
          <a:xfrm>
            <a:off x="1916832" y="7689950"/>
            <a:ext cx="180000" cy="180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00" dirty="0">
                <a:latin typeface="Arial Narrow" panose="020B0606020202030204" pitchFamily="34" charset="0"/>
              </a:rPr>
              <a:t>9</a:t>
            </a:r>
            <a:endParaRPr lang="ko-KR" altLang="en-US" sz="1000" dirty="0">
              <a:latin typeface="Arial Narrow" panose="020B0606020202030204" pitchFamily="34" charset="0"/>
            </a:endParaRPr>
          </a:p>
        </p:txBody>
      </p:sp>
      <p:cxnSp>
        <p:nvCxnSpPr>
          <p:cNvPr id="21" name="Elbow Connector 13">
            <a:extLst>
              <a:ext uri="{FF2B5EF4-FFF2-40B4-BE49-F238E27FC236}">
                <a16:creationId xmlns:a16="http://schemas.microsoft.com/office/drawing/2014/main" id="{7599CEF7-D770-4A5F-4C5B-0412F7DA3942}"/>
              </a:ext>
            </a:extLst>
          </p:cNvPr>
          <p:cNvCxnSpPr>
            <a:stCxn id="7" idx="4"/>
            <a:endCxn id="9" idx="0"/>
          </p:cNvCxnSpPr>
          <p:nvPr/>
        </p:nvCxnSpPr>
        <p:spPr>
          <a:xfrm rot="5400000">
            <a:off x="3231111" y="1842677"/>
            <a:ext cx="507055" cy="1833265"/>
          </a:xfrm>
          <a:prstGeom prst="bentConnector3">
            <a:avLst/>
          </a:prstGeom>
          <a:noFill/>
          <a:ln w="9525">
            <a:solidFill>
              <a:srgbClr val="000000"/>
            </a:solidFill>
            <a:round/>
            <a:headEnd/>
            <a:tailEnd type="triangle" w="sm" len="med"/>
          </a:ln>
        </p:spPr>
      </p:cxnSp>
      <p:sp>
        <p:nvSpPr>
          <p:cNvPr id="22" name="순서도: 문서 133">
            <a:extLst>
              <a:ext uri="{FF2B5EF4-FFF2-40B4-BE49-F238E27FC236}">
                <a16:creationId xmlns:a16="http://schemas.microsoft.com/office/drawing/2014/main" id="{FB895AC3-C7A1-ABCD-D242-82CC461DAD2C}"/>
              </a:ext>
            </a:extLst>
          </p:cNvPr>
          <p:cNvSpPr>
            <a:spLocks noChangeArrowheads="1"/>
          </p:cNvSpPr>
          <p:nvPr/>
        </p:nvSpPr>
        <p:spPr bwMode="auto">
          <a:xfrm>
            <a:off x="5301208" y="2768384"/>
            <a:ext cx="647700" cy="507251"/>
          </a:xfrm>
          <a:prstGeom prst="flowChartDocument">
            <a:avLst/>
          </a:prstGeom>
          <a:noFill/>
          <a:ln w="9525" algn="ctr">
            <a:solidFill>
              <a:schemeClr val="tx1"/>
            </a:solidFill>
            <a:round/>
            <a:headEnd type="none" w="sm" len="sm"/>
            <a:tailEnd type="none" w="sm" len="sm"/>
          </a:ln>
        </p:spPr>
        <p:txBody>
          <a:bodyPr rIns="36000"/>
          <a:lstStyle/>
          <a:p>
            <a:pPr algn="ctr" eaLnBrk="1" latinLnBrk="1" hangingPunct="1"/>
            <a:r>
              <a:rPr lang="en-US" altLang="ko-KR" sz="900" b="0" dirty="0">
                <a:solidFill>
                  <a:srgbClr val="000000"/>
                </a:solidFill>
                <a:latin typeface="Arial Narrow" pitchFamily="34" charset="0"/>
                <a:ea typeface="Dotum" pitchFamily="34" charset="-127"/>
                <a:cs typeface="Arial" charset="0"/>
              </a:rPr>
              <a:t>Audit </a:t>
            </a:r>
          </a:p>
          <a:p>
            <a:pPr algn="ctr" eaLnBrk="1" latinLnBrk="1" hangingPunct="1"/>
            <a:r>
              <a:rPr lang="en-US" altLang="ko-KR" sz="900" b="0" dirty="0">
                <a:solidFill>
                  <a:srgbClr val="000000"/>
                </a:solidFill>
                <a:latin typeface="Arial Narrow" pitchFamily="34" charset="0"/>
                <a:ea typeface="Dotum" pitchFamily="34" charset="-127"/>
                <a:cs typeface="Arial" charset="0"/>
              </a:rPr>
              <a:t>report</a:t>
            </a:r>
            <a:endParaRPr lang="ko-KR" altLang="en-US" sz="900" b="0" dirty="0">
              <a:solidFill>
                <a:srgbClr val="000000"/>
              </a:solidFill>
              <a:latin typeface="Arial Narrow" pitchFamily="34" charset="0"/>
              <a:ea typeface="Dotum" pitchFamily="34" charset="-127"/>
              <a:cs typeface="Arial" charset="0"/>
            </a:endParaRPr>
          </a:p>
        </p:txBody>
      </p:sp>
      <p:cxnSp>
        <p:nvCxnSpPr>
          <p:cNvPr id="23" name="AutoShape 43">
            <a:extLst>
              <a:ext uri="{FF2B5EF4-FFF2-40B4-BE49-F238E27FC236}">
                <a16:creationId xmlns:a16="http://schemas.microsoft.com/office/drawing/2014/main" id="{E2DBE767-B4B0-1F43-D173-DC277CDEA33B}"/>
              </a:ext>
            </a:extLst>
          </p:cNvPr>
          <p:cNvCxnSpPr>
            <a:cxnSpLocks noChangeShapeType="1"/>
          </p:cNvCxnSpPr>
          <p:nvPr/>
        </p:nvCxnSpPr>
        <p:spPr bwMode="auto">
          <a:xfrm>
            <a:off x="5626647" y="3232647"/>
            <a:ext cx="0" cy="456702"/>
          </a:xfrm>
          <a:prstGeom prst="straightConnector1">
            <a:avLst/>
          </a:prstGeom>
          <a:noFill/>
          <a:ln w="9525">
            <a:solidFill>
              <a:srgbClr val="000000"/>
            </a:solidFill>
            <a:round/>
            <a:headEnd/>
            <a:tailEnd type="triangle" w="sm" len="med"/>
          </a:ln>
        </p:spPr>
      </p:cxnSp>
      <p:sp>
        <p:nvSpPr>
          <p:cNvPr id="24" name="AutoShape 86">
            <a:extLst>
              <a:ext uri="{FF2B5EF4-FFF2-40B4-BE49-F238E27FC236}">
                <a16:creationId xmlns:a16="http://schemas.microsoft.com/office/drawing/2014/main" id="{0DAB021F-B737-A9C8-669C-23A4A6F5FB4C}"/>
              </a:ext>
            </a:extLst>
          </p:cNvPr>
          <p:cNvSpPr>
            <a:spLocks noChangeArrowheads="1"/>
          </p:cNvSpPr>
          <p:nvPr/>
        </p:nvSpPr>
        <p:spPr bwMode="auto">
          <a:xfrm>
            <a:off x="5334547" y="3761357"/>
            <a:ext cx="581025" cy="615579"/>
          </a:xfrm>
          <a:prstGeom prst="flowChartConnector">
            <a:avLst/>
          </a:prstGeom>
          <a:solidFill>
            <a:srgbClr val="FFFFFF"/>
          </a:solidFill>
          <a:ln w="9525">
            <a:solidFill>
              <a:srgbClr val="000000"/>
            </a:solidFill>
            <a:round/>
            <a:headEnd/>
            <a:tailEnd/>
          </a:ln>
        </p:spPr>
        <p:txBody>
          <a:bodyPr lIns="27432" tIns="27432" rIns="27432" bIns="27432" anchor="ctr"/>
          <a:lstStyle/>
          <a:p>
            <a:pPr algn="ctr" eaLnBrk="1" latinLnBrk="1" hangingPunct="1"/>
            <a:r>
              <a:rPr lang="en-US" altLang="ko-KR" sz="900" b="0" dirty="0">
                <a:solidFill>
                  <a:srgbClr val="000000"/>
                </a:solidFill>
                <a:latin typeface="Arial Narrow" pitchFamily="34" charset="0"/>
                <a:ea typeface="Dotum" pitchFamily="34" charset="-127"/>
                <a:cs typeface="Arial" charset="0"/>
              </a:rPr>
              <a:t>Management review</a:t>
            </a:r>
          </a:p>
        </p:txBody>
      </p:sp>
      <p:sp>
        <p:nvSpPr>
          <p:cNvPr id="25" name="TextBox 136">
            <a:extLst>
              <a:ext uri="{FF2B5EF4-FFF2-40B4-BE49-F238E27FC236}">
                <a16:creationId xmlns:a16="http://schemas.microsoft.com/office/drawing/2014/main" id="{ECAB90F0-0EDC-C3DA-3723-105D4210CB7E}"/>
              </a:ext>
            </a:extLst>
          </p:cNvPr>
          <p:cNvSpPr txBox="1">
            <a:spLocks noChangeArrowheads="1"/>
          </p:cNvSpPr>
          <p:nvPr/>
        </p:nvSpPr>
        <p:spPr bwMode="auto">
          <a:xfrm>
            <a:off x="6021388" y="2720752"/>
            <a:ext cx="719980" cy="369332"/>
          </a:xfrm>
          <a:prstGeom prst="rect">
            <a:avLst/>
          </a:prstGeom>
          <a:noFill/>
          <a:ln w="9525">
            <a:noFill/>
            <a:miter lim="800000"/>
            <a:headEnd/>
            <a:tailEnd/>
          </a:ln>
        </p:spPr>
        <p:txBody>
          <a:bodyPr wrap="square" lIns="0" rIns="0">
            <a:spAutoFit/>
          </a:bodyPr>
          <a:lstStyle/>
          <a:p>
            <a:pPr algn="ctr" latinLnBrk="1"/>
            <a:r>
              <a:rPr lang="en-US" altLang="ko-KR" sz="900">
                <a:solidFill>
                  <a:srgbClr val="000000"/>
                </a:solidFill>
                <a:latin typeface="Arial Narrow" pitchFamily="34" charset="0"/>
                <a:ea typeface="Dotum" pitchFamily="34" charset="-127"/>
                <a:cs typeface="Arial" charset="0"/>
              </a:rPr>
              <a:t>Plant </a:t>
            </a:r>
            <a:endParaRPr lang="en-US" altLang="ko-KR" sz="900" dirty="0">
              <a:solidFill>
                <a:srgbClr val="000000"/>
              </a:solidFill>
              <a:latin typeface="Arial Narrow" pitchFamily="34" charset="0"/>
              <a:ea typeface="Dotum" pitchFamily="34" charset="-127"/>
              <a:cs typeface="Arial" charset="0"/>
            </a:endParaRPr>
          </a:p>
          <a:p>
            <a:pPr algn="ctr" latinLnBrk="1"/>
            <a:r>
              <a:rPr lang="en-US" altLang="ko-KR" sz="900" dirty="0">
                <a:solidFill>
                  <a:srgbClr val="000000"/>
                </a:solidFill>
                <a:latin typeface="Arial Narrow" pitchFamily="34" charset="0"/>
                <a:ea typeface="Dotum" pitchFamily="34" charset="-127"/>
                <a:cs typeface="Arial" charset="0"/>
              </a:rPr>
              <a:t>Director</a:t>
            </a:r>
            <a:endParaRPr lang="ko-KR" altLang="en-US" sz="900" dirty="0">
              <a:solidFill>
                <a:srgbClr val="000000"/>
              </a:solidFill>
              <a:latin typeface="Arial Narrow" pitchFamily="34" charset="0"/>
              <a:ea typeface="Dotum" pitchFamily="34" charset="-127"/>
              <a:cs typeface="Arial" charset="0"/>
            </a:endParaRPr>
          </a:p>
        </p:txBody>
      </p:sp>
      <p:sp>
        <p:nvSpPr>
          <p:cNvPr id="26" name="TextBox 136">
            <a:extLst>
              <a:ext uri="{FF2B5EF4-FFF2-40B4-BE49-F238E27FC236}">
                <a16:creationId xmlns:a16="http://schemas.microsoft.com/office/drawing/2014/main" id="{EC57B8C7-1867-3104-706E-407B2445E247}"/>
              </a:ext>
            </a:extLst>
          </p:cNvPr>
          <p:cNvSpPr txBox="1">
            <a:spLocks noChangeArrowheads="1"/>
          </p:cNvSpPr>
          <p:nvPr/>
        </p:nvSpPr>
        <p:spPr bwMode="auto">
          <a:xfrm>
            <a:off x="6108701" y="6893441"/>
            <a:ext cx="576263" cy="507831"/>
          </a:xfrm>
          <a:prstGeom prst="rect">
            <a:avLst/>
          </a:prstGeom>
          <a:noFill/>
          <a:ln w="9525">
            <a:noFill/>
            <a:miter lim="800000"/>
            <a:headEnd/>
            <a:tailEnd/>
          </a:ln>
        </p:spPr>
        <p:txBody>
          <a:bodyPr lIns="0" rIns="0">
            <a:spAutoFit/>
          </a:bodyPr>
          <a:lstStyle/>
          <a:p>
            <a:pPr latinLnBrk="1"/>
            <a:r>
              <a:rPr lang="en-US" altLang="ko-KR" sz="900" dirty="0">
                <a:solidFill>
                  <a:srgbClr val="000000"/>
                </a:solidFill>
                <a:latin typeface="Arial Narrow" pitchFamily="34" charset="0"/>
                <a:ea typeface="Dotum" pitchFamily="34" charset="-127"/>
                <a:cs typeface="Arial" charset="0"/>
              </a:rPr>
              <a:t>Quality department leader</a:t>
            </a:r>
            <a:endParaRPr lang="ko-KR" altLang="en-US" sz="900" dirty="0">
              <a:solidFill>
                <a:srgbClr val="000000"/>
              </a:solidFill>
              <a:latin typeface="Arial Narrow" pitchFamily="34" charset="0"/>
              <a:ea typeface="Dotum" pitchFamily="34" charset="-127"/>
              <a:cs typeface="Arial" charset="0"/>
            </a:endParaRPr>
          </a:p>
        </p:txBody>
      </p:sp>
      <p:cxnSp>
        <p:nvCxnSpPr>
          <p:cNvPr id="27" name="AutoShape 43">
            <a:extLst>
              <a:ext uri="{FF2B5EF4-FFF2-40B4-BE49-F238E27FC236}">
                <a16:creationId xmlns:a16="http://schemas.microsoft.com/office/drawing/2014/main" id="{DD88D40B-5FF2-66D8-EBE8-E0440CDCAB32}"/>
              </a:ext>
            </a:extLst>
          </p:cNvPr>
          <p:cNvCxnSpPr>
            <a:cxnSpLocks noChangeShapeType="1"/>
          </p:cNvCxnSpPr>
          <p:nvPr/>
        </p:nvCxnSpPr>
        <p:spPr bwMode="auto">
          <a:xfrm>
            <a:off x="2565846" y="5994438"/>
            <a:ext cx="0" cy="843449"/>
          </a:xfrm>
          <a:prstGeom prst="straightConnector1">
            <a:avLst/>
          </a:prstGeom>
          <a:noFill/>
          <a:ln w="9525">
            <a:solidFill>
              <a:srgbClr val="000000"/>
            </a:solidFill>
            <a:round/>
            <a:headEnd/>
            <a:tailEnd type="triangle" w="sm" len="med"/>
          </a:ln>
        </p:spPr>
      </p:cxnSp>
      <p:sp>
        <p:nvSpPr>
          <p:cNvPr id="29" name="TextBox 136">
            <a:extLst>
              <a:ext uri="{FF2B5EF4-FFF2-40B4-BE49-F238E27FC236}">
                <a16:creationId xmlns:a16="http://schemas.microsoft.com/office/drawing/2014/main" id="{9440CE4E-2085-9DAA-C0A0-0BC65EFCBEE0}"/>
              </a:ext>
            </a:extLst>
          </p:cNvPr>
          <p:cNvSpPr txBox="1">
            <a:spLocks noChangeArrowheads="1"/>
          </p:cNvSpPr>
          <p:nvPr/>
        </p:nvSpPr>
        <p:spPr bwMode="auto">
          <a:xfrm>
            <a:off x="6036842" y="3884480"/>
            <a:ext cx="719980" cy="369332"/>
          </a:xfrm>
          <a:prstGeom prst="rect">
            <a:avLst/>
          </a:prstGeom>
          <a:noFill/>
          <a:ln w="9525">
            <a:noFill/>
            <a:miter lim="800000"/>
            <a:headEnd/>
            <a:tailEnd/>
          </a:ln>
        </p:spPr>
        <p:txBody>
          <a:bodyPr wrap="square" lIns="0" rIns="0">
            <a:spAutoFit/>
          </a:bodyPr>
          <a:lstStyle/>
          <a:p>
            <a:pPr algn="ctr" latinLnBrk="1"/>
            <a:r>
              <a:rPr lang="en-US" altLang="ko-KR" sz="900">
                <a:solidFill>
                  <a:srgbClr val="000000"/>
                </a:solidFill>
                <a:latin typeface="Arial Narrow" pitchFamily="34" charset="0"/>
                <a:ea typeface="Dotum" pitchFamily="34" charset="-127"/>
                <a:cs typeface="Arial" charset="0"/>
              </a:rPr>
              <a:t>Plant </a:t>
            </a:r>
            <a:endParaRPr lang="en-US" altLang="ko-KR" sz="900" dirty="0">
              <a:solidFill>
                <a:srgbClr val="000000"/>
              </a:solidFill>
              <a:latin typeface="Arial Narrow" pitchFamily="34" charset="0"/>
              <a:ea typeface="Dotum" pitchFamily="34" charset="-127"/>
              <a:cs typeface="Arial" charset="0"/>
            </a:endParaRPr>
          </a:p>
          <a:p>
            <a:pPr algn="ctr" latinLnBrk="1"/>
            <a:r>
              <a:rPr lang="en-US" altLang="ko-KR" sz="900" dirty="0">
                <a:solidFill>
                  <a:srgbClr val="000000"/>
                </a:solidFill>
                <a:latin typeface="Arial Narrow" pitchFamily="34" charset="0"/>
                <a:ea typeface="Dotum" pitchFamily="34" charset="-127"/>
                <a:cs typeface="Arial" charset="0"/>
              </a:rPr>
              <a:t>Director</a:t>
            </a:r>
            <a:endParaRPr lang="ko-KR" altLang="en-US" sz="900" dirty="0">
              <a:solidFill>
                <a:srgbClr val="000000"/>
              </a:solidFill>
              <a:latin typeface="Arial Narrow" pitchFamily="34" charset="0"/>
              <a:ea typeface="Dotum" pitchFamily="34" charset="-127"/>
              <a:cs typeface="Arial" charset="0"/>
            </a:endParaRPr>
          </a:p>
        </p:txBody>
      </p:sp>
    </p:spTree>
    <p:extLst>
      <p:ext uri="{BB962C8B-B14F-4D97-AF65-F5344CB8AC3E}">
        <p14:creationId xmlns:p14="http://schemas.microsoft.com/office/powerpoint/2010/main" val="502948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1AE11-59B8-2BC5-2328-954BB517A9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B1AA13-551A-6E6B-9C47-3F3AE677FE90}"/>
              </a:ext>
            </a:extLst>
          </p:cNvPr>
          <p:cNvSpPr txBox="1"/>
          <p:nvPr/>
        </p:nvSpPr>
        <p:spPr>
          <a:xfrm>
            <a:off x="188640" y="1153592"/>
            <a:ext cx="6480720" cy="8843447"/>
          </a:xfrm>
          <a:prstGeom prst="rect">
            <a:avLst/>
          </a:prstGeom>
          <a:noFill/>
        </p:spPr>
        <p:txBody>
          <a:bodyPr wrap="square" rtlCol="0">
            <a:spAutoFit/>
          </a:bodyPr>
          <a:lstStyle/>
          <a:p>
            <a:pPr algn="ctr"/>
            <a:r>
              <a:rPr lang="en-US" sz="1400" b="1" dirty="0">
                <a:latin typeface="Arial Narrow" panose="020B0606020202030204" pitchFamily="34" charset="0"/>
              </a:rPr>
              <a:t>INTRODUCTION</a:t>
            </a:r>
            <a:endParaRPr lang="en-US" sz="1200" dirty="0">
              <a:latin typeface="Arial Narrow" panose="020B0606020202030204" pitchFamily="34" charset="0"/>
            </a:endParaRPr>
          </a:p>
          <a:p>
            <a:pPr algn="just">
              <a:lnSpc>
                <a:spcPct val="150000"/>
              </a:lnSpc>
            </a:pPr>
            <a:r>
              <a:rPr lang="en-US" sz="1200" b="1" dirty="0">
                <a:latin typeface="Arial Narrow" panose="020B0606020202030204" pitchFamily="34" charset="0"/>
              </a:rPr>
              <a:t>Article 1. Scope</a:t>
            </a:r>
          </a:p>
          <a:p>
            <a:pPr algn="just">
              <a:lnSpc>
                <a:spcPct val="150000"/>
              </a:lnSpc>
            </a:pPr>
            <a:r>
              <a:rPr lang="en-US" sz="1200" dirty="0">
                <a:latin typeface="Arial Narrow" panose="020B0606020202030204" pitchFamily="34" charset="0"/>
              </a:rPr>
              <a:t>This standard applies to all applicable departments, manufacturing processes, support processes and quality-related activities within the HSE Mexico Business Unit. The audit program includes System Audit, Process Audit, Product Audit, ESD Audit, Layered Process Audit (LPA), Control Plan &amp; PFMEA Audit, and Special Audit, as applicable.</a:t>
            </a:r>
          </a:p>
          <a:p>
            <a:pPr algn="just">
              <a:lnSpc>
                <a:spcPct val="150000"/>
              </a:lnSpc>
            </a:pPr>
            <a:endParaRPr lang="en-US" altLang="ko-KR" sz="1200" dirty="0">
              <a:latin typeface="Arial Narrow" pitchFamily="34" charset="0"/>
              <a:ea typeface="굴림" pitchFamily="34" charset="-127"/>
            </a:endParaRPr>
          </a:p>
          <a:p>
            <a:pPr algn="just">
              <a:lnSpc>
                <a:spcPct val="150000"/>
              </a:lnSpc>
            </a:pPr>
            <a:r>
              <a:rPr lang="en-US" altLang="ko-KR" sz="1200" b="1" dirty="0">
                <a:latin typeface="Arial Narrow" pitchFamily="34" charset="0"/>
                <a:ea typeface="굴림" pitchFamily="34" charset="-127"/>
              </a:rPr>
              <a:t>Article 2 Purpose</a:t>
            </a:r>
          </a:p>
          <a:p>
            <a:pPr algn="just">
              <a:lnSpc>
                <a:spcPct val="150000"/>
              </a:lnSpc>
            </a:pPr>
            <a:r>
              <a:rPr lang="en-US" altLang="ko-KR" sz="1200" dirty="0">
                <a:latin typeface="Arial Narrow" pitchFamily="34" charset="0"/>
                <a:ea typeface="굴림" pitchFamily="34" charset="-127"/>
              </a:rPr>
              <a:t>Through the systematic and independent auditing of system audits, we confirm the effectiveness and efficiency of the </a:t>
            </a:r>
            <a:r>
              <a:rPr lang="en-US" altLang="ko-KR" sz="1200" dirty="0" err="1">
                <a:latin typeface="Arial Narrow" pitchFamily="34" charset="0"/>
                <a:ea typeface="굴림" pitchFamily="34" charset="-127"/>
              </a:rPr>
              <a:t>Haengsung</a:t>
            </a:r>
            <a:r>
              <a:rPr lang="en-US" altLang="ko-KR" sz="1200" dirty="0">
                <a:latin typeface="Arial Narrow" pitchFamily="34" charset="0"/>
                <a:ea typeface="굴림" pitchFamily="34" charset="-127"/>
              </a:rPr>
              <a:t> Electronics company system including the quality policy and the quality assurance system, and aim to continuously improve and improve the system.</a:t>
            </a:r>
          </a:p>
          <a:p>
            <a:pPr algn="just">
              <a:lnSpc>
                <a:spcPct val="150000"/>
              </a:lnSpc>
            </a:pPr>
            <a:endParaRPr lang="en-US" altLang="ko-KR" sz="1200" dirty="0">
              <a:latin typeface="Arial Narrow" pitchFamily="34" charset="0"/>
              <a:ea typeface="굴림" pitchFamily="34" charset="-127"/>
            </a:endParaRPr>
          </a:p>
          <a:p>
            <a:pPr algn="just">
              <a:lnSpc>
                <a:spcPct val="150000"/>
              </a:lnSpc>
            </a:pPr>
            <a:r>
              <a:rPr lang="en-US" altLang="ko-KR" sz="1200" b="1" dirty="0">
                <a:latin typeface="Arial Narrow" panose="020B0606020202030204" pitchFamily="34" charset="0"/>
              </a:rPr>
              <a:t>Article 3 Definition of Terms</a:t>
            </a:r>
            <a:endParaRPr lang="en-US" altLang="ko-KR" sz="1200" dirty="0">
              <a:latin typeface="Arial Narrow" panose="020B0606020202030204" pitchFamily="34" charset="0"/>
            </a:endParaRPr>
          </a:p>
          <a:p>
            <a:pPr marL="171450" indent="-171450" algn="just">
              <a:lnSpc>
                <a:spcPct val="150000"/>
              </a:lnSpc>
              <a:buFontTx/>
              <a:buChar char="-"/>
            </a:pPr>
            <a:r>
              <a:rPr lang="en-US" altLang="ko-KR" sz="1200" b="1" dirty="0">
                <a:latin typeface="Arial Narrow" panose="020B0606020202030204" pitchFamily="34" charset="0"/>
              </a:rPr>
              <a:t>Quality Policy</a:t>
            </a:r>
            <a:r>
              <a:rPr lang="es-MX" altLang="ko-KR" sz="1200" b="1" dirty="0">
                <a:latin typeface="Arial Narrow" panose="020B0606020202030204" pitchFamily="34" charset="0"/>
              </a:rPr>
              <a:t>: </a:t>
            </a:r>
            <a:r>
              <a:rPr lang="en-US" altLang="ko-KR" sz="1200" dirty="0">
                <a:latin typeface="Arial Narrow" panose="020B0606020202030204" pitchFamily="34" charset="0"/>
              </a:rPr>
              <a:t>The overall intent and direction of the quality-related organization officially expressed by HSE President.</a:t>
            </a:r>
          </a:p>
          <a:p>
            <a:pPr marL="171450" indent="-171450" algn="just">
              <a:lnSpc>
                <a:spcPct val="150000"/>
              </a:lnSpc>
              <a:buFontTx/>
              <a:buChar char="-"/>
            </a:pPr>
            <a:r>
              <a:rPr lang="en-US" altLang="ko-KR" sz="1200" b="1" dirty="0">
                <a:latin typeface="Arial Narrow" panose="020B0606020202030204" pitchFamily="34" charset="0"/>
              </a:rPr>
              <a:t>Quality Objective: </a:t>
            </a:r>
            <a:r>
              <a:rPr lang="en-US" altLang="ko-KR" sz="1200" dirty="0">
                <a:latin typeface="Arial Narrow" panose="020B0606020202030204" pitchFamily="34" charset="0"/>
              </a:rPr>
              <a:t>To pursue or to aim for quality. Quality goals should be quantifiable.</a:t>
            </a:r>
          </a:p>
          <a:p>
            <a:pPr marL="171450" indent="-171450" algn="just">
              <a:lnSpc>
                <a:spcPct val="150000"/>
              </a:lnSpc>
              <a:buFontTx/>
              <a:buChar char="-"/>
            </a:pPr>
            <a:r>
              <a:rPr lang="en-US" altLang="ko-KR" sz="1200" b="1" dirty="0">
                <a:latin typeface="Arial Narrow" panose="020B0606020202030204" pitchFamily="34" charset="0"/>
              </a:rPr>
              <a:t>Quality Management System: </a:t>
            </a:r>
            <a:r>
              <a:rPr lang="en-US" altLang="ko-KR" sz="1200" dirty="0">
                <a:latin typeface="Arial Narrow" panose="020B0606020202030204" pitchFamily="34" charset="0"/>
              </a:rPr>
              <a:t>Quality Management System that directs and manages the organization. It is a system for establishing quality policy and quality goals and achieving the goals.</a:t>
            </a:r>
          </a:p>
          <a:p>
            <a:pPr marL="171450" indent="-171450" algn="just">
              <a:lnSpc>
                <a:spcPct val="150000"/>
              </a:lnSpc>
              <a:buFontTx/>
              <a:buChar char="-"/>
            </a:pPr>
            <a:r>
              <a:rPr lang="en-US" altLang="ko-KR" sz="1200" b="1" dirty="0">
                <a:latin typeface="Arial Narrow" panose="020B0606020202030204" pitchFamily="34" charset="0"/>
              </a:rPr>
              <a:t>Quality Planning Part: </a:t>
            </a:r>
            <a:r>
              <a:rPr lang="en-US" altLang="ko-KR" sz="1200" dirty="0">
                <a:latin typeface="Arial Narrow" panose="020B0606020202030204" pitchFamily="34" charset="0"/>
              </a:rPr>
              <a:t>Part of quality management that focuses on providing assurance that the quality requirements will be met.</a:t>
            </a:r>
          </a:p>
          <a:p>
            <a:pPr marL="171450" indent="-171450" algn="just">
              <a:lnSpc>
                <a:spcPct val="150000"/>
              </a:lnSpc>
              <a:buFontTx/>
              <a:buChar char="-"/>
            </a:pPr>
            <a:r>
              <a:rPr lang="en-US" altLang="ko-KR" sz="1200" b="1" dirty="0">
                <a:solidFill>
                  <a:srgbClr val="0070C0"/>
                </a:solidFill>
                <a:latin typeface="Arial Narrow" panose="020B0606020202030204" pitchFamily="34" charset="0"/>
              </a:rPr>
              <a:t>System</a:t>
            </a:r>
            <a:r>
              <a:rPr lang="en-US" altLang="ko-KR" sz="1200" b="1" dirty="0">
                <a:latin typeface="Arial Narrow" panose="020B0606020202030204" pitchFamily="34" charset="0"/>
              </a:rPr>
              <a:t> Audit: </a:t>
            </a:r>
            <a:r>
              <a:rPr lang="en-US" altLang="ko-KR" sz="1200" dirty="0">
                <a:latin typeface="Arial Narrow" panose="020B0606020202030204" pitchFamily="34" charset="0"/>
              </a:rPr>
              <a:t>Systematic verification activities carried out on its own to determine whether the quality management system and quality assurance activities are appropriate to the intended plan, are effectively implemented, and are appropriate in achieving the organization's policies and goals.</a:t>
            </a:r>
          </a:p>
          <a:p>
            <a:pPr marL="171450" indent="-171450" algn="just">
              <a:lnSpc>
                <a:spcPct val="150000"/>
              </a:lnSpc>
              <a:buFontTx/>
              <a:buChar char="-"/>
            </a:pPr>
            <a:r>
              <a:rPr lang="en-US" altLang="ko-KR" sz="1200" dirty="0">
                <a:latin typeface="Arial Narrow" pitchFamily="34" charset="0"/>
                <a:ea typeface="Dotum" pitchFamily="34" charset="-127"/>
                <a:cs typeface="Arial" charset="0"/>
              </a:rPr>
              <a:t>Non-conformity: </a:t>
            </a:r>
            <a:r>
              <a:rPr lang="en-US" altLang="ko-KR" sz="1200" dirty="0">
                <a:latin typeface="Arial Narrow" pitchFamily="34" charset="0"/>
                <a:cs typeface="Arial" charset="0"/>
              </a:rPr>
              <a:t>Failure to meet the prescribed requirements</a:t>
            </a:r>
            <a:r>
              <a:rPr lang="en-US" altLang="ko-KR" sz="1200" dirty="0">
                <a:latin typeface="Arial Narrow" pitchFamily="34" charset="0"/>
                <a:ea typeface="Dotum" pitchFamily="34" charset="-127"/>
              </a:rPr>
              <a:t> </a:t>
            </a:r>
          </a:p>
          <a:p>
            <a:pPr algn="l" defTabSz="762000" eaLnBrk="1" latinLnBrk="1" hangingPunct="1">
              <a:spcBef>
                <a:spcPts val="400"/>
              </a:spcBef>
            </a:pPr>
            <a:r>
              <a:rPr lang="en-US" altLang="ko-KR" sz="1200" dirty="0">
                <a:latin typeface="Arial Narrow" pitchFamily="34" charset="0"/>
                <a:ea typeface="Dotum" pitchFamily="34" charset="-127"/>
              </a:rPr>
              <a:t>      1) Major Non-conformity : </a:t>
            </a:r>
            <a:r>
              <a:rPr lang="en-US" altLang="ko-KR" sz="1200" dirty="0">
                <a:solidFill>
                  <a:schemeClr val="bg1"/>
                </a:solidFill>
                <a:highlight>
                  <a:srgbClr val="FF0000"/>
                </a:highlight>
                <a:latin typeface="Arial Narrow" pitchFamily="34" charset="0"/>
                <a:ea typeface="Dotum" pitchFamily="34" charset="-127"/>
              </a:rPr>
              <a:t>C grade</a:t>
            </a:r>
            <a:endParaRPr lang="ko-KR" altLang="en-US" sz="1200" dirty="0">
              <a:solidFill>
                <a:schemeClr val="bg1"/>
              </a:solidFill>
              <a:highlight>
                <a:srgbClr val="FF0000"/>
              </a:highlight>
              <a:latin typeface="Arial Narrow" pitchFamily="34" charset="0"/>
              <a:ea typeface="Dotum" pitchFamily="34" charset="-127"/>
            </a:endParaRPr>
          </a:p>
          <a:p>
            <a:pPr algn="l" defTabSz="762000" eaLnBrk="1" latinLnBrk="1" hangingPunct="1">
              <a:spcBef>
                <a:spcPts val="400"/>
              </a:spcBef>
            </a:pPr>
            <a:r>
              <a:rPr lang="ko-KR" altLang="en-US" sz="1200" dirty="0">
                <a:latin typeface="Arial Narrow" pitchFamily="34" charset="0"/>
                <a:ea typeface="Dotum" pitchFamily="34" charset="-127"/>
              </a:rPr>
              <a:t>           </a:t>
            </a:r>
            <a:r>
              <a:rPr lang="en-US" altLang="ko-KR" sz="1200" dirty="0">
                <a:latin typeface="Arial Narrow" pitchFamily="34" charset="0"/>
              </a:rPr>
              <a:t>There is no in-house procedure to meet customer needs and expectations of </a:t>
            </a:r>
            <a:r>
              <a:rPr lang="en-US" altLang="ko-KR" sz="1200" dirty="0">
                <a:solidFill>
                  <a:srgbClr val="0070C0"/>
                </a:solidFill>
                <a:latin typeface="Arial Narrow" pitchFamily="34" charset="0"/>
              </a:rPr>
              <a:t>CSR</a:t>
            </a:r>
          </a:p>
          <a:p>
            <a:pPr algn="l" defTabSz="762000" eaLnBrk="1" latinLnBrk="1" hangingPunct="1">
              <a:spcBef>
                <a:spcPts val="400"/>
              </a:spcBef>
            </a:pPr>
            <a:r>
              <a:rPr lang="en-US" altLang="ko-KR" sz="1200" dirty="0">
                <a:latin typeface="Arial Narrow" pitchFamily="34" charset="0"/>
              </a:rPr>
              <a:t>           requirements, or do not follow one in some requirements of procedure systematically.</a:t>
            </a:r>
            <a:endParaRPr lang="en-US" altLang="ko-KR" sz="1200" dirty="0">
              <a:latin typeface="Arial Narrow" pitchFamily="34" charset="0"/>
              <a:ea typeface="Dotum" pitchFamily="34" charset="-127"/>
            </a:endParaRPr>
          </a:p>
          <a:p>
            <a:pPr algn="l" defTabSz="762000" eaLnBrk="1" latinLnBrk="1" hangingPunct="1">
              <a:spcBef>
                <a:spcPts val="400"/>
              </a:spcBef>
            </a:pPr>
            <a:r>
              <a:rPr lang="en-US" altLang="ko-KR" sz="1200" dirty="0">
                <a:latin typeface="Arial Narrow" pitchFamily="34" charset="0"/>
                <a:ea typeface="Dotum" pitchFamily="34" charset="-127"/>
              </a:rPr>
              <a:t>      2) Minor Non-conformity : </a:t>
            </a:r>
            <a:r>
              <a:rPr lang="en-US" altLang="ko-KR" sz="1200" dirty="0">
                <a:highlight>
                  <a:srgbClr val="FFFF00"/>
                </a:highlight>
                <a:latin typeface="Arial Narrow" pitchFamily="34" charset="0"/>
                <a:ea typeface="Dotum" pitchFamily="34" charset="-127"/>
              </a:rPr>
              <a:t>B grade</a:t>
            </a:r>
            <a:r>
              <a:rPr lang="ko-KR" altLang="en-US" sz="1200" dirty="0">
                <a:highlight>
                  <a:srgbClr val="FFFF00"/>
                </a:highlight>
                <a:latin typeface="Arial Narrow" pitchFamily="34" charset="0"/>
                <a:ea typeface="Dotum" pitchFamily="34" charset="-127"/>
              </a:rPr>
              <a:t>    </a:t>
            </a:r>
          </a:p>
          <a:p>
            <a:pPr algn="l" defTabSz="762000" eaLnBrk="1" latinLnBrk="1" hangingPunct="1">
              <a:spcBef>
                <a:spcPts val="400"/>
              </a:spcBef>
            </a:pPr>
            <a:r>
              <a:rPr lang="en-US" altLang="ko-KR" sz="1200" dirty="0">
                <a:latin typeface="Arial Narrow" pitchFamily="34" charset="0"/>
              </a:rPr>
              <a:t>           There are in-house related procedures but they are not executed fully, or they run inefficiently</a:t>
            </a:r>
            <a:endParaRPr lang="en-US" altLang="ko-KR" sz="1200" dirty="0">
              <a:latin typeface="Arial Narrow" pitchFamily="34" charset="0"/>
              <a:ea typeface="Dotum" pitchFamily="34" charset="-127"/>
            </a:endParaRPr>
          </a:p>
          <a:p>
            <a:pPr algn="l" defTabSz="762000" eaLnBrk="1" latinLnBrk="1" hangingPunct="1">
              <a:spcBef>
                <a:spcPts val="400"/>
              </a:spcBef>
            </a:pPr>
            <a:r>
              <a:rPr lang="en-US" altLang="ko-KR" sz="1200" dirty="0">
                <a:latin typeface="Arial Narrow" pitchFamily="34" charset="0"/>
                <a:ea typeface="Dotum" pitchFamily="34" charset="-127"/>
              </a:rPr>
              <a:t>      3) Opportunity for Improvement/ Observation : </a:t>
            </a:r>
            <a:r>
              <a:rPr lang="en-US" altLang="ko-KR" sz="1200" dirty="0">
                <a:solidFill>
                  <a:schemeClr val="bg1"/>
                </a:solidFill>
                <a:highlight>
                  <a:srgbClr val="008000"/>
                </a:highlight>
                <a:latin typeface="Arial Narrow" pitchFamily="34" charset="0"/>
                <a:ea typeface="Dotum" pitchFamily="34" charset="-127"/>
              </a:rPr>
              <a:t>A grade</a:t>
            </a:r>
            <a:r>
              <a:rPr lang="ko-KR" altLang="en-US" sz="1200" dirty="0">
                <a:solidFill>
                  <a:schemeClr val="bg1"/>
                </a:solidFill>
                <a:highlight>
                  <a:srgbClr val="008000"/>
                </a:highlight>
                <a:latin typeface="Arial Narrow" pitchFamily="34" charset="0"/>
                <a:ea typeface="Dotum" pitchFamily="34" charset="-127"/>
              </a:rPr>
              <a:t> </a:t>
            </a:r>
          </a:p>
          <a:p>
            <a:pPr algn="l" defTabSz="762000" eaLnBrk="1" latinLnBrk="1" hangingPunct="1">
              <a:spcBef>
                <a:spcPts val="400"/>
              </a:spcBef>
            </a:pPr>
            <a:r>
              <a:rPr lang="en-US" altLang="ko-KR" sz="1200" dirty="0">
                <a:latin typeface="Arial Narrow" pitchFamily="34" charset="0"/>
              </a:rPr>
              <a:t>           It is not a minor or significant nonconformity, but the observed situation may result </a:t>
            </a:r>
          </a:p>
          <a:p>
            <a:pPr algn="l" defTabSz="762000" eaLnBrk="1" latinLnBrk="1" hangingPunct="1">
              <a:spcBef>
                <a:spcPts val="400"/>
              </a:spcBef>
            </a:pPr>
            <a:r>
              <a:rPr lang="en-US" altLang="ko-KR" sz="1200" dirty="0">
                <a:latin typeface="Arial Narrow" pitchFamily="34" charset="0"/>
              </a:rPr>
              <a:t>           in the judge's judgment and experience not being ideal.</a:t>
            </a:r>
          </a:p>
        </p:txBody>
      </p:sp>
    </p:spTree>
    <p:extLst>
      <p:ext uri="{BB962C8B-B14F-4D97-AF65-F5344CB8AC3E}">
        <p14:creationId xmlns:p14="http://schemas.microsoft.com/office/powerpoint/2010/main" val="2649518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CBEE3-C779-DA05-8749-4709A8FDDF48}"/>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214DD893-2694-6182-8253-7B504FAB32D0}"/>
              </a:ext>
            </a:extLst>
          </p:cNvPr>
          <p:cNvSpPr txBox="1">
            <a:spLocks noChangeArrowheads="1"/>
          </p:cNvSpPr>
          <p:nvPr/>
        </p:nvSpPr>
        <p:spPr bwMode="auto">
          <a:xfrm>
            <a:off x="160338" y="1275592"/>
            <a:ext cx="6581030" cy="7930376"/>
          </a:xfrm>
          <a:prstGeom prst="rect">
            <a:avLst/>
          </a:prstGeom>
          <a:noFill/>
          <a:ln w="9525">
            <a:noFill/>
            <a:miter lim="800000"/>
            <a:headEnd/>
            <a:tailEnd/>
          </a:ln>
        </p:spPr>
        <p:txBody>
          <a:bodyPr wrap="square">
            <a:spAutoFit/>
          </a:bodyPr>
          <a:lstStyle/>
          <a:p>
            <a:pPr marL="171450" indent="-171450" algn="just" defTabSz="762000" eaLnBrk="1" latinLnBrk="1" hangingPunct="1">
              <a:lnSpc>
                <a:spcPct val="150000"/>
              </a:lnSpc>
              <a:spcBef>
                <a:spcPts val="400"/>
              </a:spcBef>
              <a:buFontTx/>
              <a:buChar char="-"/>
            </a:pPr>
            <a:r>
              <a:rPr lang="en-US" altLang="ko-KR" sz="1200" b="1" dirty="0">
                <a:latin typeface="Arial Narrow" pitchFamily="34" charset="0"/>
              </a:rPr>
              <a:t>Regular Quality Audit</a:t>
            </a:r>
            <a:r>
              <a:rPr lang="es-MX" altLang="ko-KR" sz="1200" b="1" dirty="0">
                <a:latin typeface="Arial Narrow" pitchFamily="34" charset="0"/>
              </a:rPr>
              <a:t>: </a:t>
            </a:r>
            <a:r>
              <a:rPr lang="en-US" altLang="ko-KR" sz="1200" dirty="0">
                <a:latin typeface="Arial Narrow" pitchFamily="34" charset="0"/>
              </a:rPr>
              <a:t>It is a quality audit conducted on the overall quality system, and the Quality Department shall conduct it at least once a year for all of the departments according to the established plan. </a:t>
            </a:r>
          </a:p>
          <a:p>
            <a:pPr marL="171450" indent="-171450" algn="just" defTabSz="762000" eaLnBrk="1" latinLnBrk="1" hangingPunct="1">
              <a:lnSpc>
                <a:spcPct val="150000"/>
              </a:lnSpc>
              <a:spcBef>
                <a:spcPts val="400"/>
              </a:spcBef>
              <a:buFontTx/>
              <a:buChar char="-"/>
            </a:pPr>
            <a:r>
              <a:rPr lang="en-US" altLang="ko-KR" sz="1200" b="1" dirty="0">
                <a:latin typeface="Arial Narrow" pitchFamily="34" charset="0"/>
              </a:rPr>
              <a:t>Special Quality Audit: </a:t>
            </a:r>
            <a:r>
              <a:rPr lang="en-US" altLang="ko-KR" sz="1200" dirty="0">
                <a:latin typeface="Arial Narrow" pitchFamily="34" charset="0"/>
              </a:rPr>
              <a:t>It is specially conducted in case that any significant change or abnormality is detected or is likely to be detected in the quality system.</a:t>
            </a:r>
          </a:p>
          <a:p>
            <a:pPr algn="just" defTabSz="762000" eaLnBrk="1" latinLnBrk="1" hangingPunct="1">
              <a:lnSpc>
                <a:spcPct val="150000"/>
              </a:lnSpc>
              <a:spcBef>
                <a:spcPts val="400"/>
              </a:spcBef>
            </a:pPr>
            <a:endParaRPr lang="en-US" altLang="ko-KR" sz="1200" dirty="0">
              <a:latin typeface="Arial Narrow" pitchFamily="34" charset="0"/>
            </a:endParaRPr>
          </a:p>
          <a:p>
            <a:pPr algn="just" defTabSz="762000" eaLnBrk="1" latinLnBrk="1" hangingPunct="1">
              <a:lnSpc>
                <a:spcPct val="150000"/>
              </a:lnSpc>
              <a:spcBef>
                <a:spcPts val="400"/>
              </a:spcBef>
            </a:pPr>
            <a:r>
              <a:rPr lang="en-US" altLang="ko-KR" sz="1200" b="1" dirty="0">
                <a:latin typeface="Arial Narrow" pitchFamily="34" charset="0"/>
                <a:ea typeface="Dotum" pitchFamily="34" charset="-127"/>
                <a:cs typeface="Arial" charset="0"/>
              </a:rPr>
              <a:t>Article 4 Responsibility and authority</a:t>
            </a:r>
          </a:p>
          <a:p>
            <a:pPr algn="l" defTabSz="762000" eaLnBrk="1" latinLnBrk="1" hangingPunct="1">
              <a:spcBef>
                <a:spcPts val="400"/>
              </a:spcBef>
            </a:pPr>
            <a:r>
              <a:rPr lang="en-US" altLang="ko-KR" sz="1200" dirty="0">
                <a:latin typeface="Arial Narrow" pitchFamily="34" charset="0"/>
                <a:ea typeface="Dotum" pitchFamily="34" charset="-127"/>
                <a:cs typeface="Arial" charset="0"/>
              </a:rPr>
              <a:t>   1. Plant Director</a:t>
            </a:r>
          </a:p>
          <a:p>
            <a:pPr algn="l" defTabSz="762000" eaLnBrk="1" latinLnBrk="1" hangingPunct="1">
              <a:spcBef>
                <a:spcPts val="400"/>
              </a:spcBef>
            </a:pPr>
            <a:r>
              <a:rPr lang="en-US" altLang="ko-KR" sz="1200" dirty="0">
                <a:latin typeface="Arial Narrow" pitchFamily="34" charset="0"/>
                <a:ea typeface="Dotum" pitchFamily="34" charset="-127"/>
                <a:cs typeface="Arial" charset="0"/>
              </a:rPr>
              <a:t>Responsibility and authority to periodically review and determine the suitability and efficiency of the quality system to achieve quality policy and quality objectives. </a:t>
            </a:r>
          </a:p>
          <a:p>
            <a:pPr algn="l" defTabSz="762000" eaLnBrk="1" latinLnBrk="1" hangingPunct="1">
              <a:spcBef>
                <a:spcPts val="400"/>
              </a:spcBef>
            </a:pPr>
            <a:endParaRPr lang="en-US" altLang="ko-KR" sz="1200" dirty="0">
              <a:latin typeface="Arial Narrow" pitchFamily="34" charset="0"/>
              <a:ea typeface="Dotum" pitchFamily="34" charset="-127"/>
              <a:cs typeface="Arial" charset="0"/>
            </a:endParaRPr>
          </a:p>
          <a:p>
            <a:pPr algn="just" defTabSz="762000" eaLnBrk="1" latinLnBrk="1" hangingPunct="1">
              <a:spcBef>
                <a:spcPts val="400"/>
              </a:spcBef>
            </a:pPr>
            <a:r>
              <a:rPr lang="en-US" altLang="ko-KR" sz="1200" dirty="0">
                <a:latin typeface="Arial Narrow" pitchFamily="34" charset="0"/>
                <a:ea typeface="Dotum" pitchFamily="34" charset="-127"/>
                <a:cs typeface="Arial" charset="0"/>
              </a:rPr>
              <a:t>   2. Quality Planning Part Leader</a:t>
            </a:r>
          </a:p>
          <a:p>
            <a:pPr marL="228600" indent="-228600" algn="just" defTabSz="762000" eaLnBrk="1" latinLnBrk="1" hangingPunct="1">
              <a:spcBef>
                <a:spcPts val="400"/>
              </a:spcBef>
              <a:buAutoNum type="arabicParenR"/>
            </a:pPr>
            <a:r>
              <a:rPr lang="en-US" altLang="ko-KR" sz="1200" dirty="0">
                <a:latin typeface="Arial Narrow" pitchFamily="34" charset="0"/>
                <a:ea typeface="Dotum" pitchFamily="34" charset="-127"/>
                <a:cs typeface="Arial" charset="0"/>
              </a:rPr>
              <a:t>Responsibility and authority over the overall system audit activity to assess the suitability and effectiveness of the quality system. </a:t>
            </a:r>
          </a:p>
          <a:p>
            <a:pPr marL="228600" indent="-228600" algn="just" defTabSz="762000" eaLnBrk="1" latinLnBrk="1" hangingPunct="1">
              <a:spcBef>
                <a:spcPts val="400"/>
              </a:spcBef>
              <a:buAutoNum type="arabicParenR"/>
            </a:pPr>
            <a:r>
              <a:rPr lang="en-US" altLang="ko-KR" sz="1200" dirty="0">
                <a:latin typeface="Arial Narrow" pitchFamily="34" charset="0"/>
                <a:ea typeface="Dotum" pitchFamily="34" charset="-127"/>
                <a:cs typeface="Arial" charset="0"/>
              </a:rPr>
              <a:t>It has the responsibility and authority to form an audit team to conduct audits of systems, processes and products.</a:t>
            </a:r>
          </a:p>
          <a:p>
            <a:pPr marL="228600" indent="-228600" algn="just" defTabSz="762000" eaLnBrk="1" latinLnBrk="1" hangingPunct="1">
              <a:spcBef>
                <a:spcPts val="400"/>
              </a:spcBef>
              <a:buAutoNum type="arabicParenR"/>
            </a:pPr>
            <a:r>
              <a:rPr lang="en-US" altLang="ko-KR" sz="1200" dirty="0">
                <a:latin typeface="Arial Narrow" pitchFamily="34" charset="0"/>
                <a:ea typeface="Dotum" pitchFamily="34" charset="-127"/>
                <a:cs typeface="Arial" charset="0"/>
              </a:rPr>
              <a:t>Responsibility and authority to plan and operate the audit. </a:t>
            </a:r>
          </a:p>
          <a:p>
            <a:pPr marL="228600" indent="-228600" algn="just" defTabSz="762000" eaLnBrk="1" latinLnBrk="1" hangingPunct="1">
              <a:spcBef>
                <a:spcPts val="400"/>
              </a:spcBef>
              <a:buAutoNum type="arabicParenR"/>
            </a:pPr>
            <a:r>
              <a:rPr lang="en-US" altLang="ko-KR" sz="1200" dirty="0">
                <a:latin typeface="Arial Narrow" pitchFamily="34" charset="0"/>
                <a:ea typeface="Dotum" pitchFamily="34" charset="-127"/>
                <a:cs typeface="Arial" charset="0"/>
              </a:rPr>
              <a:t>Report the audit results to President and make them available as inputs for management review.</a:t>
            </a:r>
          </a:p>
          <a:p>
            <a:pPr marL="228600" indent="-228600" algn="just" defTabSz="762000" eaLnBrk="1" latinLnBrk="1" hangingPunct="1">
              <a:spcBef>
                <a:spcPts val="400"/>
              </a:spcBef>
              <a:buAutoNum type="arabicParenR"/>
            </a:pPr>
            <a:r>
              <a:rPr lang="en-US" altLang="ko-KR" sz="1200" dirty="0">
                <a:latin typeface="Arial Narrow" pitchFamily="34" charset="0"/>
                <a:ea typeface="Dotum" pitchFamily="34" charset="-127"/>
                <a:cs typeface="Arial" charset="0"/>
              </a:rPr>
              <a:t>It establishes and inspects the audit plan for the division and has the authority to make adjustments or final decisions on the disagreement between the audit department or the auditor during the audit. Changes in plans or results should be authorized in consultation with the audit team and documented</a:t>
            </a:r>
            <a:r>
              <a:rPr lang="en-US" altLang="ko-KR" sz="1200" dirty="0">
                <a:solidFill>
                  <a:schemeClr val="accent4">
                    <a:lumMod val="60000"/>
                    <a:lumOff val="40000"/>
                  </a:schemeClr>
                </a:solidFill>
                <a:latin typeface="Arial Narrow" pitchFamily="34" charset="0"/>
                <a:ea typeface="Dotum" pitchFamily="34" charset="-127"/>
                <a:cs typeface="Arial" charset="0"/>
              </a:rPr>
              <a:t>.</a:t>
            </a:r>
          </a:p>
          <a:p>
            <a:pPr marL="228600" indent="-228600" algn="just" defTabSz="762000" eaLnBrk="1" latinLnBrk="1" hangingPunct="1">
              <a:spcBef>
                <a:spcPts val="400"/>
              </a:spcBef>
              <a:buAutoNum type="arabicParenR"/>
            </a:pPr>
            <a:r>
              <a:rPr lang="en-US" altLang="ko-KR" sz="1200" dirty="0">
                <a:latin typeface="Arial Narrow" pitchFamily="34" charset="0"/>
                <a:ea typeface="Dotum" pitchFamily="34" charset="-127"/>
                <a:cs typeface="Arial" charset="0"/>
              </a:rPr>
              <a:t>Monitor corrective action status.</a:t>
            </a:r>
          </a:p>
          <a:p>
            <a:pPr marL="228600" indent="-228600" algn="just" defTabSz="762000" eaLnBrk="1" latinLnBrk="1" hangingPunct="1">
              <a:spcBef>
                <a:spcPts val="400"/>
              </a:spcBef>
              <a:buAutoNum type="arabicParenR"/>
            </a:pPr>
            <a:r>
              <a:rPr lang="en-US" altLang="ko-KR" sz="1200" dirty="0">
                <a:latin typeface="Arial Narrow" pitchFamily="34" charset="0"/>
                <a:ea typeface="Dotum" pitchFamily="34" charset="-127"/>
                <a:cs typeface="Arial" charset="0"/>
              </a:rPr>
              <a:t>Verification and close of corrective action as answer for Non-conformance in audits</a:t>
            </a:r>
          </a:p>
          <a:p>
            <a:pPr marL="228600" indent="-228600" algn="just" defTabSz="762000" eaLnBrk="1" latinLnBrk="1" hangingPunct="1">
              <a:spcBef>
                <a:spcPts val="400"/>
              </a:spcBef>
              <a:buAutoNum type="arabicParenR"/>
            </a:pPr>
            <a:endParaRPr lang="es-MX" altLang="ko-KR" sz="1200" dirty="0">
              <a:latin typeface="Arial Narrow" pitchFamily="34" charset="0"/>
              <a:ea typeface="Dotum" pitchFamily="34" charset="-127"/>
              <a:cs typeface="Arial" charset="0"/>
            </a:endParaRPr>
          </a:p>
          <a:p>
            <a:pPr marL="273050" indent="-184150" algn="just" defTabSz="762000"/>
            <a:r>
              <a:rPr lang="en-US" altLang="ko-KR" sz="1200" dirty="0">
                <a:latin typeface="Arial Narrow" pitchFamily="34" charset="0"/>
                <a:ea typeface="돋움" pitchFamily="50" charset="-127"/>
                <a:cs typeface="Arial" charset="0"/>
              </a:rPr>
              <a:t>3. Internal auditor</a:t>
            </a:r>
          </a:p>
          <a:p>
            <a:pPr indent="182880" algn="just" defTabSz="762000">
              <a:buAutoNum type="arabicParenR"/>
            </a:pPr>
            <a:r>
              <a:rPr lang="en-US" altLang="ko-KR" sz="1200" dirty="0">
                <a:latin typeface="Arial Narrow" pitchFamily="34" charset="0"/>
                <a:ea typeface="돋움" pitchFamily="50" charset="-127"/>
                <a:cs typeface="Arial" charset="0"/>
              </a:rPr>
              <a:t>A planned internal audit should be carried out, and it is the responsibility of documenting and submitting the results of the audit.</a:t>
            </a:r>
          </a:p>
          <a:p>
            <a:pPr indent="182880" algn="just" defTabSz="762000">
              <a:buAutoNum type="arabicParenR"/>
            </a:pPr>
            <a:r>
              <a:rPr lang="en-US" altLang="ko-KR" sz="1200" dirty="0">
                <a:latin typeface="Arial Narrow" pitchFamily="34" charset="0"/>
                <a:ea typeface="돋움" pitchFamily="50" charset="-127"/>
                <a:cs typeface="Arial" charset="0"/>
              </a:rPr>
              <a:t>The organization's quality management system, manufacturing process, and product should be reviewed to verify compliance with customer requirements and expectations or quality management system requirements,  IATF16949 requirements and DILO requirements.</a:t>
            </a:r>
          </a:p>
          <a:p>
            <a:pPr indent="182880" algn="just" defTabSz="762000">
              <a:buAutoNum type="arabicParenR"/>
            </a:pPr>
            <a:r>
              <a:rPr lang="en-US" altLang="ko-KR" sz="1200" dirty="0">
                <a:latin typeface="Arial Narrow" pitchFamily="34" charset="0"/>
                <a:ea typeface="돋움" pitchFamily="50" charset="-127"/>
                <a:cs typeface="Arial" charset="0"/>
              </a:rPr>
              <a:t>The quality assurance team leader should discuss with auditors about previous non-conformance, as well as other recommendations of the exchange, and make clear that the audit of the previous non conformance to the verification requirements.</a:t>
            </a:r>
          </a:p>
          <a:p>
            <a:pPr indent="182880" algn="just" defTabSz="762000">
              <a:buFontTx/>
              <a:buAutoNum type="arabicParenR"/>
            </a:pPr>
            <a:r>
              <a:rPr lang="en-US" altLang="ko-KR" sz="1200" dirty="0">
                <a:latin typeface="Arial Narrow" pitchFamily="34" charset="0"/>
                <a:ea typeface="돋움" pitchFamily="50" charset="-127"/>
                <a:cs typeface="Arial" charset="0"/>
              </a:rPr>
              <a:t>Support audit team in the following and v</a:t>
            </a:r>
            <a:r>
              <a:rPr lang="en-US" altLang="ko-KR" sz="1200" dirty="0">
                <a:latin typeface="Arial Narrow" pitchFamily="34" charset="0"/>
                <a:ea typeface="Dotum" pitchFamily="34" charset="-127"/>
                <a:cs typeface="Arial" charset="0"/>
              </a:rPr>
              <a:t>erification of corrective action as answer for Non-conformance in audits</a:t>
            </a:r>
          </a:p>
          <a:p>
            <a:pPr marL="317500" indent="-228600" algn="just" defTabSz="762000">
              <a:buAutoNum type="arabicParenR"/>
            </a:pPr>
            <a:endParaRPr lang="en-US" altLang="ko-KR" sz="1200" dirty="0">
              <a:latin typeface="Arial Narrow" pitchFamily="34" charset="0"/>
              <a:ea typeface="돋움" pitchFamily="50" charset="-127"/>
              <a:cs typeface="Arial" charset="0"/>
            </a:endParaRPr>
          </a:p>
        </p:txBody>
      </p:sp>
    </p:spTree>
    <p:extLst>
      <p:ext uri="{BB962C8B-B14F-4D97-AF65-F5344CB8AC3E}">
        <p14:creationId xmlns:p14="http://schemas.microsoft.com/office/powerpoint/2010/main" val="496628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83106-F8AC-FC70-7ECC-CE8FB8BF2AC3}"/>
            </a:ext>
          </a:extLst>
        </p:cNvPr>
        <p:cNvGrpSpPr/>
        <p:nvPr/>
      </p:nvGrpSpPr>
      <p:grpSpPr>
        <a:xfrm>
          <a:off x="0" y="0"/>
          <a:ext cx="0" cy="0"/>
          <a:chOff x="0" y="0"/>
          <a:chExt cx="0" cy="0"/>
        </a:xfrm>
      </p:grpSpPr>
      <p:sp>
        <p:nvSpPr>
          <p:cNvPr id="3" name="직사각형 4">
            <a:extLst>
              <a:ext uri="{FF2B5EF4-FFF2-40B4-BE49-F238E27FC236}">
                <a16:creationId xmlns:a16="http://schemas.microsoft.com/office/drawing/2014/main" id="{1D47DB96-ECA6-47DA-BC74-156E9D9A173A}"/>
              </a:ext>
            </a:extLst>
          </p:cNvPr>
          <p:cNvSpPr/>
          <p:nvPr/>
        </p:nvSpPr>
        <p:spPr>
          <a:xfrm>
            <a:off x="135682" y="1259448"/>
            <a:ext cx="6552728" cy="8187113"/>
          </a:xfrm>
          <a:prstGeom prst="rect">
            <a:avLst/>
          </a:prstGeom>
          <a:solidFill>
            <a:schemeClr val="bg1"/>
          </a:solidFill>
        </p:spPr>
        <p:txBody>
          <a:bodyPr wrap="square">
            <a:spAutoFit/>
          </a:bodyPr>
          <a:lstStyle/>
          <a:p>
            <a:pPr algn="just" defTabSz="762000">
              <a:lnSpc>
                <a:spcPct val="150000"/>
              </a:lnSpc>
            </a:pPr>
            <a:r>
              <a:rPr lang="en-US" altLang="ko-KR" sz="1200" dirty="0">
                <a:latin typeface="Arial Narrow" pitchFamily="34" charset="0"/>
                <a:ea typeface="돋움" pitchFamily="50" charset="-127"/>
                <a:cs typeface="Arial" charset="0"/>
              </a:rPr>
              <a:t>   4. Auditee Department  </a:t>
            </a:r>
          </a:p>
          <a:p>
            <a:pPr marL="228600" indent="-228600" algn="just" defTabSz="762000">
              <a:lnSpc>
                <a:spcPct val="150000"/>
              </a:lnSpc>
              <a:buAutoNum type="arabicParenR"/>
            </a:pPr>
            <a:r>
              <a:rPr lang="en-US" altLang="ko-KR" sz="1200" dirty="0">
                <a:latin typeface="Arial Narrow" pitchFamily="34" charset="0"/>
                <a:ea typeface="돋움" pitchFamily="50" charset="-127"/>
                <a:cs typeface="Arial" charset="0"/>
              </a:rPr>
              <a:t>Prepare for self-examination under the audit plan and respond to the audit requirements in good faith.</a:t>
            </a:r>
          </a:p>
          <a:p>
            <a:pPr marL="228600" indent="-228600" algn="just" defTabSz="762000">
              <a:lnSpc>
                <a:spcPct val="150000"/>
              </a:lnSpc>
              <a:buAutoNum type="arabicParenR"/>
            </a:pPr>
            <a:r>
              <a:rPr lang="en-US" altLang="ko-KR" sz="1200" dirty="0">
                <a:latin typeface="Arial Narrow" pitchFamily="34" charset="0"/>
                <a:ea typeface="돋움" pitchFamily="50" charset="-127"/>
                <a:cs typeface="Arial" charset="0"/>
              </a:rPr>
              <a:t>Corrective and preventive actions should be carried out on nonconformities as a result of the audit.</a:t>
            </a:r>
          </a:p>
          <a:p>
            <a:pPr marL="228600" indent="-228600" algn="just" defTabSz="762000">
              <a:lnSpc>
                <a:spcPct val="150000"/>
              </a:lnSpc>
              <a:buAutoNum type="arabicParenR"/>
            </a:pPr>
            <a:r>
              <a:rPr lang="en-US" altLang="ko-KR" sz="1200" dirty="0">
                <a:latin typeface="Arial Narrow" pitchFamily="34" charset="0"/>
                <a:ea typeface="돋움" pitchFamily="50" charset="-127"/>
                <a:cs typeface="Arial" charset="0"/>
              </a:rPr>
              <a:t>Report the results to the team leader in accordance with the nonconformity to confirm corrective actions and verification results.</a:t>
            </a:r>
          </a:p>
          <a:p>
            <a:pPr marL="228600" indent="-228600" algn="just" defTabSz="762000">
              <a:lnSpc>
                <a:spcPct val="150000"/>
              </a:lnSpc>
              <a:buAutoNum type="arabicParenR"/>
            </a:pPr>
            <a:r>
              <a:rPr lang="en-US" altLang="ko-KR" sz="1200" dirty="0">
                <a:latin typeface="Arial Narrow" pitchFamily="34" charset="0"/>
                <a:ea typeface="돋움" pitchFamily="50" charset="-127"/>
                <a:cs typeface="Arial" charset="0"/>
              </a:rPr>
              <a:t>Within the scope of the audit agreed with the audit team, the management shall be actively audited. System audits should include management reviews.</a:t>
            </a:r>
          </a:p>
          <a:p>
            <a:pPr algn="just" defTabSz="762000">
              <a:lnSpc>
                <a:spcPct val="150000"/>
              </a:lnSpc>
            </a:pPr>
            <a:r>
              <a:rPr lang="en-US" altLang="ko-KR" sz="1200" dirty="0">
                <a:latin typeface="Arial Narrow" pitchFamily="34" charset="0"/>
                <a:ea typeface="돋움" pitchFamily="50" charset="-127"/>
                <a:cs typeface="Arial" charset="0"/>
              </a:rPr>
              <a:t>   </a:t>
            </a:r>
            <a:endParaRPr lang="es-MX" altLang="ko-KR" sz="1200" dirty="0">
              <a:latin typeface="Arial Narrow" pitchFamily="34" charset="0"/>
              <a:ea typeface="돋움" pitchFamily="50" charset="-127"/>
              <a:cs typeface="Arial" charset="0"/>
            </a:endParaRPr>
          </a:p>
          <a:p>
            <a:pPr defTabSz="762000">
              <a:lnSpc>
                <a:spcPct val="150000"/>
              </a:lnSpc>
            </a:pPr>
            <a:r>
              <a:rPr lang="es-MX" altLang="ko-KR" sz="1400" b="1" dirty="0">
                <a:latin typeface="Arial Narrow" pitchFamily="34" charset="0"/>
                <a:ea typeface="돋움" pitchFamily="50" charset="-127"/>
                <a:cs typeface="Arial" charset="0"/>
              </a:rPr>
              <a:t>PROCESS</a:t>
            </a:r>
          </a:p>
          <a:p>
            <a:pPr algn="just" defTabSz="762000">
              <a:lnSpc>
                <a:spcPct val="150000"/>
              </a:lnSpc>
            </a:pPr>
            <a:r>
              <a:rPr lang="en-US" altLang="ko-KR" sz="1200" b="1" dirty="0">
                <a:latin typeface="Arial Narrow" pitchFamily="34" charset="0"/>
              </a:rPr>
              <a:t>Article 5 Procedure</a:t>
            </a:r>
          </a:p>
          <a:p>
            <a:pPr algn="just" eaLnBrk="1" latinLnBrk="1" hangingPunct="1">
              <a:lnSpc>
                <a:spcPct val="150000"/>
              </a:lnSpc>
              <a:spcBef>
                <a:spcPts val="400"/>
              </a:spcBef>
            </a:pPr>
            <a:r>
              <a:rPr lang="en-US" altLang="ko-KR" sz="1200" b="1" dirty="0">
                <a:latin typeface="Arial Narrow" pitchFamily="34" charset="0"/>
                <a:ea typeface="Dotum" pitchFamily="34" charset="-127"/>
                <a:cs typeface="Arial" charset="0"/>
              </a:rPr>
              <a:t>Article 5.1 </a:t>
            </a:r>
            <a:r>
              <a:rPr lang="en-US" altLang="ko-KR" sz="1200" b="1" dirty="0">
                <a:latin typeface="Arial Narrow" pitchFamily="34" charset="0"/>
                <a:cs typeface="Arial" charset="0"/>
              </a:rPr>
              <a:t>Establishment of system audit plan (program) and audit notice  </a:t>
            </a:r>
            <a:endParaRPr lang="en-US" altLang="ko-KR" sz="1200" dirty="0">
              <a:latin typeface="Arial Narrow" pitchFamily="34" charset="0"/>
              <a:cs typeface="Arial" charset="0"/>
            </a:endParaRPr>
          </a:p>
          <a:p>
            <a:pPr marL="228600" indent="-228600" algn="just" eaLnBrk="1" latinLnBrk="1" hangingPunct="1">
              <a:lnSpc>
                <a:spcPct val="150000"/>
              </a:lnSpc>
              <a:spcBef>
                <a:spcPts val="400"/>
              </a:spcBef>
              <a:buAutoNum type="alphaUcParenR"/>
            </a:pPr>
            <a:r>
              <a:rPr lang="en-US" altLang="ko-KR" sz="1200" dirty="0">
                <a:latin typeface="Arial Narrow" pitchFamily="34" charset="0"/>
                <a:cs typeface="Arial" charset="0"/>
              </a:rPr>
              <a:t>The audit plan shall establish the quality management system, for audits of manufacturing process and products procedure, review procedures related.</a:t>
            </a:r>
          </a:p>
          <a:p>
            <a:pPr marL="228600" indent="-228600" algn="just" eaLnBrk="1" latinLnBrk="1" hangingPunct="1">
              <a:lnSpc>
                <a:spcPct val="150000"/>
              </a:lnSpc>
              <a:spcBef>
                <a:spcPts val="400"/>
              </a:spcBef>
              <a:buAutoNum type="alphaUcParenR"/>
            </a:pPr>
            <a:r>
              <a:rPr lang="en-US" altLang="ko-KR" sz="1200" dirty="0">
                <a:latin typeface="Arial Narrow" pitchFamily="34" charset="0"/>
                <a:ea typeface="Dotum" pitchFamily="34" charset="-127"/>
              </a:rPr>
              <a:t>The detailed audit schedule includes the date, time, and judge assignment to identify the department, process, and product to be audited and examine each object. However, the judges (auditor) are not assigned to their departments or related process to their department . Planning is based in the risk identified in the process, result of previous audits and changes which affect the organization. Criteria for frequency of audit</a:t>
            </a:r>
          </a:p>
          <a:p>
            <a:pPr marL="228600" indent="-228600" algn="just" eaLnBrk="1" latinLnBrk="1" hangingPunct="1">
              <a:lnSpc>
                <a:spcPct val="150000"/>
              </a:lnSpc>
              <a:spcBef>
                <a:spcPts val="400"/>
              </a:spcBef>
              <a:buAutoNum type="alphaUcParenR"/>
            </a:pPr>
            <a:endParaRPr lang="es-ES" altLang="ko-KR" sz="1200" dirty="0">
              <a:solidFill>
                <a:srgbClr val="0070C0"/>
              </a:solidFill>
              <a:latin typeface="Arial Narrow" pitchFamily="34" charset="0"/>
              <a:ea typeface="Dotum" pitchFamily="34" charset="-127"/>
            </a:endParaRPr>
          </a:p>
          <a:p>
            <a:pPr marL="219075" algn="just" eaLnBrk="1" latinLnBrk="1" hangingPunct="1">
              <a:lnSpc>
                <a:spcPct val="150000"/>
              </a:lnSpc>
              <a:spcBef>
                <a:spcPts val="400"/>
              </a:spcBef>
            </a:pPr>
            <a:endParaRPr lang="es-ES" altLang="ko-KR" sz="1200" dirty="0">
              <a:solidFill>
                <a:srgbClr val="0070C0"/>
              </a:solidFill>
              <a:latin typeface="Arial Narrow" pitchFamily="34" charset="0"/>
              <a:ea typeface="Dotum" pitchFamily="34" charset="-127"/>
            </a:endParaRPr>
          </a:p>
          <a:p>
            <a:pPr marL="447675" indent="-228600" algn="just" eaLnBrk="1" latinLnBrk="1" hangingPunct="1">
              <a:lnSpc>
                <a:spcPct val="150000"/>
              </a:lnSpc>
              <a:spcBef>
                <a:spcPts val="400"/>
              </a:spcBef>
              <a:buAutoNum type="arabicPeriod"/>
            </a:pPr>
            <a:endParaRPr lang="es-ES" altLang="ko-KR" sz="1200" dirty="0">
              <a:solidFill>
                <a:srgbClr val="0070C0"/>
              </a:solidFill>
              <a:latin typeface="Arial Narrow" pitchFamily="34" charset="0"/>
              <a:ea typeface="Dotum" pitchFamily="34" charset="-127"/>
            </a:endParaRPr>
          </a:p>
          <a:p>
            <a:pPr marL="447675" indent="-228600" algn="just" eaLnBrk="1" latinLnBrk="1" hangingPunct="1">
              <a:lnSpc>
                <a:spcPct val="150000"/>
              </a:lnSpc>
              <a:spcBef>
                <a:spcPts val="400"/>
              </a:spcBef>
              <a:buAutoNum type="arabicPeriod"/>
            </a:pPr>
            <a:endParaRPr lang="es-ES" altLang="ko-KR" sz="1200" dirty="0">
              <a:solidFill>
                <a:srgbClr val="0070C0"/>
              </a:solidFill>
              <a:latin typeface="Arial Narrow" pitchFamily="34" charset="0"/>
              <a:ea typeface="Dotum" pitchFamily="34" charset="-127"/>
            </a:endParaRPr>
          </a:p>
          <a:p>
            <a:pPr marL="447675" indent="-228600" algn="just" eaLnBrk="1" latinLnBrk="1" hangingPunct="1">
              <a:lnSpc>
                <a:spcPct val="150000"/>
              </a:lnSpc>
              <a:spcBef>
                <a:spcPts val="400"/>
              </a:spcBef>
              <a:buAutoNum type="arabicPeriod"/>
            </a:pPr>
            <a:endParaRPr lang="es-ES" altLang="ko-KR" sz="1200" dirty="0">
              <a:solidFill>
                <a:srgbClr val="0070C0"/>
              </a:solidFill>
              <a:latin typeface="Arial Narrow" pitchFamily="34" charset="0"/>
              <a:ea typeface="Dotum" pitchFamily="34" charset="-127"/>
            </a:endParaRPr>
          </a:p>
          <a:p>
            <a:pPr marL="447675" indent="-228600" algn="just" eaLnBrk="1" latinLnBrk="1" hangingPunct="1">
              <a:lnSpc>
                <a:spcPct val="150000"/>
              </a:lnSpc>
              <a:spcBef>
                <a:spcPts val="400"/>
              </a:spcBef>
              <a:buAutoNum type="arabicPeriod"/>
            </a:pPr>
            <a:endParaRPr lang="es-ES" altLang="ko-KR" sz="1200" dirty="0">
              <a:solidFill>
                <a:srgbClr val="0070C0"/>
              </a:solidFill>
              <a:latin typeface="Arial Narrow" pitchFamily="34" charset="0"/>
              <a:ea typeface="Dotum" pitchFamily="34" charset="-127"/>
            </a:endParaRPr>
          </a:p>
          <a:p>
            <a:pPr marL="228600" indent="-228600" algn="just" eaLnBrk="1" latinLnBrk="1" hangingPunct="1">
              <a:lnSpc>
                <a:spcPct val="150000"/>
              </a:lnSpc>
              <a:spcBef>
                <a:spcPts val="400"/>
              </a:spcBef>
              <a:buAutoNum type="alphaUcParenR"/>
            </a:pPr>
            <a:r>
              <a:rPr lang="en-US" altLang="ko-KR" sz="1200" dirty="0">
                <a:latin typeface="Arial Narrow" pitchFamily="34" charset="0"/>
                <a:ea typeface="Dotum" pitchFamily="34" charset="-127"/>
              </a:rPr>
              <a:t>The quality assurance manager may conduct </a:t>
            </a:r>
            <a:r>
              <a:rPr lang="en-US" altLang="ko-KR" sz="1200" dirty="0">
                <a:solidFill>
                  <a:srgbClr val="0070C0"/>
                </a:solidFill>
                <a:latin typeface="Arial Narrow" pitchFamily="34" charset="0"/>
                <a:ea typeface="Dotum" pitchFamily="34" charset="-127"/>
              </a:rPr>
              <a:t>system</a:t>
            </a:r>
            <a:r>
              <a:rPr lang="en-US" altLang="ko-KR" sz="1200" dirty="0">
                <a:latin typeface="Arial Narrow" pitchFamily="34" charset="0"/>
                <a:ea typeface="Dotum" pitchFamily="34" charset="-127"/>
              </a:rPr>
              <a:t> audits, even if they are not planned in the annual plan, with the approval of the president</a:t>
            </a:r>
            <a:r>
              <a:rPr lang="en-US" altLang="ko-KR" sz="1200" dirty="0">
                <a:solidFill>
                  <a:srgbClr val="FF0000"/>
                </a:solidFill>
                <a:latin typeface="Arial Narrow" pitchFamily="34" charset="0"/>
                <a:ea typeface="Dotum" pitchFamily="34" charset="-127"/>
              </a:rPr>
              <a:t> </a:t>
            </a:r>
            <a:r>
              <a:rPr lang="en-US" altLang="ko-KR" sz="1200" dirty="0">
                <a:latin typeface="Arial Narrow" pitchFamily="34" charset="0"/>
                <a:ea typeface="Dotum" pitchFamily="34" charset="-127"/>
              </a:rPr>
              <a:t>in the event of customer complaints, material changes, or audits of key customers.</a:t>
            </a:r>
          </a:p>
          <a:p>
            <a:pPr marL="228600" indent="-228600" algn="just" eaLnBrk="1" latinLnBrk="1" hangingPunct="1">
              <a:lnSpc>
                <a:spcPct val="150000"/>
              </a:lnSpc>
              <a:spcBef>
                <a:spcPts val="400"/>
              </a:spcBef>
              <a:buAutoNum type="alphaUcParenR"/>
            </a:pPr>
            <a:r>
              <a:rPr lang="en-US" altLang="ko-KR" sz="1200" dirty="0">
                <a:latin typeface="Arial Narrow" pitchFamily="34" charset="0"/>
                <a:cs typeface="Arial" charset="0"/>
              </a:rPr>
              <a:t>The </a:t>
            </a:r>
            <a:r>
              <a:rPr lang="en-US" altLang="ko-KR" sz="1200" dirty="0">
                <a:solidFill>
                  <a:srgbClr val="0070C0"/>
                </a:solidFill>
                <a:latin typeface="Arial Narrow" pitchFamily="34" charset="0"/>
                <a:cs typeface="Arial" charset="0"/>
              </a:rPr>
              <a:t>system</a:t>
            </a:r>
            <a:r>
              <a:rPr lang="en-US" altLang="ko-KR" sz="1200" dirty="0">
                <a:latin typeface="Arial Narrow" pitchFamily="34" charset="0"/>
                <a:cs typeface="Arial" charset="0"/>
              </a:rPr>
              <a:t> audit plan shall be notified to the relevant department manager before the audit</a:t>
            </a:r>
            <a:r>
              <a:rPr lang="en-US" altLang="ko-KR" sz="1400" dirty="0">
                <a:latin typeface="Arial Narrow" pitchFamily="34" charset="0"/>
                <a:cs typeface="Arial" charset="0"/>
              </a:rPr>
              <a:t>.</a:t>
            </a:r>
            <a:endParaRPr lang="en-US" altLang="ko-KR" sz="1400" dirty="0">
              <a:solidFill>
                <a:srgbClr val="000000"/>
              </a:solidFill>
              <a:latin typeface="Arial Narrow" pitchFamily="34" charset="0"/>
              <a:ea typeface="Dotum" pitchFamily="34" charset="-127"/>
            </a:endParaRPr>
          </a:p>
        </p:txBody>
      </p:sp>
      <p:graphicFrame>
        <p:nvGraphicFramePr>
          <p:cNvPr id="5" name="Table 4">
            <a:extLst>
              <a:ext uri="{FF2B5EF4-FFF2-40B4-BE49-F238E27FC236}">
                <a16:creationId xmlns:a16="http://schemas.microsoft.com/office/drawing/2014/main" id="{F202332F-0673-7515-86C7-286D3348AED8}"/>
              </a:ext>
            </a:extLst>
          </p:cNvPr>
          <p:cNvGraphicFramePr>
            <a:graphicFrameLocks noGrp="1"/>
          </p:cNvGraphicFramePr>
          <p:nvPr>
            <p:extLst>
              <p:ext uri="{D42A27DB-BD31-4B8C-83A1-F6EECF244321}">
                <p14:modId xmlns:p14="http://schemas.microsoft.com/office/powerpoint/2010/main" val="755548379"/>
              </p:ext>
            </p:extLst>
          </p:nvPr>
        </p:nvGraphicFramePr>
        <p:xfrm>
          <a:off x="1440000" y="6228000"/>
          <a:ext cx="3816423" cy="1737360"/>
        </p:xfrm>
        <a:graphic>
          <a:graphicData uri="http://schemas.openxmlformats.org/drawingml/2006/table">
            <a:tbl>
              <a:tblPr firstRow="1" bandRow="1">
                <a:tableStyleId>{5C22544A-7EE6-4342-B048-85BDC9FD1C3A}</a:tableStyleId>
              </a:tblPr>
              <a:tblGrid>
                <a:gridCol w="1272141">
                  <a:extLst>
                    <a:ext uri="{9D8B030D-6E8A-4147-A177-3AD203B41FA5}">
                      <a16:colId xmlns:a16="http://schemas.microsoft.com/office/drawing/2014/main" val="20000"/>
                    </a:ext>
                  </a:extLst>
                </a:gridCol>
                <a:gridCol w="1272141">
                  <a:extLst>
                    <a:ext uri="{9D8B030D-6E8A-4147-A177-3AD203B41FA5}">
                      <a16:colId xmlns:a16="http://schemas.microsoft.com/office/drawing/2014/main" val="20001"/>
                    </a:ext>
                  </a:extLst>
                </a:gridCol>
                <a:gridCol w="1272141">
                  <a:extLst>
                    <a:ext uri="{9D8B030D-6E8A-4147-A177-3AD203B41FA5}">
                      <a16:colId xmlns:a16="http://schemas.microsoft.com/office/drawing/2014/main" val="20002"/>
                    </a:ext>
                  </a:extLst>
                </a:gridCol>
              </a:tblGrid>
              <a:tr h="0">
                <a:tc>
                  <a:txBody>
                    <a:bodyPr/>
                    <a:lstStyle/>
                    <a:p>
                      <a:pPr algn="ctr"/>
                      <a:r>
                        <a:rPr lang="en-US" sz="1200" b="1" noProof="0" dirty="0">
                          <a:solidFill>
                            <a:schemeClr val="tx1"/>
                          </a:solidFill>
                          <a:latin typeface="Arial Narrow" panose="020B0606020202030204" pitchFamily="34" charset="0"/>
                        </a:rPr>
                        <a:t>Criteria</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200" b="1" noProof="0" dirty="0">
                          <a:solidFill>
                            <a:schemeClr val="tx1"/>
                          </a:solidFill>
                          <a:latin typeface="Arial Narrow" panose="020B0606020202030204" pitchFamily="34" charset="0"/>
                        </a:rPr>
                        <a:t>Result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200" b="1" noProof="0" dirty="0">
                          <a:solidFill>
                            <a:schemeClr val="tx1"/>
                          </a:solidFill>
                          <a:latin typeface="Arial Narrow" panose="020B0606020202030204" pitchFamily="34" charset="0"/>
                        </a:rPr>
                        <a:t>Planning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16000">
                <a:tc rowSpan="3">
                  <a:txBody>
                    <a:bodyPr/>
                    <a:lstStyle/>
                    <a:p>
                      <a:pPr algn="ctr"/>
                      <a:r>
                        <a:rPr lang="en-US" sz="1000" b="0" noProof="0" dirty="0">
                          <a:solidFill>
                            <a:schemeClr val="tx1"/>
                          </a:solidFill>
                          <a:latin typeface="Arial Narrow" panose="020B0606020202030204" pitchFamily="34" charset="0"/>
                        </a:rPr>
                        <a:t>Non conformities in </a:t>
                      </a:r>
                    </a:p>
                    <a:p>
                      <a:pPr algn="ctr"/>
                      <a:r>
                        <a:rPr lang="en-US" sz="1000" b="0" noProof="0" dirty="0">
                          <a:solidFill>
                            <a:schemeClr val="tx1"/>
                          </a:solidFill>
                          <a:latin typeface="Arial Narrow" panose="020B0606020202030204" pitchFamily="34" charset="0"/>
                        </a:rPr>
                        <a:t>previous audits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a:solidFill>
                            <a:schemeClr val="tx1"/>
                          </a:solidFill>
                          <a:latin typeface="Arial Narrow" panose="020B0606020202030204" pitchFamily="34" charset="0"/>
                        </a:rPr>
                        <a:t>0-5</a:t>
                      </a:r>
                      <a:endParaRPr lang="en-US" sz="1000" b="0" noProof="0" dirty="0">
                        <a:solidFill>
                          <a:schemeClr val="tx1"/>
                        </a:solidFill>
                        <a:latin typeface="Arial Narrow" panose="020B0606020202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1 time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16000">
                <a:tc vMerge="1">
                  <a:txBody>
                    <a:bodyPr/>
                    <a:lstStyle/>
                    <a:p>
                      <a:endParaRPr lang="en-US" sz="1200" dirty="0">
                        <a:latin typeface="Arial Narrow" panose="020B0606020202030204" pitchFamily="34" charset="0"/>
                      </a:endParaRPr>
                    </a:p>
                  </a:txBody>
                  <a:tcPr/>
                </a:tc>
                <a:tc>
                  <a:txBody>
                    <a:bodyPr/>
                    <a:lstStyle/>
                    <a:p>
                      <a:pPr algn="ctr"/>
                      <a:r>
                        <a:rPr lang="en-US" sz="1000" b="0" noProof="0" dirty="0">
                          <a:solidFill>
                            <a:schemeClr val="tx1"/>
                          </a:solidFill>
                          <a:latin typeface="Arial Narrow" panose="020B0606020202030204" pitchFamily="34" charset="0"/>
                        </a:rPr>
                        <a:t>5</a:t>
                      </a:r>
                      <a:r>
                        <a:rPr lang="en-US" sz="1000" b="0" noProof="0">
                          <a:solidFill>
                            <a:schemeClr val="tx1"/>
                          </a:solidFill>
                          <a:latin typeface="Arial Narrow" panose="020B0606020202030204" pitchFamily="34" charset="0"/>
                        </a:rPr>
                        <a:t>-10</a:t>
                      </a:r>
                      <a:endParaRPr lang="en-US" sz="1000" b="0" noProof="0" dirty="0">
                        <a:solidFill>
                          <a:schemeClr val="tx1"/>
                        </a:solidFill>
                        <a:latin typeface="Arial Narrow" panose="020B0606020202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2 times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16000">
                <a:tc vMerge="1">
                  <a:txBody>
                    <a:bodyPr/>
                    <a:lstStyle/>
                    <a:p>
                      <a:endParaRPr lang="en-US" sz="1200" dirty="0">
                        <a:latin typeface="Arial Narrow" panose="020B0606020202030204" pitchFamily="34" charset="0"/>
                      </a:endParaRPr>
                    </a:p>
                  </a:txBody>
                  <a:tcPr/>
                </a:tc>
                <a:tc>
                  <a:txBody>
                    <a:bodyPr/>
                    <a:lstStyle/>
                    <a:p>
                      <a:pPr algn="ctr"/>
                      <a:r>
                        <a:rPr lang="en-US" sz="1000" b="0" noProof="0" dirty="0">
                          <a:solidFill>
                            <a:schemeClr val="tx1"/>
                          </a:solidFill>
                          <a:latin typeface="Arial Narrow" panose="020B0606020202030204" pitchFamily="34" charset="0"/>
                        </a:rPr>
                        <a:t>More than 10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3 times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16000">
                <a:tc rowSpan="3">
                  <a:txBody>
                    <a:bodyPr/>
                    <a:lstStyle/>
                    <a:p>
                      <a:pPr algn="ctr"/>
                      <a:r>
                        <a:rPr lang="en-US" sz="1000" b="0" noProof="0" dirty="0">
                          <a:solidFill>
                            <a:schemeClr val="tx1"/>
                          </a:solidFill>
                          <a:latin typeface="Arial Narrow" panose="020B0606020202030204" pitchFamily="34" charset="0"/>
                        </a:rPr>
                        <a:t>Process</a:t>
                      </a:r>
                      <a:r>
                        <a:rPr lang="en-US" sz="1000" b="0" baseline="0" noProof="0" dirty="0">
                          <a:solidFill>
                            <a:schemeClr val="tx1"/>
                          </a:solidFill>
                          <a:latin typeface="Arial Narrow" panose="020B0606020202030204" pitchFamily="34" charset="0"/>
                        </a:rPr>
                        <a:t> risk </a:t>
                      </a:r>
                    </a:p>
                    <a:p>
                      <a:pPr algn="ctr"/>
                      <a:r>
                        <a:rPr lang="en-US" sz="1000" b="0" baseline="0" noProof="0" dirty="0">
                          <a:solidFill>
                            <a:schemeClr val="tx1"/>
                          </a:solidFill>
                          <a:latin typeface="Arial Narrow" panose="020B0606020202030204" pitchFamily="34" charset="0"/>
                        </a:rPr>
                        <a:t>analysis</a:t>
                      </a:r>
                      <a:endParaRPr lang="en-US" sz="1000" b="0" noProof="0" dirty="0">
                        <a:solidFill>
                          <a:schemeClr val="tx1"/>
                        </a:solidFill>
                        <a:latin typeface="Arial Narrow" panose="020B0606020202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Low</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1 time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16000">
                <a:tc vMerge="1">
                  <a:txBody>
                    <a:bodyPr/>
                    <a:lstStyle/>
                    <a:p>
                      <a:endParaRPr lang="en-US" sz="1200" b="1" dirty="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Medium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2 times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16000">
                <a:tc vMerge="1">
                  <a:txBody>
                    <a:bodyPr/>
                    <a:lstStyle/>
                    <a:p>
                      <a:endParaRPr lang="en-US" sz="1200" b="1" dirty="0">
                        <a:solidFill>
                          <a:schemeClr val="tx1"/>
                        </a:solidFill>
                        <a:latin typeface="Arial Narrow" panose="020B0606020202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High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noProof="0" dirty="0">
                          <a:solidFill>
                            <a:schemeClr val="tx1"/>
                          </a:solidFill>
                          <a:latin typeface="Arial Narrow" panose="020B0606020202030204" pitchFamily="34" charset="0"/>
                        </a:rPr>
                        <a:t>3 times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83945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600F9-06EB-47EF-926C-D5CE8D56AD00}"/>
            </a:ext>
          </a:extLst>
        </p:cNvPr>
        <p:cNvGrpSpPr/>
        <p:nvPr/>
      </p:nvGrpSpPr>
      <p:grpSpPr>
        <a:xfrm>
          <a:off x="0" y="0"/>
          <a:ext cx="0" cy="0"/>
          <a:chOff x="0" y="0"/>
          <a:chExt cx="0" cy="0"/>
        </a:xfrm>
      </p:grpSpPr>
      <p:sp>
        <p:nvSpPr>
          <p:cNvPr id="3" name="직사각형 3">
            <a:extLst>
              <a:ext uri="{FF2B5EF4-FFF2-40B4-BE49-F238E27FC236}">
                <a16:creationId xmlns:a16="http://schemas.microsoft.com/office/drawing/2014/main" id="{27E11D2F-0CE9-61A2-3DDF-A61883B3844B}"/>
              </a:ext>
            </a:extLst>
          </p:cNvPr>
          <p:cNvSpPr>
            <a:spLocks noChangeArrowheads="1"/>
          </p:cNvSpPr>
          <p:nvPr/>
        </p:nvSpPr>
        <p:spPr bwMode="auto">
          <a:xfrm>
            <a:off x="115888" y="1189038"/>
            <a:ext cx="6624637" cy="7712817"/>
          </a:xfrm>
          <a:prstGeom prst="rect">
            <a:avLst/>
          </a:prstGeom>
          <a:noFill/>
          <a:ln w="9525">
            <a:noFill/>
            <a:miter lim="800000"/>
            <a:headEnd/>
            <a:tailEnd/>
          </a:ln>
        </p:spPr>
        <p:txBody>
          <a:bodyPr>
            <a:spAutoFit/>
          </a:bodyPr>
          <a:lstStyle/>
          <a:p>
            <a:pPr algn="l" defTabSz="762000" eaLnBrk="1" latinLnBrk="1" hangingPunct="1">
              <a:lnSpc>
                <a:spcPct val="90000"/>
              </a:lnSpc>
              <a:spcBef>
                <a:spcPts val="400"/>
              </a:spcBef>
            </a:pPr>
            <a:endParaRPr lang="en-US" altLang="ko-KR" sz="1200" b="0" dirty="0">
              <a:latin typeface="Arial Narrow" pitchFamily="34" charset="0"/>
              <a:ea typeface="Dotum" pitchFamily="34" charset="-127"/>
              <a:cs typeface="Arial" pitchFamily="34" charset="0"/>
            </a:endParaRPr>
          </a:p>
          <a:p>
            <a:pPr algn="just" defTabSz="762000" eaLnBrk="1" latinLnBrk="1" hangingPunct="1">
              <a:lnSpc>
                <a:spcPct val="150000"/>
              </a:lnSpc>
              <a:spcBef>
                <a:spcPts val="400"/>
              </a:spcBef>
            </a:pPr>
            <a:r>
              <a:rPr lang="en-US" altLang="ko-KR" sz="1200" b="1" dirty="0">
                <a:latin typeface="Arial Narrow" pitchFamily="34" charset="0"/>
                <a:ea typeface="Dotum" pitchFamily="34" charset="-127"/>
                <a:cs typeface="Arial" pitchFamily="34" charset="0"/>
              </a:rPr>
              <a:t>   5.</a:t>
            </a:r>
            <a:r>
              <a:rPr lang="en-US" altLang="ko-KR" sz="1200" dirty="0">
                <a:latin typeface="Arial Narrow" pitchFamily="34" charset="0"/>
                <a:ea typeface="Dotum" pitchFamily="34" charset="-127"/>
                <a:cs typeface="Arial" pitchFamily="34" charset="0"/>
              </a:rPr>
              <a:t>1.1. </a:t>
            </a:r>
            <a:r>
              <a:rPr lang="en-US" altLang="ko-KR" sz="1200" dirty="0">
                <a:latin typeface="Arial Narrow" pitchFamily="34" charset="0"/>
                <a:ea typeface="맑은 고딕" pitchFamily="34" charset="-127"/>
                <a:cs typeface="Arial" pitchFamily="34" charset="0"/>
              </a:rPr>
              <a:t>Audit program</a:t>
            </a:r>
            <a:endParaRPr lang="en-US" altLang="ko-KR" sz="1200" dirty="0">
              <a:latin typeface="Arial Narrow" pitchFamily="34" charset="0"/>
              <a:ea typeface="Dotum" pitchFamily="34" charset="-127"/>
              <a:cs typeface="Arial" pitchFamily="34" charset="0"/>
            </a:endParaRPr>
          </a:p>
          <a:p>
            <a:pPr algn="just" defTabSz="762000" eaLnBrk="1" latinLnBrk="1" hangingPunct="1">
              <a:lnSpc>
                <a:spcPct val="150000"/>
              </a:lnSpc>
              <a:spcBef>
                <a:spcPts val="400"/>
              </a:spcBef>
            </a:pPr>
            <a:r>
              <a:rPr lang="en-US" altLang="ko-KR" sz="1200" dirty="0">
                <a:latin typeface="Arial Narrow" pitchFamily="34" charset="0"/>
                <a:ea typeface="Dotum" pitchFamily="34" charset="-127"/>
                <a:cs typeface="Arial" pitchFamily="34" charset="0"/>
              </a:rPr>
              <a:t>A) </a:t>
            </a:r>
            <a:r>
              <a:rPr lang="en-US" altLang="ko-KR" sz="1200" dirty="0">
                <a:latin typeface="Arial Narrow" pitchFamily="34" charset="0"/>
                <a:ea typeface="돋움" pitchFamily="50" charset="-127"/>
                <a:cs typeface="Arial" charset="0"/>
              </a:rPr>
              <a:t>Quality management s</a:t>
            </a:r>
            <a:r>
              <a:rPr lang="en-US" altLang="ko-KR" sz="1200" b="0" dirty="0">
                <a:latin typeface="Arial Narrow" pitchFamily="34" charset="0"/>
                <a:ea typeface="Dotum" pitchFamily="34" charset="-127"/>
                <a:cs typeface="Arial" pitchFamily="34" charset="0"/>
              </a:rPr>
              <a:t>ystem audit</a:t>
            </a:r>
          </a:p>
          <a:p>
            <a:pPr algn="just" defTabSz="762000" eaLnBrk="1" latinLnBrk="1" hangingPunct="1">
              <a:lnSpc>
                <a:spcPct val="150000"/>
              </a:lnSpc>
              <a:spcBef>
                <a:spcPts val="400"/>
              </a:spcBef>
            </a:pPr>
            <a:r>
              <a:rPr lang="en-US" altLang="ko-KR" sz="1200" dirty="0" err="1">
                <a:latin typeface="Arial Narrow" pitchFamily="34" charset="0"/>
                <a:ea typeface="돋움" pitchFamily="50" charset="-127"/>
                <a:cs typeface="Arial" charset="0"/>
              </a:rPr>
              <a:t>Haengsung</a:t>
            </a:r>
            <a:r>
              <a:rPr lang="en-US" altLang="ko-KR" sz="1200" dirty="0">
                <a:latin typeface="Arial Narrow" pitchFamily="34" charset="0"/>
                <a:ea typeface="돋움" pitchFamily="50" charset="-127"/>
                <a:cs typeface="Arial" charset="0"/>
              </a:rPr>
              <a:t> Electronics company shall audit their own audit program named with “System Quality Audit” to encourage and improve the quality level of subsidiaries. The HQ’s audit checklist is divided into monthly audit items and conduct an audit monthly, at least report the result. The team will split the HQ’s audit items into 4 parts, this audit take 4 months to complete one-time Q-Audit. (and conduct twice a year)</a:t>
            </a:r>
          </a:p>
          <a:p>
            <a:pPr algn="just" defTabSz="762000" eaLnBrk="1" latinLnBrk="1" hangingPunct="1">
              <a:lnSpc>
                <a:spcPct val="150000"/>
              </a:lnSpc>
              <a:spcBef>
                <a:spcPts val="400"/>
              </a:spcBef>
            </a:pPr>
            <a:r>
              <a:rPr lang="en-US" altLang="ko-KR" sz="1200" b="0" dirty="0">
                <a:latin typeface="Arial Narrow" pitchFamily="34" charset="0"/>
                <a:ea typeface="돋움" pitchFamily="50" charset="-127"/>
                <a:cs typeface="Arial" charset="0"/>
              </a:rPr>
              <a:t>For a proper following in the status of planned audits, it is a code to update every month for the planned audit in that period: P= Planned; E=Executed; R=Rescheduled; X=Not performed</a:t>
            </a:r>
          </a:p>
          <a:p>
            <a:pPr algn="just" defTabSz="762000" eaLnBrk="1" latinLnBrk="1" hangingPunct="1">
              <a:lnSpc>
                <a:spcPct val="150000"/>
              </a:lnSpc>
              <a:spcBef>
                <a:spcPts val="400"/>
              </a:spcBef>
            </a:pPr>
            <a:r>
              <a:rPr lang="en-US" altLang="ko-KR" sz="1200" dirty="0">
                <a:latin typeface="Arial Narrow" pitchFamily="34" charset="0"/>
                <a:ea typeface="돋움" pitchFamily="50" charset="-127"/>
                <a:cs typeface="Arial" charset="0"/>
              </a:rPr>
              <a:t>B) </a:t>
            </a:r>
            <a:r>
              <a:rPr lang="en-US" altLang="ko-KR" sz="1200" b="0" dirty="0">
                <a:latin typeface="Arial Narrow" pitchFamily="34" charset="0"/>
                <a:ea typeface="Dotum" pitchFamily="34" charset="-127"/>
                <a:cs typeface="Arial" pitchFamily="34" charset="0"/>
              </a:rPr>
              <a:t>Manufacturing process audit</a:t>
            </a:r>
            <a:endParaRPr lang="en-US" altLang="ko-KR" sz="1200" dirty="0">
              <a:latin typeface="Arial Narrow" pitchFamily="34" charset="0"/>
              <a:ea typeface="Dotum" pitchFamily="34" charset="-127"/>
              <a:cs typeface="Arial" pitchFamily="34" charset="0"/>
            </a:endParaRPr>
          </a:p>
          <a:p>
            <a:pPr algn="just" defTabSz="762000" eaLnBrk="1" latinLnBrk="1" hangingPunct="1">
              <a:lnSpc>
                <a:spcPct val="150000"/>
              </a:lnSpc>
              <a:spcBef>
                <a:spcPts val="400"/>
              </a:spcBef>
            </a:pPr>
            <a:r>
              <a:rPr lang="en-US" altLang="ko-KR" sz="1200" dirty="0">
                <a:latin typeface="Arial Narrow" pitchFamily="34" charset="0"/>
                <a:ea typeface="돋움" pitchFamily="34" charset="-127"/>
                <a:cs typeface="Arial" pitchFamily="34" charset="0"/>
              </a:rPr>
              <a:t>In order to determine the effectiveness of the process, each manufacturing process is planned  and performed as a whole or as a sample. At the time of audit, the customer-specific management plan, drawings (specifications), inspection specifications, test specifications, and process specific guidelines are reviewed. </a:t>
            </a:r>
            <a:r>
              <a:rPr lang="en-US" altLang="ko-KR" sz="1200" dirty="0">
                <a:latin typeface="Arial Narrow" pitchFamily="34" charset="0"/>
                <a:ea typeface="돋움" pitchFamily="50" charset="-127"/>
                <a:cs typeface="Arial" charset="0"/>
              </a:rPr>
              <a:t>Within each individual audit plan, each manufacturing process shall be audited on all shifts where it occurs, including the appropriate sampling of the shift handover. The manufacturing process audit shall include an audit of the effective implementation of the process risk analysis (such as PFMEA), control plan, and associated documents.</a:t>
            </a:r>
            <a:endParaRPr lang="en-US" altLang="ko-KR" sz="1200" dirty="0">
              <a:latin typeface="Arial Narrow" pitchFamily="34" charset="0"/>
              <a:ea typeface="Dotum" pitchFamily="34" charset="-127"/>
              <a:cs typeface="Arial" pitchFamily="34" charset="0"/>
            </a:endParaRPr>
          </a:p>
          <a:p>
            <a:pPr algn="just" defTabSz="762000" eaLnBrk="1" latinLnBrk="1" hangingPunct="1">
              <a:lnSpc>
                <a:spcPct val="150000"/>
              </a:lnSpc>
              <a:spcBef>
                <a:spcPts val="400"/>
              </a:spcBef>
            </a:pPr>
            <a:r>
              <a:rPr lang="en-US" altLang="ko-KR" sz="1200" b="0" dirty="0">
                <a:latin typeface="Arial Narrow" pitchFamily="34" charset="0"/>
                <a:ea typeface="Dotum" pitchFamily="34" charset="-127"/>
                <a:cs typeface="Arial" pitchFamily="34" charset="0"/>
              </a:rPr>
              <a:t>C) Product audit</a:t>
            </a:r>
          </a:p>
          <a:p>
            <a:pPr algn="just" defTabSz="762000" eaLnBrk="1" latinLnBrk="1" hangingPunct="1">
              <a:lnSpc>
                <a:spcPct val="150000"/>
              </a:lnSpc>
              <a:spcBef>
                <a:spcPts val="400"/>
              </a:spcBef>
            </a:pPr>
            <a:r>
              <a:rPr lang="en-US" altLang="ko-KR" sz="1200" b="0" dirty="0">
                <a:latin typeface="Arial Narrow" pitchFamily="34" charset="0"/>
                <a:ea typeface="Dotum" pitchFamily="34" charset="-127"/>
                <a:cs typeface="Arial" pitchFamily="34" charset="0"/>
              </a:rPr>
              <a:t>Internal audits are planned and carried out by selecting the appropriate stages of production and delivery (delivery) to identify the specified requirements, such as product dimensions, functions, appearance, packaging, labeling, and to verify compliance. In addition to the product, drawing by product / part, customer claim data, inspection and test specifications are reviewed.</a:t>
            </a:r>
          </a:p>
          <a:p>
            <a:pPr algn="just" defTabSz="762000" eaLnBrk="1" latinLnBrk="1" hangingPunct="1">
              <a:lnSpc>
                <a:spcPct val="150000"/>
              </a:lnSpc>
              <a:spcBef>
                <a:spcPts val="400"/>
              </a:spcBef>
            </a:pPr>
            <a:endParaRPr lang="en-US" altLang="ko-KR" sz="1200" b="0" dirty="0">
              <a:latin typeface="Arial Narrow" pitchFamily="34" charset="0"/>
              <a:ea typeface="Dotum" pitchFamily="34" charset="-127"/>
              <a:cs typeface="Arial" pitchFamily="34" charset="0"/>
            </a:endParaRPr>
          </a:p>
          <a:p>
            <a:pPr algn="just" defTabSz="762000" eaLnBrk="1" latinLnBrk="1" hangingPunct="1">
              <a:lnSpc>
                <a:spcPct val="150000"/>
              </a:lnSpc>
              <a:spcBef>
                <a:spcPts val="400"/>
              </a:spcBef>
            </a:pPr>
            <a:r>
              <a:rPr lang="en-US" altLang="ko-KR" sz="1200" b="1" dirty="0">
                <a:latin typeface="Arial Narrow" pitchFamily="34" charset="0"/>
                <a:ea typeface="Dotum" pitchFamily="34" charset="-127"/>
                <a:cs typeface="Arial" pitchFamily="34" charset="0"/>
              </a:rPr>
              <a:t>Article 5.</a:t>
            </a:r>
            <a:r>
              <a:rPr lang="en-US" altLang="ko-KR" sz="1200" b="1" dirty="0">
                <a:latin typeface="Arial Narrow" pitchFamily="34" charset="0"/>
                <a:ea typeface="Dotum" pitchFamily="34" charset="-127"/>
                <a:cs typeface="Arial" charset="0"/>
              </a:rPr>
              <a:t>2. Hold an auditor meetings and share audit related information</a:t>
            </a:r>
          </a:p>
          <a:p>
            <a:pPr algn="just" defTabSz="762000" eaLnBrk="1" latinLnBrk="1" hangingPunct="1">
              <a:lnSpc>
                <a:spcPct val="150000"/>
              </a:lnSpc>
              <a:spcBef>
                <a:spcPts val="400"/>
              </a:spcBef>
            </a:pPr>
            <a:r>
              <a:rPr lang="en-US" altLang="ko-KR" sz="1200" dirty="0">
                <a:latin typeface="Arial Narrow" pitchFamily="34" charset="0"/>
                <a:ea typeface="Dotum" pitchFamily="34" charset="-127"/>
                <a:cs typeface="Arial" charset="0"/>
              </a:rPr>
              <a:t>It conducts an audit pre-meeting under the supervision of the quality department and provides the internal auditor with the audit schedule, check list, and major audit points.</a:t>
            </a:r>
          </a:p>
        </p:txBody>
      </p:sp>
    </p:spTree>
    <p:extLst>
      <p:ext uri="{BB962C8B-B14F-4D97-AF65-F5344CB8AC3E}">
        <p14:creationId xmlns:p14="http://schemas.microsoft.com/office/powerpoint/2010/main" val="1682107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07C9B-6936-FCDF-227A-15CD9F10041A}"/>
            </a:ext>
          </a:extLst>
        </p:cNvPr>
        <p:cNvGrpSpPr/>
        <p:nvPr/>
      </p:nvGrpSpPr>
      <p:grpSpPr>
        <a:xfrm>
          <a:off x="0" y="0"/>
          <a:ext cx="0" cy="0"/>
          <a:chOff x="0" y="0"/>
          <a:chExt cx="0" cy="0"/>
        </a:xfrm>
      </p:grpSpPr>
      <p:sp>
        <p:nvSpPr>
          <p:cNvPr id="3" name="직사각형 3">
            <a:extLst>
              <a:ext uri="{FF2B5EF4-FFF2-40B4-BE49-F238E27FC236}">
                <a16:creationId xmlns:a16="http://schemas.microsoft.com/office/drawing/2014/main" id="{0B623BC5-2C83-F8E9-7383-B1DC8B742A67}"/>
              </a:ext>
            </a:extLst>
          </p:cNvPr>
          <p:cNvSpPr>
            <a:spLocks noChangeArrowheads="1"/>
          </p:cNvSpPr>
          <p:nvPr/>
        </p:nvSpPr>
        <p:spPr bwMode="auto">
          <a:xfrm>
            <a:off x="115888" y="1280592"/>
            <a:ext cx="6624637" cy="5548186"/>
          </a:xfrm>
          <a:prstGeom prst="rect">
            <a:avLst/>
          </a:prstGeom>
          <a:noFill/>
          <a:ln w="9525">
            <a:noFill/>
            <a:miter lim="800000"/>
            <a:headEnd/>
            <a:tailEnd/>
          </a:ln>
        </p:spPr>
        <p:txBody>
          <a:bodyPr>
            <a:spAutoFit/>
          </a:bodyPr>
          <a:lstStyle/>
          <a:p>
            <a:pPr algn="just" defTabSz="762000" eaLnBrk="1" latinLnBrk="1" hangingPunct="1">
              <a:lnSpc>
                <a:spcPct val="150000"/>
              </a:lnSpc>
              <a:spcBef>
                <a:spcPts val="400"/>
              </a:spcBef>
            </a:pPr>
            <a:r>
              <a:rPr lang="en-US" altLang="ko-KR" sz="1200" dirty="0">
                <a:latin typeface="Arial Narrow" pitchFamily="34" charset="0"/>
                <a:ea typeface="Dotum" pitchFamily="34" charset="-127"/>
                <a:cs typeface="Arial" charset="0"/>
              </a:rPr>
              <a:t>1) </a:t>
            </a:r>
            <a:r>
              <a:rPr lang="en-US" altLang="ko-KR" sz="1200" dirty="0">
                <a:latin typeface="Arial Narrow" pitchFamily="34" charset="0"/>
                <a:ea typeface="Dotum" pitchFamily="34" charset="-127"/>
                <a:cs typeface="Arial" pitchFamily="34" charset="0"/>
              </a:rPr>
              <a:t>The checklist shall be prepared by the internal auditor to be used for each audit so as to conform to the audit objective using the following data:</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charset="0"/>
              </a:rPr>
              <a:t>IATF 16949 requirements</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charset="0"/>
              </a:rPr>
              <a:t>Customer-specific requirements</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charset="0"/>
              </a:rPr>
              <a:t>Quality management manuals and processes</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charset="0"/>
              </a:rPr>
              <a:t>Procedures and standards</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charset="0"/>
              </a:rPr>
              <a:t>Past customer complaints and claims reports</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charset="0"/>
              </a:rPr>
              <a:t>Design change and process change</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pitchFamily="34" charset="0"/>
              </a:rPr>
              <a:t>Management plan</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pitchFamily="34" charset="0"/>
              </a:rPr>
              <a:t>Past review report &amp; checklist</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pitchFamily="34" charset="0"/>
              </a:rPr>
              <a:t>Internal and external nonconforming product reports</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pitchFamily="34" charset="0"/>
              </a:rPr>
              <a:t>Organizational changes and new entrants</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pitchFamily="34" charset="0"/>
              </a:rPr>
              <a:t>New installation equipment and process</a:t>
            </a:r>
          </a:p>
          <a:p>
            <a:pPr marL="354330" indent="-171450" algn="l" defTabSz="762000" latinLnBrk="1">
              <a:lnSpc>
                <a:spcPct val="150000"/>
              </a:lnSpc>
              <a:spcBef>
                <a:spcPts val="400"/>
              </a:spcBef>
              <a:buFontTx/>
              <a:buChar char="-"/>
            </a:pPr>
            <a:r>
              <a:rPr lang="en-US" altLang="ko-KR" sz="1200" dirty="0">
                <a:latin typeface="Arial Narrow" pitchFamily="34" charset="0"/>
                <a:ea typeface="Dotum" pitchFamily="34" charset="-127"/>
                <a:cs typeface="Arial" pitchFamily="34" charset="0"/>
              </a:rPr>
              <a:t>Newly registered subcontractors</a:t>
            </a:r>
          </a:p>
          <a:p>
            <a:pPr algn="just" defTabSz="762000" eaLnBrk="1" latinLnBrk="1" hangingPunct="1">
              <a:lnSpc>
                <a:spcPct val="150000"/>
              </a:lnSpc>
              <a:spcBef>
                <a:spcPts val="400"/>
              </a:spcBef>
            </a:pPr>
            <a:endParaRPr lang="en-US" altLang="ko-KR" sz="1200" dirty="0">
              <a:latin typeface="Arial Narrow" pitchFamily="34" charset="0"/>
              <a:ea typeface="Dotum" pitchFamily="34" charset="-127"/>
              <a:cs typeface="Arial" pitchFamily="34" charset="0"/>
            </a:endParaRPr>
          </a:p>
          <a:p>
            <a:pPr algn="just" eaLnBrk="1" latinLnBrk="1" hangingPunct="1">
              <a:spcBef>
                <a:spcPts val="400"/>
              </a:spcBef>
            </a:pPr>
            <a:r>
              <a:rPr lang="en-US" altLang="ko-KR" sz="1200" dirty="0">
                <a:latin typeface="Arial Narrow" pitchFamily="34" charset="0"/>
                <a:ea typeface="LG스마트체 Regular" panose="020B0600000101010101" pitchFamily="50" charset="-127"/>
                <a:cs typeface="Arial" charset="0"/>
              </a:rPr>
              <a:t>* Table 1. Audit program requirement from each customer, and internal regulation</a:t>
            </a:r>
          </a:p>
          <a:p>
            <a:pPr algn="just" eaLnBrk="1" latinLnBrk="1" hangingPunct="1">
              <a:lnSpc>
                <a:spcPct val="80000"/>
              </a:lnSpc>
              <a:spcBef>
                <a:spcPts val="400"/>
              </a:spcBef>
            </a:pPr>
            <a:r>
              <a:rPr lang="en-US" altLang="ko-KR" sz="1200" dirty="0">
                <a:solidFill>
                  <a:srgbClr val="000000"/>
                </a:solidFill>
                <a:latin typeface="Arial Narrow" panose="020B0606020202030204" pitchFamily="34" charset="0"/>
                <a:ea typeface="LG스마트체 Regular" panose="020B0600000101010101" pitchFamily="50" charset="-127"/>
                <a:cs typeface="Arial" charset="0"/>
              </a:rPr>
              <a:t>:Must follow customer-defined audit program, </a:t>
            </a:r>
          </a:p>
          <a:p>
            <a:pPr algn="just" eaLnBrk="1" latinLnBrk="1" hangingPunct="1">
              <a:lnSpc>
                <a:spcPct val="80000"/>
              </a:lnSpc>
              <a:spcBef>
                <a:spcPts val="400"/>
              </a:spcBef>
            </a:pPr>
            <a:r>
              <a:rPr lang="en-US" altLang="ko-KR" sz="1200" dirty="0">
                <a:solidFill>
                  <a:srgbClr val="000000"/>
                </a:solidFill>
                <a:latin typeface="Arial Narrow" panose="020B0606020202030204" pitchFamily="34" charset="0"/>
                <a:ea typeface="LG스마트체 Regular" panose="020B0600000101010101" pitchFamily="50" charset="-127"/>
                <a:cs typeface="Arial" charset="0"/>
              </a:rPr>
              <a:t>  If a customer dose not define the program, follow the regulation defined VS company-internally</a:t>
            </a:r>
            <a:endParaRPr lang="es-MX" altLang="ko-KR" sz="1200" dirty="0">
              <a:latin typeface="Arial Narrow" pitchFamily="34" charset="0"/>
              <a:ea typeface="Dotum" pitchFamily="34" charset="-127"/>
              <a:cs typeface="Arial" pitchFamily="34" charset="0"/>
            </a:endParaRPr>
          </a:p>
        </p:txBody>
      </p:sp>
      <p:graphicFrame>
        <p:nvGraphicFramePr>
          <p:cNvPr id="5" name="표 1">
            <a:extLst>
              <a:ext uri="{FF2B5EF4-FFF2-40B4-BE49-F238E27FC236}">
                <a16:creationId xmlns:a16="http://schemas.microsoft.com/office/drawing/2014/main" id="{1FBC711B-A65D-FE2E-941A-3EEBFB0C6DA1}"/>
              </a:ext>
            </a:extLst>
          </p:cNvPr>
          <p:cNvGraphicFramePr>
            <a:graphicFrameLocks noGrp="1"/>
          </p:cNvGraphicFramePr>
          <p:nvPr>
            <p:extLst>
              <p:ext uri="{D42A27DB-BD31-4B8C-83A1-F6EECF244321}">
                <p14:modId xmlns:p14="http://schemas.microsoft.com/office/powerpoint/2010/main" val="287860370"/>
              </p:ext>
            </p:extLst>
          </p:nvPr>
        </p:nvGraphicFramePr>
        <p:xfrm>
          <a:off x="1340768" y="6897216"/>
          <a:ext cx="3960440" cy="1913745"/>
        </p:xfrm>
        <a:graphic>
          <a:graphicData uri="http://schemas.openxmlformats.org/drawingml/2006/table">
            <a:tbl>
              <a:tblPr firstRow="1" bandRow="1">
                <a:tableStyleId>{5940675A-B579-460E-94D1-54222C63F5DA}</a:tableStyleId>
              </a:tblPr>
              <a:tblGrid>
                <a:gridCol w="876353">
                  <a:extLst>
                    <a:ext uri="{9D8B030D-6E8A-4147-A177-3AD203B41FA5}">
                      <a16:colId xmlns:a16="http://schemas.microsoft.com/office/drawing/2014/main" val="20000"/>
                    </a:ext>
                  </a:extLst>
                </a:gridCol>
                <a:gridCol w="1593369">
                  <a:extLst>
                    <a:ext uri="{9D8B030D-6E8A-4147-A177-3AD203B41FA5}">
                      <a16:colId xmlns:a16="http://schemas.microsoft.com/office/drawing/2014/main" val="20001"/>
                    </a:ext>
                  </a:extLst>
                </a:gridCol>
                <a:gridCol w="876353">
                  <a:extLst>
                    <a:ext uri="{9D8B030D-6E8A-4147-A177-3AD203B41FA5}">
                      <a16:colId xmlns:a16="http://schemas.microsoft.com/office/drawing/2014/main" val="20002"/>
                    </a:ext>
                  </a:extLst>
                </a:gridCol>
                <a:gridCol w="614365">
                  <a:extLst>
                    <a:ext uri="{9D8B030D-6E8A-4147-A177-3AD203B41FA5}">
                      <a16:colId xmlns:a16="http://schemas.microsoft.com/office/drawing/2014/main" val="20003"/>
                    </a:ext>
                  </a:extLst>
                </a:gridCol>
              </a:tblGrid>
              <a:tr h="301670">
                <a:tc>
                  <a:txBody>
                    <a:bodyPr/>
                    <a:lstStyle/>
                    <a:p>
                      <a:pPr algn="ctr" latinLnBrk="1"/>
                      <a:r>
                        <a:rPr lang="es-MX" altLang="ko-KR" sz="1100" b="1" dirty="0">
                          <a:latin typeface="Arial Narrow" panose="020B0606020202030204" pitchFamily="34" charset="0"/>
                          <a:ea typeface="LG스마트체 Regular" panose="020B0600000101010101" pitchFamily="50" charset="-127"/>
                        </a:rPr>
                        <a:t>D</a:t>
                      </a:r>
                      <a:r>
                        <a:rPr lang="ko-KR" altLang="en-US" sz="1100" b="1" dirty="0">
                          <a:latin typeface="Arial Narrow" panose="020B0606020202030204" pitchFamily="34" charset="0"/>
                          <a:ea typeface="LG스마트체 Regular" panose="020B0600000101010101" pitchFamily="50" charset="-127"/>
                        </a:rPr>
                        <a:t>ivision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1"/>
                      <a:r>
                        <a:rPr lang="en-US" altLang="ko-KR" sz="1100" b="1">
                          <a:latin typeface="Arial Narrow" panose="020B0606020202030204" pitchFamily="34" charset="0"/>
                          <a:ea typeface="LG스마트체 Regular" panose="020B0600000101010101" pitchFamily="50" charset="-127"/>
                        </a:rPr>
                        <a:t>HSE</a:t>
                      </a:r>
                      <a:endParaRPr lang="en-US" altLang="ko-KR" sz="1100" b="1" dirty="0">
                        <a:latin typeface="Arial Narrow" panose="020B0606020202030204" pitchFamily="34" charset="0"/>
                        <a:ea typeface="LG스마트체 Regular" panose="020B0600000101010101"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1"/>
                      <a:r>
                        <a:rPr lang="en-US" altLang="ko-KR" sz="1100" b="1" dirty="0">
                          <a:latin typeface="Arial Narrow" panose="020B0606020202030204" pitchFamily="34" charset="0"/>
                          <a:ea typeface="LG스마트체 Regular" panose="020B0600000101010101" pitchFamily="50" charset="-127"/>
                        </a:rPr>
                        <a:t>GM</a:t>
                      </a:r>
                      <a:endParaRPr lang="ko-KR" altLang="en-US" sz="1100" b="1" dirty="0">
                        <a:latin typeface="Arial Narrow" panose="020B0606020202030204" pitchFamily="34" charset="0"/>
                        <a:ea typeface="LG스마트체 Regular" panose="020B0600000101010101"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1"/>
                      <a:r>
                        <a:rPr lang="en-US" altLang="ko-KR" sz="1100" b="1" dirty="0">
                          <a:solidFill>
                            <a:schemeClr val="tx1"/>
                          </a:solidFill>
                          <a:latin typeface="Arial Narrow" panose="020B0606020202030204" pitchFamily="34" charset="0"/>
                          <a:ea typeface="LG스마트체 Regular" panose="020B0600000101010101" pitchFamily="50" charset="-127"/>
                        </a:rPr>
                        <a:t>Customer X</a:t>
                      </a:r>
                      <a:endParaRPr lang="ko-KR" altLang="en-US" sz="1100" b="1" dirty="0">
                        <a:solidFill>
                          <a:schemeClr val="tx1"/>
                        </a:solidFill>
                        <a:latin typeface="Arial Narrow" panose="020B0606020202030204" pitchFamily="34" charset="0"/>
                        <a:ea typeface="LG스마트체 Regular" panose="020B0600000101010101"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526155">
                <a:tc>
                  <a:txBody>
                    <a:bodyPr/>
                    <a:lstStyle/>
                    <a:p>
                      <a:pPr algn="ctr" latinLnBrk="1"/>
                      <a:r>
                        <a:rPr lang="en-US" altLang="ko-KR" sz="1100" dirty="0">
                          <a:solidFill>
                            <a:srgbClr val="0070C0"/>
                          </a:solidFill>
                          <a:latin typeface="Arial Narrow" panose="020B0606020202030204" pitchFamily="34" charset="0"/>
                          <a:ea typeface="LG스마트체 Regular" panose="020B0600000101010101" pitchFamily="50" charset="-127"/>
                        </a:rPr>
                        <a:t>System audit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1100" b="0">
                          <a:solidFill>
                            <a:srgbClr val="0070C0"/>
                          </a:solidFill>
                          <a:latin typeface="Arial Narrow" panose="020B0606020202030204" pitchFamily="34" charset="0"/>
                          <a:ea typeface="LG스마트체 Regular" panose="020B0600000101010101" pitchFamily="50" charset="-127"/>
                        </a:rPr>
                        <a:t>Quality System Audit List</a:t>
                      </a:r>
                      <a:endParaRPr lang="en-US" altLang="ko-KR" sz="1100" b="0" dirty="0">
                        <a:solidFill>
                          <a:srgbClr val="0070C0"/>
                        </a:solidFill>
                        <a:latin typeface="Arial Narrow" panose="020B0606020202030204" pitchFamily="34" charset="0"/>
                        <a:ea typeface="LG스마트체 Regular" panose="020B0600000101010101"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1"/>
                      <a:r>
                        <a:rPr lang="en-US" altLang="ko-KR" sz="1100" dirty="0">
                          <a:latin typeface="Arial Narrow" panose="020B0606020202030204" pitchFamily="34" charset="0"/>
                          <a:ea typeface="LG스마트체 Regular" panose="020B0600000101010101" pitchFamily="50" charset="-127"/>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Arial Narrow" panose="020B0606020202030204" pitchFamily="34" charset="0"/>
                          <a:ea typeface="LG스마트체 Regular" panose="020B0600000101010101" pitchFamily="50" charset="-127"/>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26155">
                <a:tc>
                  <a:txBody>
                    <a:bodyPr/>
                    <a:lstStyle/>
                    <a:p>
                      <a:pPr algn="ctr" latinLnBrk="1"/>
                      <a:r>
                        <a:rPr lang="en-US" altLang="ko-KR" sz="1100" dirty="0">
                          <a:latin typeface="Arial Narrow" panose="020B0606020202030204" pitchFamily="34" charset="0"/>
                          <a:ea typeface="LG스마트체 Regular" panose="020B0600000101010101" pitchFamily="50" charset="-127"/>
                        </a:rPr>
                        <a:t>Process audit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lnSpc>
                          <a:spcPct val="100000"/>
                        </a:lnSpc>
                      </a:pPr>
                      <a:r>
                        <a:rPr lang="en-US" altLang="ko-KR" sz="1050" b="0">
                          <a:latin typeface="Arial Narrow" panose="020B0606020202030204" pitchFamily="34" charset="0"/>
                          <a:ea typeface="LG스마트체 Regular" panose="020B0600000101010101" pitchFamily="50" charset="-127"/>
                        </a:rPr>
                        <a:t>VDA 6.3</a:t>
                      </a:r>
                      <a:endParaRPr lang="en-US" altLang="ko-KR" sz="1050" b="0" dirty="0">
                        <a:latin typeface="Arial Narrow" panose="020B0606020202030204" pitchFamily="34" charset="0"/>
                        <a:ea typeface="LG스마트체 Regular" panose="020B0600000101010101"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1"/>
                      <a:r>
                        <a:rPr lang="en-US" altLang="ko-KR" sz="1100" dirty="0">
                          <a:latin typeface="Arial Narrow" panose="020B0606020202030204" pitchFamily="34" charset="0"/>
                          <a:ea typeface="LG스마트체 Regular" panose="020B0600000101010101" pitchFamily="50" charset="-127"/>
                        </a:rPr>
                        <a:t>LPA</a:t>
                      </a:r>
                    </a:p>
                    <a:p>
                      <a:pPr algn="ctr" latinLnBrk="1"/>
                      <a:r>
                        <a:rPr lang="en-US" altLang="ko-KR" sz="1100" dirty="0">
                          <a:latin typeface="Arial Narrow" panose="020B0606020202030204" pitchFamily="34" charset="0"/>
                          <a:ea typeface="LG스마트체 Regular" panose="020B0600000101010101" pitchFamily="50" charset="-127"/>
                        </a:rPr>
                        <a:t>CQI</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solidFill>
                            <a:schemeClr val="tx1"/>
                          </a:solidFill>
                          <a:latin typeface="Arial Narrow" panose="020B0606020202030204" pitchFamily="34" charset="0"/>
                          <a:ea typeface="LG스마트체 Regular" panose="020B0600000101010101" pitchFamily="50" charset="-127"/>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26155">
                <a:tc>
                  <a:txBody>
                    <a:bodyPr/>
                    <a:lstStyle/>
                    <a:p>
                      <a:pPr algn="ctr" latinLnBrk="1"/>
                      <a:r>
                        <a:rPr lang="en-US" altLang="ko-KR" sz="1100" dirty="0">
                          <a:latin typeface="Arial Narrow" panose="020B0606020202030204" pitchFamily="34" charset="0"/>
                          <a:ea typeface="LG스마트체 Regular" panose="020B0600000101010101" pitchFamily="50" charset="-127"/>
                        </a:rPr>
                        <a:t>Product audit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lnSpc>
                          <a:spcPct val="100000"/>
                        </a:lnSpc>
                      </a:pPr>
                      <a:r>
                        <a:rPr lang="en-US" altLang="ko-KR" sz="1050" b="0">
                          <a:latin typeface="Arial Narrow" panose="020B0606020202030204" pitchFamily="34" charset="0"/>
                          <a:ea typeface="LG스마트체 Regular" panose="020B0600000101010101" pitchFamily="50" charset="-127"/>
                        </a:rPr>
                        <a:t>VDA 6.5</a:t>
                      </a:r>
                      <a:endParaRPr lang="en-US" altLang="ko-KR" sz="1050" b="0" dirty="0">
                        <a:latin typeface="Arial Narrow" panose="020B0606020202030204" pitchFamily="34" charset="0"/>
                        <a:ea typeface="LG스마트체 Regular" panose="020B0600000101010101"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1"/>
                      <a:r>
                        <a:rPr lang="en-US" altLang="ko-KR" sz="1100" dirty="0">
                          <a:latin typeface="Arial Narrow" panose="020B0606020202030204" pitchFamily="34" charset="0"/>
                          <a:ea typeface="LG스마트체 Regular" panose="020B0600000101010101" pitchFamily="50" charset="-127"/>
                        </a:rPr>
                        <a:t>N/A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1100" dirty="0">
                          <a:solidFill>
                            <a:schemeClr val="tx1"/>
                          </a:solidFill>
                          <a:latin typeface="Arial Narrow" panose="020B0606020202030204" pitchFamily="34" charset="0"/>
                          <a:ea typeface="LG스마트체 Regular" panose="020B0600000101010101" pitchFamily="50" charset="-127"/>
                        </a:rPr>
                        <a:t>-</a:t>
                      </a:r>
                      <a:endParaRPr lang="ko-KR" altLang="en-US" sz="1100" dirty="0">
                        <a:solidFill>
                          <a:schemeClr val="tx1"/>
                        </a:solidFill>
                        <a:latin typeface="Arial Narrow" panose="020B0606020202030204" pitchFamily="34" charset="0"/>
                        <a:ea typeface="LG스마트체 Regular" panose="020B0600000101010101" pitchFamily="50" charset="-127"/>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직사각형 2">
            <a:extLst>
              <a:ext uri="{FF2B5EF4-FFF2-40B4-BE49-F238E27FC236}">
                <a16:creationId xmlns:a16="http://schemas.microsoft.com/office/drawing/2014/main" id="{1B686AF8-C892-F320-E634-9975BF9C8645}"/>
              </a:ext>
            </a:extLst>
          </p:cNvPr>
          <p:cNvSpPr>
            <a:spLocks noChangeArrowheads="1"/>
          </p:cNvSpPr>
          <p:nvPr/>
        </p:nvSpPr>
        <p:spPr bwMode="auto">
          <a:xfrm>
            <a:off x="2420888" y="8879610"/>
            <a:ext cx="2376264" cy="400110"/>
          </a:xfrm>
          <a:prstGeom prst="rect">
            <a:avLst/>
          </a:prstGeom>
          <a:noFill/>
          <a:ln w="9525">
            <a:noFill/>
            <a:miter lim="800000"/>
            <a:headEnd/>
            <a:tailEnd/>
          </a:ln>
        </p:spPr>
        <p:txBody>
          <a:bodyPr wrap="square">
            <a:spAutoFit/>
          </a:bodyPr>
          <a:lstStyle/>
          <a:p>
            <a:pPr algn="l" eaLnBrk="1" latinLnBrk="1" hangingPunct="1">
              <a:spcBef>
                <a:spcPts val="0"/>
              </a:spcBef>
            </a:pPr>
            <a:r>
              <a:rPr lang="en-US" altLang="ko-KR" sz="1000" b="0" dirty="0">
                <a:solidFill>
                  <a:srgbClr val="008000"/>
                </a:solidFill>
                <a:latin typeface="Arial Narrow" panose="020B0606020202030204" pitchFamily="34" charset="0"/>
                <a:ea typeface="LG스마트체 Regular" panose="020B0600000101010101" pitchFamily="50" charset="-127"/>
                <a:cs typeface="Arial" charset="0"/>
              </a:rPr>
              <a:t>If applicable,</a:t>
            </a:r>
          </a:p>
          <a:p>
            <a:pPr algn="l" eaLnBrk="1" latinLnBrk="1" hangingPunct="1">
              <a:spcBef>
                <a:spcPts val="0"/>
              </a:spcBef>
            </a:pPr>
            <a:r>
              <a:rPr lang="en-US" altLang="ko-KR" sz="1000" b="0" dirty="0">
                <a:solidFill>
                  <a:srgbClr val="008000"/>
                </a:solidFill>
                <a:latin typeface="Arial Narrow" panose="020B0606020202030204" pitchFamily="34" charset="0"/>
                <a:ea typeface="LG스마트체 Regular" panose="020B0600000101010101" pitchFamily="50" charset="-127"/>
                <a:cs typeface="Arial" charset="0"/>
              </a:rPr>
              <a:t>(If not applicable, follow internal program)</a:t>
            </a:r>
          </a:p>
        </p:txBody>
      </p:sp>
    </p:spTree>
    <p:extLst>
      <p:ext uri="{BB962C8B-B14F-4D97-AF65-F5344CB8AC3E}">
        <p14:creationId xmlns:p14="http://schemas.microsoft.com/office/powerpoint/2010/main" val="55512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2AD6F-CE05-05EE-19AC-1625CFCAD2C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367047A-A04D-869E-2095-B395DA91D7F4}"/>
              </a:ext>
            </a:extLst>
          </p:cNvPr>
          <p:cNvSpPr>
            <a:spLocks noChangeArrowheads="1"/>
          </p:cNvSpPr>
          <p:nvPr/>
        </p:nvSpPr>
        <p:spPr bwMode="auto">
          <a:xfrm>
            <a:off x="116731" y="1280592"/>
            <a:ext cx="6624637" cy="7579640"/>
          </a:xfrm>
          <a:prstGeom prst="rect">
            <a:avLst/>
          </a:prstGeom>
          <a:noFill/>
          <a:ln w="9525">
            <a:noFill/>
            <a:miter lim="800000"/>
            <a:headEnd/>
            <a:tailEnd/>
          </a:ln>
        </p:spPr>
        <p:txBody>
          <a:bodyPr lIns="92075" tIns="46038" rIns="92075" bIns="46038">
            <a:spAutoFit/>
          </a:bodyPr>
          <a:lstStyle/>
          <a:p>
            <a:pPr algn="just" defTabSz="762000" latinLnBrk="1">
              <a:lnSpc>
                <a:spcPct val="150000"/>
              </a:lnSpc>
              <a:spcBef>
                <a:spcPts val="100"/>
              </a:spcBef>
            </a:pPr>
            <a:r>
              <a:rPr lang="en-US" altLang="ko-KR" sz="1200" b="1" dirty="0">
                <a:latin typeface="Arial Narrow" pitchFamily="34" charset="0"/>
                <a:ea typeface="Dotum" pitchFamily="34" charset="-127"/>
                <a:cs typeface="Arial" pitchFamily="34" charset="0"/>
              </a:rPr>
              <a:t>Article 5.</a:t>
            </a:r>
            <a:r>
              <a:rPr lang="en-US" altLang="ko-KR" sz="1200" b="1" dirty="0">
                <a:latin typeface="Arial Narrow" pitchFamily="34" charset="0"/>
                <a:ea typeface="Dotum" pitchFamily="34" charset="-127"/>
                <a:cs typeface="Arial" charset="0"/>
              </a:rPr>
              <a:t>3 Perform audit</a:t>
            </a:r>
            <a:endParaRPr lang="en-US" altLang="ko-KR" sz="1200" dirty="0">
              <a:latin typeface="Arial Narrow" pitchFamily="34" charset="0"/>
              <a:ea typeface="Dotum" pitchFamily="34" charset="-127"/>
              <a:cs typeface="Arial" charset="0"/>
            </a:endParaRPr>
          </a:p>
          <a:p>
            <a:pPr marL="228600" indent="-228600" algn="just" defTabSz="762000" latinLnBrk="1">
              <a:lnSpc>
                <a:spcPct val="150000"/>
              </a:lnSpc>
              <a:spcBef>
                <a:spcPts val="100"/>
              </a:spcBef>
              <a:buAutoNum type="alphaUcParenR"/>
            </a:pPr>
            <a:r>
              <a:rPr lang="en-US" altLang="ko-KR" sz="1200" b="0" dirty="0">
                <a:latin typeface="Arial Narrow" pitchFamily="34" charset="0"/>
                <a:ea typeface="Dotum" pitchFamily="34" charset="-127"/>
                <a:cs typeface="Arial" charset="0"/>
              </a:rPr>
              <a:t>The auditor interviews the audit items, confirms the results of the work, confirms the documents, The examination shall be conducted on the basis of objective evidence. The audited data range is at least 6 recent months to </a:t>
            </a:r>
            <a:r>
              <a:rPr lang="en-GB" altLang="ko-KR" sz="1200" b="0" dirty="0">
                <a:latin typeface="Arial Narrow" pitchFamily="34" charset="0"/>
                <a:ea typeface="Dotum" pitchFamily="34" charset="-127"/>
                <a:cs typeface="Arial" charset="0"/>
              </a:rPr>
              <a:t>evaluate objectively about the quality improvement tendency.</a:t>
            </a:r>
          </a:p>
          <a:p>
            <a:pPr marL="228600" indent="-228600" algn="just" defTabSz="762000" latinLnBrk="1">
              <a:lnSpc>
                <a:spcPct val="150000"/>
              </a:lnSpc>
              <a:spcBef>
                <a:spcPts val="100"/>
              </a:spcBef>
              <a:buAutoNum type="alphaUcParenR"/>
            </a:pPr>
            <a:r>
              <a:rPr lang="en-US" altLang="ko-KR" sz="1200" b="0" dirty="0">
                <a:latin typeface="Arial Narrow" pitchFamily="34" charset="0"/>
                <a:ea typeface="Dotum" pitchFamily="34" charset="-127"/>
                <a:cs typeface="Arial" charset="0"/>
              </a:rPr>
              <a:t>The auditor may request the auditee department to improve the nonconformity when it finds any nonconformity.</a:t>
            </a:r>
          </a:p>
          <a:p>
            <a:pPr marL="228600" indent="-228600" algn="just" defTabSz="762000" latinLnBrk="1">
              <a:lnSpc>
                <a:spcPct val="150000"/>
              </a:lnSpc>
              <a:spcBef>
                <a:spcPts val="100"/>
              </a:spcBef>
              <a:buAutoNum type="alphaUcParenR"/>
            </a:pPr>
            <a:r>
              <a:rPr lang="en-US" altLang="ko-KR" sz="1200" b="0" dirty="0">
                <a:latin typeface="Arial Narrow" pitchFamily="34" charset="0"/>
                <a:ea typeface="Dotum" pitchFamily="34" charset="-127"/>
                <a:cs typeface="Arial" charset="0"/>
              </a:rPr>
              <a:t>The auditor shall communicate the corrective action request to the representative of the </a:t>
            </a:r>
            <a:r>
              <a:rPr lang="en-US" altLang="ko-KR" sz="1200" dirty="0">
                <a:latin typeface="Arial Narrow" pitchFamily="34" charset="0"/>
                <a:ea typeface="Dotum" pitchFamily="34" charset="-127"/>
                <a:cs typeface="Arial" charset="0"/>
              </a:rPr>
              <a:t>audited </a:t>
            </a:r>
            <a:r>
              <a:rPr lang="en-US" altLang="ko-KR" sz="1200" b="0" dirty="0">
                <a:latin typeface="Arial Narrow" pitchFamily="34" charset="0"/>
                <a:ea typeface="Dotum" pitchFamily="34" charset="-127"/>
                <a:cs typeface="Arial" charset="0"/>
              </a:rPr>
              <a:t>department.</a:t>
            </a:r>
          </a:p>
          <a:p>
            <a:pPr marL="228600" indent="-228600" algn="just" defTabSz="762000" latinLnBrk="1">
              <a:lnSpc>
                <a:spcPct val="150000"/>
              </a:lnSpc>
              <a:spcBef>
                <a:spcPts val="100"/>
              </a:spcBef>
              <a:buAutoNum type="alphaUcParenR"/>
            </a:pPr>
            <a:r>
              <a:rPr lang="en-US" altLang="ko-KR" sz="1200" b="0" dirty="0">
                <a:latin typeface="Arial Narrow" pitchFamily="34" charset="0"/>
                <a:ea typeface="Dotum" pitchFamily="34" charset="-127"/>
                <a:cs typeface="Arial" charset="0"/>
              </a:rPr>
              <a:t>If the auditor is unable to conduct the audit during the scheduled audit period, or re schedule the audit in order to complete it</a:t>
            </a:r>
            <a:r>
              <a:rPr lang="en-US" altLang="ko-KR" sz="1200" dirty="0">
                <a:latin typeface="Arial Narrow" pitchFamily="34" charset="0"/>
                <a:ea typeface="Dotum" pitchFamily="34" charset="-127"/>
                <a:cs typeface="Arial" charset="0"/>
              </a:rPr>
              <a:t>. </a:t>
            </a:r>
            <a:r>
              <a:rPr lang="en-US" altLang="ko-KR" sz="1200" b="0" dirty="0">
                <a:latin typeface="Arial Narrow" pitchFamily="34" charset="0"/>
                <a:ea typeface="Dotum" pitchFamily="34" charset="-127"/>
                <a:cs typeface="Arial" charset="0"/>
              </a:rPr>
              <a:t>Information shall be handed over and carried out under the supervision of the </a:t>
            </a:r>
            <a:r>
              <a:rPr lang="en-US" altLang="ko-KR" sz="1200" dirty="0">
                <a:latin typeface="Arial Narrow" pitchFamily="34" charset="0"/>
                <a:ea typeface="Dotum" pitchFamily="34" charset="-127"/>
                <a:cs typeface="Arial" charset="0"/>
              </a:rPr>
              <a:t>lead auditor </a:t>
            </a:r>
            <a:r>
              <a:rPr lang="en-US" altLang="ko-KR" sz="1200" b="0" dirty="0">
                <a:latin typeface="Arial Narrow" pitchFamily="34" charset="0"/>
                <a:ea typeface="Dotum" pitchFamily="34" charset="-127"/>
                <a:cs typeface="Arial" charset="0"/>
              </a:rPr>
              <a:t>or the </a:t>
            </a:r>
            <a:r>
              <a:rPr lang="en-US" altLang="ko-KR" sz="1200" dirty="0">
                <a:latin typeface="Arial Narrow" pitchFamily="34" charset="0"/>
                <a:ea typeface="Dotum" pitchFamily="34" charset="-127"/>
                <a:cs typeface="Arial" charset="0"/>
              </a:rPr>
              <a:t>QP/CS Part Leader</a:t>
            </a:r>
            <a:r>
              <a:rPr lang="en-US" altLang="ko-KR" sz="1200" b="0" dirty="0">
                <a:latin typeface="Arial Narrow" pitchFamily="34" charset="0"/>
                <a:ea typeface="Dotum" pitchFamily="34" charset="-127"/>
                <a:cs typeface="Arial" charset="0"/>
              </a:rPr>
              <a:t>. </a:t>
            </a:r>
          </a:p>
          <a:p>
            <a:pPr marL="228600" indent="-228600" algn="just" defTabSz="762000" latinLnBrk="1">
              <a:lnSpc>
                <a:spcPct val="150000"/>
              </a:lnSpc>
              <a:spcBef>
                <a:spcPts val="100"/>
              </a:spcBef>
              <a:buAutoNum type="alphaUcParenR"/>
            </a:pPr>
            <a:endParaRPr lang="es-MX" altLang="ko-KR" sz="1200" dirty="0">
              <a:latin typeface="Arial Narrow" pitchFamily="34" charset="0"/>
              <a:ea typeface="Dotum" pitchFamily="34" charset="-127"/>
              <a:cs typeface="Arial" charset="0"/>
            </a:endParaRPr>
          </a:p>
          <a:p>
            <a:pPr algn="l" defTabSz="762000" eaLnBrk="1" latinLnBrk="1" hangingPunct="1">
              <a:spcBef>
                <a:spcPts val="100"/>
              </a:spcBef>
            </a:pPr>
            <a:r>
              <a:rPr lang="en-US" altLang="ko-KR" sz="1200" b="1" dirty="0">
                <a:latin typeface="Arial Narrow" pitchFamily="34" charset="0"/>
                <a:ea typeface="Dotum" pitchFamily="34" charset="-127"/>
                <a:cs typeface="Arial" charset="0"/>
              </a:rPr>
              <a:t> Article 5.4. Non-conformity report </a:t>
            </a:r>
            <a:endParaRPr lang="vi-VN" altLang="ko-KR" sz="1200" b="1" dirty="0">
              <a:latin typeface="Arial Narrow" pitchFamily="34" charset="0"/>
              <a:ea typeface="Dotum" pitchFamily="34" charset="-127"/>
              <a:cs typeface="Arial" charset="0"/>
            </a:endParaRPr>
          </a:p>
          <a:p>
            <a:pPr algn="l" defTabSz="762000" eaLnBrk="1" latinLnBrk="1" hangingPunct="1">
              <a:spcBef>
                <a:spcPts val="100"/>
              </a:spcBef>
            </a:pPr>
            <a:r>
              <a:rPr lang="vi-VN" altLang="ko-KR" sz="1200" b="1" dirty="0">
                <a:latin typeface="Arial Narrow" pitchFamily="34" charset="0"/>
                <a:ea typeface="Dotum" pitchFamily="34" charset="-127"/>
                <a:cs typeface="Arial" charset="0"/>
              </a:rPr>
              <a:t>  </a:t>
            </a:r>
            <a:r>
              <a:rPr lang="en-US" altLang="ko-KR" sz="1200" b="1" dirty="0">
                <a:latin typeface="Arial Narrow" pitchFamily="34" charset="0"/>
                <a:ea typeface="Dotum" pitchFamily="34" charset="-127"/>
                <a:cs typeface="Arial" charset="0"/>
              </a:rPr>
              <a:t>  </a:t>
            </a:r>
            <a:r>
              <a:rPr lang="en-US" altLang="ko-KR" sz="1200" dirty="0">
                <a:latin typeface="Arial Narrow" pitchFamily="34" charset="0"/>
                <a:ea typeface="Dotum" pitchFamily="34" charset="-127"/>
                <a:cs typeface="Arial" charset="0"/>
              </a:rPr>
              <a:t>5.4.1. Non-conformity report</a:t>
            </a:r>
          </a:p>
          <a:p>
            <a:pPr marL="228600" indent="-228600" algn="l" defTabSz="762000" eaLnBrk="1" latinLnBrk="1" hangingPunct="1">
              <a:lnSpc>
                <a:spcPct val="150000"/>
              </a:lnSpc>
              <a:spcBef>
                <a:spcPts val="100"/>
              </a:spcBef>
              <a:buAutoNum type="alphaUcParenR"/>
            </a:pPr>
            <a:r>
              <a:rPr lang="en-US" altLang="ko-KR" sz="1200" dirty="0">
                <a:latin typeface="Arial Narrow" pitchFamily="34" charset="0"/>
                <a:ea typeface="Dotum" pitchFamily="34" charset="-127"/>
                <a:cs typeface="Arial" charset="0"/>
              </a:rPr>
              <a:t>The auditor shall fill in the nonconformity report found at the time of examination and receive confirmation from the audited department.</a:t>
            </a:r>
          </a:p>
          <a:p>
            <a:pPr marL="228600" indent="-228600" algn="l" defTabSz="762000" eaLnBrk="1" latinLnBrk="1" hangingPunct="1">
              <a:lnSpc>
                <a:spcPct val="150000"/>
              </a:lnSpc>
              <a:spcBef>
                <a:spcPts val="100"/>
              </a:spcBef>
              <a:buAutoNum type="alphaUcParenR"/>
            </a:pPr>
            <a:r>
              <a:rPr lang="en-US" altLang="ko-KR" sz="1200" dirty="0">
                <a:latin typeface="Arial Narrow" pitchFamily="34" charset="0"/>
                <a:ea typeface="Dotum" pitchFamily="34" charset="-127"/>
                <a:cs typeface="Arial" charset="0"/>
              </a:rPr>
              <a:t>In the nonconformity report, evidence of nonconformity is attached as much as possible.</a:t>
            </a:r>
          </a:p>
          <a:p>
            <a:pPr marL="228600" indent="-228600" algn="l" defTabSz="762000" eaLnBrk="1" latinLnBrk="1" hangingPunct="1">
              <a:lnSpc>
                <a:spcPct val="150000"/>
              </a:lnSpc>
              <a:spcBef>
                <a:spcPts val="100"/>
              </a:spcBef>
              <a:buAutoNum type="alphaUcParenR"/>
            </a:pPr>
            <a:r>
              <a:rPr lang="en-US" altLang="ko-KR" sz="1200" dirty="0">
                <a:latin typeface="Arial Narrow" pitchFamily="34" charset="0"/>
                <a:ea typeface="Dotum" pitchFamily="34" charset="-127"/>
                <a:cs typeface="Arial" charset="0"/>
              </a:rPr>
              <a:t>Quality Planning Part Leader confirms the nonconformity report and notifies the audited department in writing.</a:t>
            </a:r>
          </a:p>
          <a:p>
            <a:pPr algn="l" defTabSz="762000" eaLnBrk="1" latinLnBrk="1" hangingPunct="1">
              <a:lnSpc>
                <a:spcPct val="150000"/>
              </a:lnSpc>
              <a:spcBef>
                <a:spcPts val="100"/>
              </a:spcBef>
            </a:pPr>
            <a:endParaRPr lang="en-US" altLang="ko-KR" sz="1200" dirty="0">
              <a:latin typeface="Arial Narrow" pitchFamily="34" charset="0"/>
              <a:ea typeface="Dotum" pitchFamily="34" charset="-127"/>
              <a:cs typeface="Arial" charset="0"/>
            </a:endParaRPr>
          </a:p>
          <a:p>
            <a:pPr marL="182880" algn="l" defTabSz="762000" eaLnBrk="1" latinLnBrk="1" hangingPunct="1">
              <a:lnSpc>
                <a:spcPct val="150000"/>
              </a:lnSpc>
              <a:spcBef>
                <a:spcPts val="100"/>
              </a:spcBef>
            </a:pPr>
            <a:r>
              <a:rPr lang="en-US" altLang="ko-KR" sz="1200" dirty="0">
                <a:latin typeface="Arial Narrow" pitchFamily="34" charset="0"/>
                <a:ea typeface="Dotum" pitchFamily="34" charset="-127"/>
                <a:cs typeface="Arial" charset="0"/>
              </a:rPr>
              <a:t>5.4.2. Corrective and preventive action</a:t>
            </a:r>
          </a:p>
          <a:p>
            <a:pPr marL="411480" indent="-228600" algn="l" defTabSz="762000" eaLnBrk="1" latinLnBrk="1" hangingPunct="1">
              <a:lnSpc>
                <a:spcPct val="150000"/>
              </a:lnSpc>
              <a:spcBef>
                <a:spcPts val="100"/>
              </a:spcBef>
              <a:buAutoNum type="alphaUcParenR"/>
            </a:pPr>
            <a:r>
              <a:rPr lang="en-US" altLang="ko-KR" sz="1200" dirty="0">
                <a:latin typeface="Arial Narrow" pitchFamily="34" charset="0"/>
                <a:ea typeface="Dotum" pitchFamily="34" charset="-127"/>
                <a:cs typeface="Arial" charset="0"/>
              </a:rPr>
              <a:t>The owner of the process, where the Non-conformance was found, defines the cause using a methodology of analysis. Where the methodology is not defined previous to the analysis of cause, the 5 whys methodology would be used focused in the systemic cause, occurrence and detection can be omitted depending of nature of the case.</a:t>
            </a:r>
          </a:p>
          <a:p>
            <a:pPr marL="411480" indent="-228600" algn="l" defTabSz="762000" eaLnBrk="1" latinLnBrk="1" hangingPunct="1">
              <a:lnSpc>
                <a:spcPct val="150000"/>
              </a:lnSpc>
              <a:spcBef>
                <a:spcPts val="100"/>
              </a:spcBef>
              <a:buAutoNum type="alphaUcParenR"/>
            </a:pPr>
            <a:r>
              <a:rPr lang="en-US" altLang="ko-KR" sz="1200" dirty="0">
                <a:latin typeface="Arial Narrow" pitchFamily="34" charset="0"/>
                <a:ea typeface="Dotum" pitchFamily="34" charset="-127"/>
                <a:cs typeface="Arial" charset="0"/>
              </a:rPr>
              <a:t>The audited department shall prepare a corrective and preventive action plan for nonconformities in accordance with the corrective action request, and send it to the Quality Planning Part within the require date. The required lead time for improvement is within 14 days, except long term action plan.</a:t>
            </a:r>
          </a:p>
          <a:p>
            <a:pPr marL="411480" indent="-228600" algn="l" defTabSz="762000" eaLnBrk="1" latinLnBrk="1" hangingPunct="1">
              <a:lnSpc>
                <a:spcPct val="150000"/>
              </a:lnSpc>
              <a:spcBef>
                <a:spcPts val="100"/>
              </a:spcBef>
              <a:buAutoNum type="alphaUcParenR"/>
            </a:pPr>
            <a:r>
              <a:rPr lang="en-US" altLang="ko-KR" sz="1200" dirty="0">
                <a:latin typeface="Arial Narrow" pitchFamily="34" charset="0"/>
                <a:ea typeface="Dotum" pitchFamily="34" charset="-127"/>
                <a:cs typeface="Arial" charset="0"/>
              </a:rPr>
              <a:t>The audited department shall notify the Quality Planning Part of the results of the action according to the corrective and preventive action plan.</a:t>
            </a:r>
          </a:p>
        </p:txBody>
      </p:sp>
    </p:spTree>
    <p:extLst>
      <p:ext uri="{BB962C8B-B14F-4D97-AF65-F5344CB8AC3E}">
        <p14:creationId xmlns:p14="http://schemas.microsoft.com/office/powerpoint/2010/main" val="1885597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8A63-A075-6258-EF69-1780D69A802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A5DE48E-52E2-284B-7692-23B501F560E1}"/>
              </a:ext>
            </a:extLst>
          </p:cNvPr>
          <p:cNvSpPr>
            <a:spLocks noChangeArrowheads="1"/>
          </p:cNvSpPr>
          <p:nvPr/>
        </p:nvSpPr>
        <p:spPr bwMode="auto">
          <a:xfrm>
            <a:off x="116632" y="1230578"/>
            <a:ext cx="6625480" cy="8644996"/>
          </a:xfrm>
          <a:prstGeom prst="rect">
            <a:avLst/>
          </a:prstGeom>
          <a:noFill/>
          <a:ln w="9525">
            <a:noFill/>
            <a:miter lim="800000"/>
            <a:headEnd/>
            <a:tailEnd/>
          </a:ln>
        </p:spPr>
        <p:txBody>
          <a:bodyPr wrap="square" lIns="92075" tIns="46038" rIns="92075" bIns="46038">
            <a:spAutoFit/>
          </a:bodyPr>
          <a:lstStyle/>
          <a:p>
            <a:pPr algn="just" defTabSz="762000" eaLnBrk="1" latinLnBrk="1" hangingPunct="1">
              <a:lnSpc>
                <a:spcPct val="150000"/>
              </a:lnSpc>
              <a:spcBef>
                <a:spcPts val="0"/>
              </a:spcBef>
            </a:pPr>
            <a:r>
              <a:rPr lang="en-US" altLang="ko-KR" sz="1200" b="1" dirty="0">
                <a:latin typeface="Arial Narrow" pitchFamily="34" charset="0"/>
                <a:ea typeface="Dotum" pitchFamily="34" charset="-127"/>
                <a:cs typeface="Arial" pitchFamily="34" charset="0"/>
              </a:rPr>
              <a:t>Article 5.5. Report of audit result</a:t>
            </a:r>
          </a:p>
          <a:p>
            <a:pPr algn="just" defTabSz="762000" eaLnBrk="1" latinLnBrk="1" hangingPunct="1">
              <a:lnSpc>
                <a:spcPct val="150000"/>
              </a:lnSpc>
              <a:spcBef>
                <a:spcPts val="0"/>
              </a:spcBef>
            </a:pPr>
            <a:r>
              <a:rPr lang="en-US" altLang="ko-KR" sz="1200" dirty="0">
                <a:latin typeface="Arial Narrow" pitchFamily="34" charset="0"/>
                <a:ea typeface="Dotum" pitchFamily="34" charset="-127"/>
                <a:cs typeface="Arial" charset="0"/>
              </a:rPr>
              <a:t>Quality Planning Part Leader </a:t>
            </a:r>
            <a:r>
              <a:rPr lang="en-US" altLang="ko-KR" sz="1200" b="0" dirty="0">
                <a:latin typeface="Arial Narrow" pitchFamily="34" charset="0"/>
                <a:ea typeface="Dotum" pitchFamily="34" charset="-127"/>
                <a:cs typeface="Arial" pitchFamily="34" charset="0"/>
              </a:rPr>
              <a:t>shall prepare a report on the result of the audit that includes the nonconformities of each department and report it </a:t>
            </a:r>
            <a:r>
              <a:rPr lang="en-US" altLang="ko-KR" sz="1200" dirty="0">
                <a:latin typeface="Arial Narrow" pitchFamily="34" charset="0"/>
                <a:ea typeface="Dotum" pitchFamily="34" charset="-127"/>
                <a:cs typeface="Arial" pitchFamily="34" charset="0"/>
              </a:rPr>
              <a:t>to the top management, President </a:t>
            </a:r>
            <a:r>
              <a:rPr lang="en-US" altLang="ko-KR" sz="1200" b="0" dirty="0">
                <a:latin typeface="Arial Narrow" pitchFamily="34" charset="0"/>
                <a:ea typeface="Dotum" pitchFamily="34" charset="-127"/>
                <a:cs typeface="Arial" pitchFamily="34" charset="0"/>
              </a:rPr>
              <a:t>and FSE in HSE. </a:t>
            </a:r>
          </a:p>
          <a:p>
            <a:pPr algn="just" defTabSz="762000" eaLnBrk="1" latinLnBrk="1" hangingPunct="1">
              <a:lnSpc>
                <a:spcPct val="150000"/>
              </a:lnSpc>
              <a:spcBef>
                <a:spcPts val="0"/>
              </a:spcBef>
            </a:pPr>
            <a:r>
              <a:rPr lang="en-US" altLang="ko-KR" sz="1200" b="0" dirty="0">
                <a:latin typeface="Arial Narrow" pitchFamily="34" charset="0"/>
                <a:ea typeface="Dotum" pitchFamily="34" charset="-127"/>
                <a:cs typeface="Arial" pitchFamily="34" charset="0"/>
              </a:rPr>
              <a:t>In addition, the audit result report shall be reported at the quality meeting or management meeting for management review.</a:t>
            </a:r>
            <a:endParaRPr lang="en-US" altLang="ko-KR" sz="1200" dirty="0">
              <a:latin typeface="Arial Narrow" pitchFamily="34" charset="0"/>
              <a:ea typeface="Dotum" pitchFamily="34" charset="-127"/>
              <a:cs typeface="Arial" pitchFamily="34" charset="0"/>
            </a:endParaRPr>
          </a:p>
          <a:p>
            <a:pPr algn="just" defTabSz="762000" eaLnBrk="1" latinLnBrk="1" hangingPunct="1">
              <a:lnSpc>
                <a:spcPct val="150000"/>
              </a:lnSpc>
              <a:spcBef>
                <a:spcPts val="0"/>
              </a:spcBef>
            </a:pPr>
            <a:r>
              <a:rPr lang="en-US" altLang="ko-KR" sz="1200" dirty="0">
                <a:latin typeface="Arial Narrow" pitchFamily="34" charset="0"/>
                <a:ea typeface="Dotum" pitchFamily="34" charset="-127"/>
                <a:cs typeface="Arial" pitchFamily="34" charset="0"/>
              </a:rPr>
              <a:t>Confirm corrective action:</a:t>
            </a:r>
          </a:p>
          <a:p>
            <a:pPr algn="just" defTabSz="762000" eaLnBrk="1" latinLnBrk="1" hangingPunct="1">
              <a:lnSpc>
                <a:spcPct val="150000"/>
              </a:lnSpc>
              <a:spcBef>
                <a:spcPts val="0"/>
              </a:spcBef>
            </a:pPr>
            <a:r>
              <a:rPr lang="en-US" altLang="ko-KR" sz="1200" dirty="0">
                <a:latin typeface="Arial Narrow" pitchFamily="34" charset="0"/>
                <a:ea typeface="Dotum" pitchFamily="34" charset="-127"/>
                <a:cs typeface="Arial" pitchFamily="34" charset="0"/>
              </a:rPr>
              <a:t>5.5.1) </a:t>
            </a:r>
            <a:r>
              <a:rPr lang="en-US" altLang="ko-KR" sz="1200" dirty="0">
                <a:latin typeface="Arial Narrow" pitchFamily="34" charset="0"/>
                <a:ea typeface="Dotum" pitchFamily="34" charset="-127"/>
                <a:cs typeface="Arial" charset="0"/>
              </a:rPr>
              <a:t>Quality Planning Part Leader </a:t>
            </a:r>
            <a:r>
              <a:rPr lang="en-US" altLang="ko-KR" sz="1200" b="0" dirty="0">
                <a:latin typeface="Arial Narrow" pitchFamily="34" charset="0"/>
                <a:ea typeface="Dotum" pitchFamily="34" charset="-127"/>
                <a:cs typeface="Arial" pitchFamily="34" charset="0"/>
              </a:rPr>
              <a:t>makes a checklist of nonconformities in order to confirm the validity of the corrective action in the past internal audit.</a:t>
            </a:r>
            <a:endParaRPr lang="en-US" altLang="ko-KR" sz="1200" dirty="0">
              <a:latin typeface="Arial Narrow" pitchFamily="34" charset="0"/>
              <a:ea typeface="Dotum" pitchFamily="34" charset="-127"/>
              <a:cs typeface="Arial" pitchFamily="34" charset="0"/>
            </a:endParaRPr>
          </a:p>
          <a:p>
            <a:pPr algn="just" defTabSz="762000" eaLnBrk="1" latinLnBrk="1" hangingPunct="1">
              <a:lnSpc>
                <a:spcPct val="150000"/>
              </a:lnSpc>
              <a:spcBef>
                <a:spcPts val="0"/>
              </a:spcBef>
            </a:pPr>
            <a:r>
              <a:rPr lang="en-US" altLang="ko-KR" sz="1200" b="0" dirty="0">
                <a:latin typeface="Arial Narrow" pitchFamily="34" charset="0"/>
                <a:ea typeface="Dotum" pitchFamily="34" charset="-127"/>
                <a:cs typeface="Arial" pitchFamily="34" charset="0"/>
              </a:rPr>
              <a:t>5.5.2) These checklists are managed with nonconformities, including the minimum year</a:t>
            </a:r>
            <a:r>
              <a:rPr lang="en-US" altLang="ko-KR" sz="1200" dirty="0">
                <a:latin typeface="Arial Narrow" pitchFamily="34" charset="0"/>
                <a:ea typeface="Dotum" pitchFamily="34" charset="-127"/>
                <a:cs typeface="Arial" pitchFamily="34" charset="0"/>
              </a:rPr>
              <a:t>.</a:t>
            </a:r>
          </a:p>
          <a:p>
            <a:pPr algn="just" defTabSz="762000" eaLnBrk="1" latinLnBrk="1" hangingPunct="1">
              <a:lnSpc>
                <a:spcPct val="150000"/>
              </a:lnSpc>
              <a:spcBef>
                <a:spcPts val="0"/>
              </a:spcBef>
            </a:pPr>
            <a:r>
              <a:rPr lang="en-US" altLang="ko-KR" sz="1200" b="1" dirty="0">
                <a:latin typeface="Arial Narrow" pitchFamily="34" charset="0"/>
                <a:ea typeface="Dotum" pitchFamily="34" charset="-127"/>
                <a:cs typeface="Arial" pitchFamily="34" charset="0"/>
              </a:rPr>
              <a:t>Article 5.6. Verify corrective action</a:t>
            </a:r>
            <a:endParaRPr lang="en-US" altLang="ko-KR" sz="1200" dirty="0">
              <a:latin typeface="Arial Narrow" pitchFamily="34" charset="0"/>
              <a:ea typeface="Dotum" pitchFamily="34" charset="-127"/>
              <a:cs typeface="Arial" pitchFamily="34" charset="0"/>
            </a:endParaRPr>
          </a:p>
          <a:p>
            <a:pPr algn="just" defTabSz="762000" eaLnBrk="1" latinLnBrk="1" hangingPunct="1">
              <a:lnSpc>
                <a:spcPct val="150000"/>
              </a:lnSpc>
              <a:spcBef>
                <a:spcPts val="0"/>
              </a:spcBef>
            </a:pPr>
            <a:r>
              <a:rPr lang="en-US" altLang="ko-KR" sz="1200" b="0" dirty="0">
                <a:latin typeface="Arial Narrow" pitchFamily="34" charset="0"/>
                <a:ea typeface="Dotum" pitchFamily="34" charset="-127"/>
                <a:cs typeface="Arial" pitchFamily="34" charset="0"/>
              </a:rPr>
              <a:t>5.6.1) The quality department shall verify and record whether the corrective actions are being carried out effectively, and if the results of the measures are inadequate, the corrective action plan may be requested again. Time to review effectiveness</a:t>
            </a:r>
            <a:r>
              <a:rPr lang="en-US" altLang="ko-KR" sz="1200" b="0" dirty="0">
                <a:solidFill>
                  <a:schemeClr val="accent4">
                    <a:lumMod val="60000"/>
                    <a:lumOff val="40000"/>
                  </a:schemeClr>
                </a:solidFill>
                <a:latin typeface="Arial Narrow" pitchFamily="34" charset="0"/>
                <a:ea typeface="Dotum" pitchFamily="34" charset="-127"/>
                <a:cs typeface="Arial" pitchFamily="34" charset="0"/>
              </a:rPr>
              <a:t>, </a:t>
            </a:r>
            <a:r>
              <a:rPr lang="en-US" altLang="ko-KR" sz="1200" b="0" dirty="0">
                <a:latin typeface="Arial Narrow" pitchFamily="34" charset="0"/>
                <a:ea typeface="Dotum" pitchFamily="34" charset="-127"/>
                <a:cs typeface="Arial" pitchFamily="34" charset="0"/>
              </a:rPr>
              <a:t>depending of the natur</a:t>
            </a:r>
            <a:r>
              <a:rPr lang="en-US" altLang="ko-KR" sz="1200" dirty="0">
                <a:latin typeface="Arial Narrow" pitchFamily="34" charset="0"/>
                <a:ea typeface="Dotum" pitchFamily="34" charset="-127"/>
                <a:cs typeface="Arial" pitchFamily="34" charset="0"/>
              </a:rPr>
              <a:t>e of countermeasure </a:t>
            </a:r>
            <a:r>
              <a:rPr lang="en-US" altLang="ko-KR" sz="1200" b="0" dirty="0">
                <a:latin typeface="Arial Narrow" pitchFamily="34" charset="0"/>
                <a:ea typeface="Dotum" pitchFamily="34" charset="-127"/>
                <a:cs typeface="Arial" pitchFamily="34" charset="0"/>
              </a:rPr>
              <a:t>is 30, 60 and 90 days. Countermeasures related to deliver of product shall not wait this period time and shall be confirmed before the shipping date, others like following of status or revision in the process, can be monitored in this periods of time. In both cases the maintenance of corrective actions shall be verified in these 3 time intervals</a:t>
            </a:r>
          </a:p>
          <a:p>
            <a:pPr algn="just" defTabSz="762000" eaLnBrk="1" latinLnBrk="1" hangingPunct="1">
              <a:lnSpc>
                <a:spcPct val="150000"/>
              </a:lnSpc>
              <a:spcBef>
                <a:spcPts val="0"/>
              </a:spcBef>
            </a:pPr>
            <a:r>
              <a:rPr lang="en-US" altLang="ko-KR" sz="1200" dirty="0">
                <a:latin typeface="Arial Narrow" pitchFamily="34" charset="0"/>
                <a:ea typeface="Dotum" pitchFamily="34" charset="-127"/>
                <a:cs typeface="Arial" pitchFamily="34" charset="0"/>
              </a:rPr>
              <a:t>5.6.2) </a:t>
            </a:r>
            <a:r>
              <a:rPr lang="en-US" altLang="ko-KR" sz="1200" b="0" dirty="0">
                <a:latin typeface="Arial Narrow" pitchFamily="34" charset="0"/>
                <a:ea typeface="Dotum" pitchFamily="34" charset="-127"/>
                <a:cs typeface="Arial" pitchFamily="34" charset="0"/>
              </a:rPr>
              <a:t>The quality department</a:t>
            </a:r>
            <a:r>
              <a:rPr lang="vi-VN" altLang="ko-KR" sz="1200" b="0" dirty="0">
                <a:latin typeface="Arial Narrow" pitchFamily="34" charset="0"/>
                <a:ea typeface="Dotum" pitchFamily="34" charset="-127"/>
                <a:cs typeface="Arial" pitchFamily="34" charset="0"/>
              </a:rPr>
              <a:t> </a:t>
            </a:r>
            <a:r>
              <a:rPr lang="en-US" altLang="ko-KR" sz="1200" b="0" dirty="0">
                <a:latin typeface="Arial Narrow" pitchFamily="34" charset="0"/>
                <a:ea typeface="Dotum" pitchFamily="34" charset="-127"/>
                <a:cs typeface="Arial" pitchFamily="34" charset="0"/>
              </a:rPr>
              <a:t>may include previous corrective action result in the next audit </a:t>
            </a:r>
            <a:r>
              <a:rPr lang="en-US" altLang="ko-KR" sz="1200" dirty="0">
                <a:latin typeface="Arial Narrow" pitchFamily="34" charset="0"/>
                <a:ea typeface="Dotum" pitchFamily="34" charset="-127"/>
                <a:cs typeface="Arial" pitchFamily="34" charset="0"/>
              </a:rPr>
              <a:t>program </a:t>
            </a:r>
            <a:r>
              <a:rPr lang="en-US" altLang="ko-KR" sz="1200" b="0" dirty="0">
                <a:latin typeface="Arial Narrow" pitchFamily="34" charset="0"/>
                <a:ea typeface="Dotum" pitchFamily="34" charset="-127"/>
                <a:cs typeface="Arial" pitchFamily="34" charset="0"/>
              </a:rPr>
              <a:t>to check  </a:t>
            </a:r>
            <a:r>
              <a:rPr lang="en-US" altLang="ko-KR" sz="1200" dirty="0">
                <a:latin typeface="Arial Narrow" pitchFamily="34" charset="0"/>
                <a:ea typeface="Dotum" pitchFamily="34" charset="-127"/>
                <a:cs typeface="Arial" pitchFamily="34" charset="0"/>
              </a:rPr>
              <a:t>verification status.</a:t>
            </a:r>
            <a:endParaRPr lang="en-US" altLang="ko-KR" sz="1200" b="1" dirty="0">
              <a:latin typeface="Arial Narrow" pitchFamily="34" charset="0"/>
              <a:ea typeface="Dotum" pitchFamily="34" charset="-127"/>
              <a:cs typeface="Arial" pitchFamily="34" charset="0"/>
            </a:endParaRPr>
          </a:p>
          <a:p>
            <a:pPr algn="just" defTabSz="762000" eaLnBrk="1" latinLnBrk="1" hangingPunct="1">
              <a:lnSpc>
                <a:spcPct val="150000"/>
              </a:lnSpc>
              <a:spcBef>
                <a:spcPts val="0"/>
              </a:spcBef>
            </a:pPr>
            <a:r>
              <a:rPr lang="en-US" altLang="ko-KR" sz="1200" b="1" dirty="0">
                <a:latin typeface="Arial Narrow" pitchFamily="34" charset="0"/>
                <a:ea typeface="Dotum" pitchFamily="34" charset="-127"/>
                <a:cs typeface="Arial" pitchFamily="34" charset="0"/>
              </a:rPr>
              <a:t>Article 5.7</a:t>
            </a:r>
            <a:r>
              <a:rPr lang="en-US" altLang="ko-KR" sz="1200" b="1" dirty="0">
                <a:latin typeface="Arial Narrow" pitchFamily="34" charset="0"/>
                <a:ea typeface="맑은 고딕" pitchFamily="34" charset="-127"/>
                <a:cs typeface="Arial" pitchFamily="34" charset="0"/>
              </a:rPr>
              <a:t>. Maintain audit record</a:t>
            </a:r>
          </a:p>
          <a:p>
            <a:pPr algn="just" defTabSz="762000" eaLnBrk="1" latinLnBrk="1" hangingPunct="1">
              <a:lnSpc>
                <a:spcPct val="150000"/>
              </a:lnSpc>
              <a:spcBef>
                <a:spcPts val="0"/>
              </a:spcBef>
            </a:pPr>
            <a:r>
              <a:rPr lang="en-US" altLang="ko-KR" sz="1200" dirty="0">
                <a:latin typeface="Arial Narrow" pitchFamily="34" charset="0"/>
                <a:ea typeface="맑은 고딕" pitchFamily="34" charset="-127"/>
                <a:cs typeface="Arial" pitchFamily="34" charset="0"/>
              </a:rPr>
              <a:t>5.7.1) </a:t>
            </a:r>
            <a:r>
              <a:rPr lang="en-US" altLang="ko-KR" sz="1200" b="0" dirty="0">
                <a:latin typeface="Arial Narrow" pitchFamily="34" charset="0"/>
                <a:ea typeface="맑은 고딕" pitchFamily="34" charset="-127"/>
                <a:cs typeface="Arial" pitchFamily="34" charset="0"/>
              </a:rPr>
              <a:t>The quality assurance department is responsible for keeping all records related to the audit.</a:t>
            </a:r>
            <a:endParaRPr lang="en-US" altLang="ko-KR" sz="1200" dirty="0">
              <a:latin typeface="Arial Narrow" pitchFamily="34" charset="0"/>
              <a:ea typeface="맑은 고딕" pitchFamily="34" charset="-127"/>
              <a:cs typeface="Arial" pitchFamily="34" charset="0"/>
            </a:endParaRPr>
          </a:p>
          <a:p>
            <a:pPr algn="just" defTabSz="762000" eaLnBrk="1" latinLnBrk="1" hangingPunct="1">
              <a:lnSpc>
                <a:spcPct val="150000"/>
              </a:lnSpc>
              <a:spcBef>
                <a:spcPts val="0"/>
              </a:spcBef>
            </a:pPr>
            <a:r>
              <a:rPr lang="en-US" altLang="ko-KR" sz="1200" b="0" dirty="0">
                <a:latin typeface="Arial Narrow" pitchFamily="34" charset="0"/>
                <a:ea typeface="맑은 고딕" pitchFamily="34" charset="-127"/>
                <a:cs typeface="Arial" pitchFamily="34" charset="0"/>
              </a:rPr>
              <a:t>5.7.2) The retention period of the quality audit record shall be at least three years excluding the year concerned</a:t>
            </a:r>
            <a:endParaRPr lang="es-MX" altLang="ko-KR" sz="1200" dirty="0">
              <a:latin typeface="Arial Narrow" pitchFamily="34" charset="0"/>
              <a:ea typeface="맑은 고딕" pitchFamily="34" charset="-127"/>
              <a:cs typeface="Arial" pitchFamily="34" charset="0"/>
            </a:endParaRPr>
          </a:p>
          <a:p>
            <a:pPr algn="l" defTabSz="762000">
              <a:lnSpc>
                <a:spcPct val="150000"/>
              </a:lnSpc>
              <a:spcBef>
                <a:spcPts val="0"/>
              </a:spcBef>
            </a:pPr>
            <a:r>
              <a:rPr lang="en-US" altLang="ko-KR" sz="1200" b="1" dirty="0">
                <a:latin typeface="Arial Narrow" pitchFamily="34" charset="0"/>
                <a:ea typeface="돋움" pitchFamily="50" charset="-127"/>
                <a:cs typeface="Arial" pitchFamily="34" charset="0"/>
              </a:rPr>
              <a:t>Article 5.8. </a:t>
            </a:r>
            <a:r>
              <a:rPr lang="en-US" altLang="ko-KR" sz="1200" b="1" dirty="0">
                <a:latin typeface="Arial Narrow" pitchFamily="34" charset="0"/>
                <a:ea typeface="LG스마트체 Regular" panose="020B0600000101010101" pitchFamily="50" charset="-127"/>
                <a:cs typeface="Arial" pitchFamily="34" charset="0"/>
              </a:rPr>
              <a:t>Management of auditor qualification</a:t>
            </a:r>
            <a:endParaRPr lang="en-US" altLang="ko-KR" sz="1200" b="1" dirty="0">
              <a:latin typeface="Arial Narrow" pitchFamily="34" charset="0"/>
              <a:ea typeface="돋움" pitchFamily="50" charset="-127"/>
              <a:cs typeface="Arial" pitchFamily="34" charset="0"/>
            </a:endParaRPr>
          </a:p>
          <a:p>
            <a:pPr algn="l" defTabSz="762000">
              <a:lnSpc>
                <a:spcPct val="150000"/>
              </a:lnSpc>
              <a:spcBef>
                <a:spcPts val="0"/>
              </a:spcBef>
            </a:pPr>
            <a:r>
              <a:rPr lang="en-US" altLang="ko-KR" sz="1200" dirty="0" err="1">
                <a:latin typeface="Arial Narrow" pitchFamily="34" charset="0"/>
                <a:ea typeface="돋움" pitchFamily="50" charset="-127"/>
                <a:cs typeface="Arial" pitchFamily="34" charset="0"/>
              </a:rPr>
              <a:t>Haengsung</a:t>
            </a:r>
            <a:r>
              <a:rPr lang="en-US" altLang="ko-KR" sz="1200" dirty="0">
                <a:latin typeface="Arial Narrow" pitchFamily="34" charset="0"/>
                <a:ea typeface="돋움" pitchFamily="50" charset="-127"/>
                <a:cs typeface="Arial" pitchFamily="34" charset="0"/>
              </a:rPr>
              <a:t> Electronics company shall maintain a list of qualified internal auditors, </a:t>
            </a:r>
            <a:r>
              <a:rPr lang="pt-BR" altLang="ko-KR" sz="1200" dirty="0">
                <a:latin typeface="Arial Narrow" pitchFamily="34" charset="0"/>
                <a:ea typeface="돋움" pitchFamily="50" charset="-127"/>
                <a:cs typeface="Arial" pitchFamily="34" charset="0"/>
              </a:rPr>
              <a:t>QA-FO-19-01</a:t>
            </a:r>
            <a:r>
              <a:rPr lang="pt-BR" altLang="ko-KR" sz="1200" dirty="0">
                <a:solidFill>
                  <a:srgbClr val="0070C0"/>
                </a:solidFill>
                <a:latin typeface="Arial Narrow" pitchFamily="34" charset="0"/>
                <a:ea typeface="돋움" pitchFamily="50" charset="-127"/>
                <a:cs typeface="Arial" pitchFamily="34" charset="0"/>
              </a:rPr>
              <a:t> </a:t>
            </a:r>
            <a:r>
              <a:rPr lang="pt-BR" altLang="ko-KR" sz="1200" dirty="0">
                <a:latin typeface="Arial Narrow" pitchFamily="34" charset="0"/>
                <a:ea typeface="돋움" pitchFamily="50" charset="-127"/>
                <a:cs typeface="Arial" pitchFamily="34" charset="0"/>
              </a:rPr>
              <a:t>Lista de auditores internos</a:t>
            </a:r>
          </a:p>
          <a:p>
            <a:pPr algn="l" defTabSz="762000">
              <a:lnSpc>
                <a:spcPct val="150000"/>
              </a:lnSpc>
              <a:spcBef>
                <a:spcPts val="0"/>
              </a:spcBef>
            </a:pPr>
            <a:r>
              <a:rPr lang="en-US" altLang="ko-KR" sz="1200" dirty="0">
                <a:latin typeface="Arial Narrow" pitchFamily="34" charset="0"/>
                <a:ea typeface="돋움" pitchFamily="50" charset="-127"/>
                <a:cs typeface="Arial" pitchFamily="34" charset="0"/>
              </a:rPr>
              <a:t>Quality management system auditors shall be able to demonstrate the following minimum competencies:</a:t>
            </a:r>
          </a:p>
          <a:p>
            <a:pPr marL="228600" indent="-228600" algn="l" defTabSz="762000">
              <a:lnSpc>
                <a:spcPct val="150000"/>
              </a:lnSpc>
              <a:spcBef>
                <a:spcPts val="0"/>
              </a:spcBef>
              <a:buAutoNum type="alphaUcParenR"/>
            </a:pPr>
            <a:r>
              <a:rPr lang="en-US" altLang="ko-KR" sz="1200" dirty="0">
                <a:latin typeface="Arial Narrow" pitchFamily="34" charset="0"/>
                <a:ea typeface="돋움" pitchFamily="50" charset="-127"/>
                <a:cs typeface="Arial" pitchFamily="34" charset="0"/>
              </a:rPr>
              <a:t>understanding of the automotive process approach for auditing, including risk-based thinking;</a:t>
            </a:r>
          </a:p>
          <a:p>
            <a:pPr marL="228600" indent="-228600" algn="l" defTabSz="762000">
              <a:lnSpc>
                <a:spcPct val="150000"/>
              </a:lnSpc>
              <a:spcBef>
                <a:spcPts val="0"/>
              </a:spcBef>
              <a:buAutoNum type="alphaUcParenR"/>
            </a:pPr>
            <a:r>
              <a:rPr lang="en-US" altLang="ko-KR" sz="1200" dirty="0">
                <a:latin typeface="Arial Narrow" pitchFamily="34" charset="0"/>
                <a:ea typeface="돋움" pitchFamily="50" charset="-127"/>
                <a:cs typeface="Arial" pitchFamily="34" charset="0"/>
              </a:rPr>
              <a:t>understanding of applicable customer-specific requirements; </a:t>
            </a:r>
          </a:p>
          <a:p>
            <a:pPr marL="228600" indent="-228600" algn="l" defTabSz="762000">
              <a:lnSpc>
                <a:spcPct val="150000"/>
              </a:lnSpc>
              <a:spcBef>
                <a:spcPts val="0"/>
              </a:spcBef>
              <a:buAutoNum type="alphaUcParenR"/>
            </a:pPr>
            <a:r>
              <a:rPr lang="en-US" altLang="ko-KR" sz="1200" dirty="0">
                <a:latin typeface="Arial Narrow" pitchFamily="34" charset="0"/>
                <a:ea typeface="돋움" pitchFamily="50" charset="-127"/>
                <a:cs typeface="Arial" pitchFamily="34" charset="0"/>
              </a:rPr>
              <a:t>understanding of applicable ISO 9001 and IATF16949 requirements related to the scope of the audit;</a:t>
            </a:r>
          </a:p>
          <a:p>
            <a:pPr marL="228600" indent="-228600" algn="l" defTabSz="762000">
              <a:lnSpc>
                <a:spcPct val="150000"/>
              </a:lnSpc>
              <a:spcBef>
                <a:spcPts val="0"/>
              </a:spcBef>
              <a:buAutoNum type="alphaUcParenR"/>
            </a:pPr>
            <a:r>
              <a:rPr lang="en-US" altLang="ko-KR" sz="1200" dirty="0">
                <a:latin typeface="Arial Narrow" pitchFamily="34" charset="0"/>
                <a:ea typeface="돋움" pitchFamily="50" charset="-127"/>
                <a:cs typeface="Arial" pitchFamily="34" charset="0"/>
              </a:rPr>
              <a:t>understanding of applicable core tool requirements related to the scope of the audit; </a:t>
            </a:r>
          </a:p>
          <a:p>
            <a:pPr marL="228600" indent="-228600" algn="l" defTabSz="762000">
              <a:lnSpc>
                <a:spcPct val="150000"/>
              </a:lnSpc>
              <a:spcBef>
                <a:spcPts val="0"/>
              </a:spcBef>
              <a:buAutoNum type="alphaUcParenR"/>
            </a:pPr>
            <a:r>
              <a:rPr lang="en-US" altLang="ko-KR" sz="1200" dirty="0">
                <a:latin typeface="Arial Narrow" pitchFamily="34" charset="0"/>
                <a:ea typeface="돋움" pitchFamily="50" charset="-127"/>
                <a:cs typeface="Arial" pitchFamily="34" charset="0"/>
              </a:rPr>
              <a:t>understanding how to plan, conduct, report, and close out audit findings. </a:t>
            </a:r>
          </a:p>
          <a:p>
            <a:pPr marL="228600" indent="-228600" algn="l" defTabSz="762000">
              <a:lnSpc>
                <a:spcPct val="150000"/>
              </a:lnSpc>
              <a:spcBef>
                <a:spcPts val="0"/>
              </a:spcBef>
              <a:buAutoNum type="arabicParenR"/>
            </a:pPr>
            <a:r>
              <a:rPr lang="en-US" altLang="ko-KR" sz="1200" dirty="0">
                <a:latin typeface="Arial Narrow" pitchFamily="34" charset="0"/>
                <a:ea typeface="돋움" pitchFamily="50" charset="-127"/>
                <a:cs typeface="Arial" pitchFamily="34" charset="0"/>
              </a:rPr>
              <a:t>In case of QMS auditor, QA manager shall select qualifying auditors and initial evaluate them.</a:t>
            </a:r>
          </a:p>
        </p:txBody>
      </p:sp>
    </p:spTree>
    <p:extLst>
      <p:ext uri="{BB962C8B-B14F-4D97-AF65-F5344CB8AC3E}">
        <p14:creationId xmlns:p14="http://schemas.microsoft.com/office/powerpoint/2010/main" val="2779905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76319-282F-04A4-99ED-FAF6EE9801DA}"/>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40FA606-9188-F752-4A13-7024B3D32D87}"/>
              </a:ext>
            </a:extLst>
          </p:cNvPr>
          <p:cNvGraphicFramePr>
            <a:graphicFrameLocks noGrp="1"/>
          </p:cNvGraphicFramePr>
          <p:nvPr>
            <p:extLst>
              <p:ext uri="{D42A27DB-BD31-4B8C-83A1-F6EECF244321}">
                <p14:modId xmlns:p14="http://schemas.microsoft.com/office/powerpoint/2010/main" val="944925620"/>
              </p:ext>
            </p:extLst>
          </p:nvPr>
        </p:nvGraphicFramePr>
        <p:xfrm>
          <a:off x="189955" y="3837450"/>
          <a:ext cx="6480720" cy="5550408"/>
        </p:xfrm>
        <a:graphic>
          <a:graphicData uri="http://schemas.openxmlformats.org/drawingml/2006/table">
            <a:tbl>
              <a:tblPr/>
              <a:tblGrid>
                <a:gridCol w="862781">
                  <a:extLst>
                    <a:ext uri="{9D8B030D-6E8A-4147-A177-3AD203B41FA5}">
                      <a16:colId xmlns:a16="http://schemas.microsoft.com/office/drawing/2014/main" val="20000"/>
                    </a:ext>
                  </a:extLst>
                </a:gridCol>
                <a:gridCol w="433363">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684076">
                  <a:extLst>
                    <a:ext uri="{9D8B030D-6E8A-4147-A177-3AD203B41FA5}">
                      <a16:colId xmlns:a16="http://schemas.microsoft.com/office/drawing/2014/main" val="20003"/>
                    </a:ext>
                  </a:extLst>
                </a:gridCol>
                <a:gridCol w="684076">
                  <a:extLst>
                    <a:ext uri="{9D8B030D-6E8A-4147-A177-3AD203B41FA5}">
                      <a16:colId xmlns:a16="http://schemas.microsoft.com/office/drawing/2014/main" val="20004"/>
                    </a:ext>
                  </a:extLst>
                </a:gridCol>
                <a:gridCol w="684076">
                  <a:extLst>
                    <a:ext uri="{9D8B030D-6E8A-4147-A177-3AD203B41FA5}">
                      <a16:colId xmlns:a16="http://schemas.microsoft.com/office/drawing/2014/main" val="20005"/>
                    </a:ext>
                  </a:extLst>
                </a:gridCol>
                <a:gridCol w="684076">
                  <a:extLst>
                    <a:ext uri="{9D8B030D-6E8A-4147-A177-3AD203B41FA5}">
                      <a16:colId xmlns:a16="http://schemas.microsoft.com/office/drawing/2014/main" val="20006"/>
                    </a:ext>
                  </a:extLst>
                </a:gridCol>
              </a:tblGrid>
              <a:tr h="140123">
                <a:tc rowSpan="2">
                  <a:txBody>
                    <a:bodyPr/>
                    <a:lstStyle/>
                    <a:p>
                      <a:pPr algn="ctr" rtl="0" fontAlgn="ctr" latinLnBrk="0"/>
                      <a:r>
                        <a:rPr lang="en-US" sz="900" b="1" i="0" u="none" strike="noStrike" dirty="0">
                          <a:solidFill>
                            <a:srgbClr val="000000"/>
                          </a:solidFill>
                          <a:latin typeface="Arial Narrow" pitchFamily="34" charset="0"/>
                        </a:rPr>
                        <a:t>Items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rowSpan="2" gridSpan="2">
                  <a:txBody>
                    <a:bodyPr/>
                    <a:lstStyle/>
                    <a:p>
                      <a:pPr algn="ctr" rtl="0" fontAlgn="ctr" latinLnBrk="0"/>
                      <a:r>
                        <a:rPr lang="en-US" sz="900" b="1" i="0" u="none" strike="noStrike" dirty="0">
                          <a:solidFill>
                            <a:srgbClr val="000000"/>
                          </a:solidFill>
                          <a:latin typeface="Arial Narrow" pitchFamily="34" charset="0"/>
                        </a:rPr>
                        <a:t>Need items</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rowSpan="2" hMerge="1">
                  <a:txBody>
                    <a:bodyPr/>
                    <a:lstStyle/>
                    <a:p>
                      <a:endParaRPr lang="en-US"/>
                    </a:p>
                  </a:txBody>
                  <a:tcPr/>
                </a:tc>
                <a:tc gridSpan="4">
                  <a:txBody>
                    <a:bodyPr/>
                    <a:lstStyle/>
                    <a:p>
                      <a:pPr algn="ctr" rtl="0" fontAlgn="ctr" latinLnBrk="0"/>
                      <a:r>
                        <a:rPr lang="en-US" sz="900" b="1" i="0" u="none" strike="noStrike" dirty="0">
                          <a:solidFill>
                            <a:srgbClr val="000000"/>
                          </a:solidFill>
                          <a:latin typeface="Arial Narrow" pitchFamily="34" charset="0"/>
                        </a:rPr>
                        <a:t>Auditor Requirements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3984">
                <a:tc vMerge="1">
                  <a:txBody>
                    <a:bodyPr/>
                    <a:lstStyle/>
                    <a:p>
                      <a:endParaRPr lang="en-US"/>
                    </a:p>
                  </a:txBody>
                  <a:tcPr/>
                </a:tc>
                <a:tc gridSpan="2" vMerge="1">
                  <a:txBody>
                    <a:bodyPr/>
                    <a:lstStyle/>
                    <a:p>
                      <a:endParaRPr lang="en-US"/>
                    </a:p>
                  </a:txBody>
                  <a:tcPr/>
                </a:tc>
                <a:tc hMerge="1" vMerge="1">
                  <a:txBody>
                    <a:bodyPr/>
                    <a:lstStyle/>
                    <a:p>
                      <a:endParaRPr lang="en-US"/>
                    </a:p>
                  </a:txBody>
                  <a:tcPr/>
                </a:tc>
                <a:tc>
                  <a:txBody>
                    <a:bodyPr/>
                    <a:lstStyle/>
                    <a:p>
                      <a:pPr algn="ctr" rtl="0" fontAlgn="ctr" latinLnBrk="0"/>
                      <a:r>
                        <a:rPr lang="en-US" sz="900" b="1" i="0" u="none" strike="noStrike" dirty="0">
                          <a:solidFill>
                            <a:srgbClr val="000000"/>
                          </a:solidFill>
                          <a:latin typeface="Arial Narrow" pitchFamily="34" charset="0"/>
                        </a:rPr>
                        <a:t>QM </a:t>
                      </a:r>
                    </a:p>
                    <a:p>
                      <a:pPr algn="ctr" rtl="0" fontAlgn="ctr" latinLnBrk="0"/>
                      <a:r>
                        <a:rPr lang="en-US" sz="900" b="1" i="0" u="none" strike="noStrike" dirty="0">
                          <a:solidFill>
                            <a:srgbClr val="000000"/>
                          </a:solidFill>
                          <a:latin typeface="Arial Narrow" pitchFamily="34" charset="0"/>
                        </a:rPr>
                        <a:t>System</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a:txBody>
                    <a:bodyPr/>
                    <a:lstStyle/>
                    <a:p>
                      <a:pPr algn="ctr" rtl="0" fontAlgn="ctr" latinLnBrk="0"/>
                      <a:r>
                        <a:rPr lang="en-US" sz="900" b="1" i="0" u="none" strike="noStrike" dirty="0">
                          <a:solidFill>
                            <a:srgbClr val="000000"/>
                          </a:solidFill>
                          <a:latin typeface="Arial Narrow" pitchFamily="34" charset="0"/>
                        </a:rPr>
                        <a:t>MFG </a:t>
                      </a:r>
                    </a:p>
                    <a:p>
                      <a:pPr algn="ctr" rtl="0" fontAlgn="ctr" latinLnBrk="0"/>
                      <a:r>
                        <a:rPr lang="en-US" sz="900" b="1" i="0" u="none" strike="noStrike" dirty="0">
                          <a:solidFill>
                            <a:srgbClr val="000000"/>
                          </a:solidFill>
                          <a:latin typeface="Arial Narrow" pitchFamily="34" charset="0"/>
                        </a:rPr>
                        <a:t>process</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a:txBody>
                    <a:bodyPr/>
                    <a:lstStyle/>
                    <a:p>
                      <a:pPr algn="ctr" rtl="0" fontAlgn="ctr" latinLnBrk="0"/>
                      <a:r>
                        <a:rPr lang="en-US" sz="900" b="1" i="0" u="none" strike="noStrike" dirty="0">
                          <a:solidFill>
                            <a:srgbClr val="000000"/>
                          </a:solidFill>
                          <a:latin typeface="Arial Narrow" pitchFamily="34" charset="0"/>
                        </a:rPr>
                        <a:t>Product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a:txBody>
                    <a:bodyPr/>
                    <a:lstStyle/>
                    <a:p>
                      <a:pPr algn="ctr" rtl="0" fontAlgn="ctr" latinLnBrk="0"/>
                      <a:r>
                        <a:rPr lang="en-US" sz="900" b="1" i="0" u="none" strike="noStrike" dirty="0">
                          <a:solidFill>
                            <a:schemeClr val="tx1"/>
                          </a:solidFill>
                          <a:latin typeface="Arial Narrow" pitchFamily="34" charset="0"/>
                        </a:rPr>
                        <a:t>2</a:t>
                      </a:r>
                      <a:r>
                        <a:rPr lang="en-US" sz="900" b="1" i="0" u="none" strike="noStrike" baseline="30000" dirty="0">
                          <a:solidFill>
                            <a:schemeClr val="tx1"/>
                          </a:solidFill>
                          <a:latin typeface="Arial Narrow" pitchFamily="34" charset="0"/>
                        </a:rPr>
                        <a:t>nd</a:t>
                      </a:r>
                      <a:r>
                        <a:rPr lang="en-US" sz="900" b="1" i="0" u="none" strike="noStrike" dirty="0">
                          <a:solidFill>
                            <a:schemeClr val="tx1"/>
                          </a:solidFill>
                          <a:latin typeface="Arial Narrow" pitchFamily="34" charset="0"/>
                        </a:rPr>
                        <a:t> party </a:t>
                      </a:r>
                    </a:p>
                    <a:p>
                      <a:pPr algn="ctr" rtl="0" fontAlgn="ctr" latinLnBrk="0"/>
                      <a:r>
                        <a:rPr lang="en-US" sz="900" b="1" i="0" u="none" strike="noStrike" dirty="0">
                          <a:solidFill>
                            <a:schemeClr val="tx1"/>
                          </a:solidFill>
                          <a:latin typeface="Arial Narrow" pitchFamily="34" charset="0"/>
                        </a:rPr>
                        <a:t>auditor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356962">
                <a:tc rowSpan="12">
                  <a:txBody>
                    <a:bodyPr/>
                    <a:lstStyle/>
                    <a:p>
                      <a:pPr algn="ctr" rtl="0" fontAlgn="ctr" latinLnBrk="0"/>
                      <a:r>
                        <a:rPr lang="en-US" sz="900" b="1" i="0" u="none" strike="noStrike" dirty="0">
                          <a:solidFill>
                            <a:srgbClr val="000000"/>
                          </a:solidFill>
                          <a:latin typeface="Arial Narrow" pitchFamily="34" charset="0"/>
                        </a:rPr>
                        <a:t>Training</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gridSpan="2">
                  <a:txBody>
                    <a:bodyPr/>
                    <a:lstStyle/>
                    <a:p>
                      <a:pPr algn="l" rtl="0" fontAlgn="ctr" latinLnBrk="0"/>
                      <a:r>
                        <a:rPr lang="en-US" sz="900" b="0" i="0" u="none" strike="noStrike" dirty="0">
                          <a:solidFill>
                            <a:schemeClr val="tx1"/>
                          </a:solidFill>
                          <a:latin typeface="Arial Narrow" pitchFamily="34" charset="0"/>
                        </a:rPr>
                        <a:t>Understanding of the automotive process approach</a:t>
                      </a:r>
                      <a:br>
                        <a:rPr lang="en-US" sz="900" b="0" i="0" u="none" strike="noStrike" dirty="0">
                          <a:solidFill>
                            <a:schemeClr val="tx1"/>
                          </a:solidFill>
                          <a:latin typeface="Arial Narrow" pitchFamily="34" charset="0"/>
                        </a:rPr>
                      </a:br>
                      <a:r>
                        <a:rPr lang="en-US" sz="900" b="0" i="0" u="none" strike="noStrike" dirty="0">
                          <a:solidFill>
                            <a:schemeClr val="tx1"/>
                          </a:solidFill>
                          <a:latin typeface="Arial Narrow" pitchFamily="34" charset="0"/>
                        </a:rPr>
                        <a:t>for auditing, including risk-based thinking </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tx1"/>
                          </a:solidFill>
                          <a:latin typeface="Arial Narrow" pitchFamily="34" charset="0"/>
                        </a:rPr>
                        <a:t>   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822">
                <a:tc vMerge="1">
                  <a:txBody>
                    <a:bodyPr/>
                    <a:lstStyle/>
                    <a:p>
                      <a:endParaRPr lang="en-US"/>
                    </a:p>
                  </a:txBody>
                  <a:tcPr/>
                </a:tc>
                <a:tc gridSpan="2">
                  <a:txBody>
                    <a:bodyPr/>
                    <a:lstStyle/>
                    <a:p>
                      <a:pPr algn="l" rtl="0" fontAlgn="ctr" latinLnBrk="0"/>
                      <a:r>
                        <a:rPr lang="en-US" sz="900" b="0" i="0" u="none" strike="noStrike" dirty="0">
                          <a:solidFill>
                            <a:schemeClr val="tx1"/>
                          </a:solidFill>
                          <a:latin typeface="Arial Narrow" pitchFamily="34" charset="0"/>
                        </a:rPr>
                        <a:t>Technical understanding of the relevant manufacturing process(</a:t>
                      </a:r>
                      <a:r>
                        <a:rPr lang="en-US" sz="900" b="0" i="0" u="none" strike="noStrike" dirty="0" err="1">
                          <a:solidFill>
                            <a:schemeClr val="tx1"/>
                          </a:solidFill>
                          <a:latin typeface="Arial Narrow" pitchFamily="34" charset="0"/>
                        </a:rPr>
                        <a:t>es</a:t>
                      </a:r>
                      <a:r>
                        <a:rPr lang="en-US" sz="900" b="0" i="0" u="none" strike="noStrike" dirty="0">
                          <a:solidFill>
                            <a:schemeClr val="tx1"/>
                          </a:solidFill>
                          <a:latin typeface="Arial Narrow" pitchFamily="34" charset="0"/>
                        </a:rPr>
                        <a:t>) to be audited, including process risk analysis (such as PFMEA) and control plan </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latin typeface="Arial Narrow" pitchFamily="34" charset="0"/>
                        </a:rPr>
                        <a:t> </a:t>
                      </a:r>
                      <a:r>
                        <a:rPr lang="en-US" sz="900" b="0" i="0" u="none" strike="noStrike" dirty="0">
                          <a:solidFill>
                            <a:srgbClr val="0070C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chemeClr val="tx1"/>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962">
                <a:tc vMerge="1">
                  <a:txBody>
                    <a:bodyPr/>
                    <a:lstStyle/>
                    <a:p>
                      <a:endParaRPr lang="en-US"/>
                    </a:p>
                  </a:txBody>
                  <a:tcPr/>
                </a:tc>
                <a:tc gridSpan="2">
                  <a:txBody>
                    <a:bodyPr/>
                    <a:lstStyle/>
                    <a:p>
                      <a:pPr algn="l" rtl="0" fontAlgn="ctr" latinLnBrk="0"/>
                      <a:r>
                        <a:rPr lang="en-US" sz="900" b="0" i="0" u="none" strike="noStrike" dirty="0">
                          <a:solidFill>
                            <a:schemeClr val="tx1"/>
                          </a:solidFill>
                          <a:latin typeface="Arial Narrow" pitchFamily="34" charset="0"/>
                        </a:rPr>
                        <a:t>Understanding product requirements and use of relevant measuring and test equipment to verify product conformity </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fontAlgn="ctr" latinLnBrk="0"/>
                      <a:r>
                        <a:rPr lang="en-US" sz="900" b="0" i="0" u="none" strike="noStrike" dirty="0">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tx1"/>
                          </a:solidFill>
                          <a:latin typeface="Arial Narrow" pitchFamily="34" charset="0"/>
                        </a:rPr>
                        <a:t>  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l" fontAlgn="b" latinLnBrk="0"/>
                      <a:r>
                        <a:rPr lang="en-US" sz="900" b="0" i="0" u="none" strike="noStrike" dirty="0">
                          <a:solidFill>
                            <a:srgbClr val="000000"/>
                          </a:solidFill>
                          <a:latin typeface="Arial Narrow" pitchFamily="34" charset="0"/>
                        </a:rPr>
                        <a:t> </a:t>
                      </a:r>
                    </a:p>
                  </a:txBody>
                  <a:tcPr marL="18288" marR="18288" marT="18288" marB="18288" anchor="b">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3101">
                <a:tc vMerge="1">
                  <a:txBody>
                    <a:bodyPr/>
                    <a:lstStyle/>
                    <a:p>
                      <a:endParaRPr lang="en-US"/>
                    </a:p>
                  </a:txBody>
                  <a:tcPr/>
                </a:tc>
                <a:tc rowSpan="6">
                  <a:txBody>
                    <a:bodyPr/>
                    <a:lstStyle/>
                    <a:p>
                      <a:pPr algn="l" rtl="0" fontAlgn="ctr" latinLnBrk="0"/>
                      <a:r>
                        <a:rPr lang="en-US" sz="900" b="0" i="0" u="none" strike="noStrike">
                          <a:solidFill>
                            <a:srgbClr val="000000"/>
                          </a:solidFill>
                          <a:latin typeface="Arial Narrow" pitchFamily="34" charset="0"/>
                        </a:rPr>
                        <a:t>Core Tool </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l" rtl="0" fontAlgn="ctr" latinLnBrk="0"/>
                      <a:r>
                        <a:rPr lang="en-US" sz="900" b="0" i="0" u="none" strike="noStrike" dirty="0">
                          <a:solidFill>
                            <a:srgbClr val="000000"/>
                          </a:solidFill>
                          <a:latin typeface="Arial Narrow" pitchFamily="34" charset="0"/>
                        </a:rPr>
                        <a:t>APQP</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chemeClr val="tx1"/>
                          </a:solidFill>
                          <a:latin typeface="Arial Narrow" pitchFamily="34" charset="0"/>
                        </a:rPr>
                        <a:t>   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3101">
                <a:tc vMerge="1">
                  <a:txBody>
                    <a:bodyPr/>
                    <a:lstStyle/>
                    <a:p>
                      <a:endParaRPr lang="en-US"/>
                    </a:p>
                  </a:txBody>
                  <a:tcPr/>
                </a:tc>
                <a:tc vMerge="1">
                  <a:txBody>
                    <a:bodyPr/>
                    <a:lstStyle/>
                    <a:p>
                      <a:endParaRPr lang="en-US"/>
                    </a:p>
                  </a:txBody>
                  <a:tcPr/>
                </a:tc>
                <a:tc>
                  <a:txBody>
                    <a:bodyPr/>
                    <a:lstStyle/>
                    <a:p>
                      <a:pPr algn="l" rtl="0" fontAlgn="ctr" latinLnBrk="0"/>
                      <a:r>
                        <a:rPr lang="en-US" sz="900" b="0" i="0" u="none" strike="noStrike">
                          <a:solidFill>
                            <a:srgbClr val="000000"/>
                          </a:solidFill>
                          <a:latin typeface="Arial Narrow" pitchFamily="34" charset="0"/>
                        </a:rPr>
                        <a:t>FMEA</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chemeClr val="tx1"/>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23101">
                <a:tc vMerge="1">
                  <a:txBody>
                    <a:bodyPr/>
                    <a:lstStyle/>
                    <a:p>
                      <a:endParaRPr lang="en-US"/>
                    </a:p>
                  </a:txBody>
                  <a:tcPr/>
                </a:tc>
                <a:tc vMerge="1">
                  <a:txBody>
                    <a:bodyPr/>
                    <a:lstStyle/>
                    <a:p>
                      <a:endParaRPr lang="en-US"/>
                    </a:p>
                  </a:txBody>
                  <a:tcPr/>
                </a:tc>
                <a:tc>
                  <a:txBody>
                    <a:bodyPr/>
                    <a:lstStyle/>
                    <a:p>
                      <a:pPr algn="l" rtl="0" fontAlgn="ctr" latinLnBrk="0"/>
                      <a:r>
                        <a:rPr lang="en-US" sz="900" b="0" i="0" u="none" strike="noStrike" dirty="0">
                          <a:solidFill>
                            <a:srgbClr val="000000"/>
                          </a:solidFill>
                          <a:latin typeface="Arial Narrow" pitchFamily="34" charset="0"/>
                        </a:rPr>
                        <a:t>PPAP</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chemeClr val="tx1"/>
                          </a:solidFill>
                          <a:latin typeface="Arial Narrow" pitchFamily="34" charset="0"/>
                        </a:rPr>
                        <a:t> 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23101">
                <a:tc vMerge="1">
                  <a:txBody>
                    <a:bodyPr/>
                    <a:lstStyle/>
                    <a:p>
                      <a:endParaRPr lang="en-US"/>
                    </a:p>
                  </a:txBody>
                  <a:tcPr/>
                </a:tc>
                <a:tc vMerge="1">
                  <a:txBody>
                    <a:bodyPr/>
                    <a:lstStyle/>
                    <a:p>
                      <a:endParaRPr lang="en-US"/>
                    </a:p>
                  </a:txBody>
                  <a:tcPr/>
                </a:tc>
                <a:tc>
                  <a:txBody>
                    <a:bodyPr/>
                    <a:lstStyle/>
                    <a:p>
                      <a:pPr algn="l" rtl="0" fontAlgn="ctr" latinLnBrk="0"/>
                      <a:r>
                        <a:rPr lang="en-US" sz="900" b="0" i="0" u="none" strike="noStrike" dirty="0">
                          <a:solidFill>
                            <a:schemeClr val="tx1"/>
                          </a:solidFill>
                          <a:latin typeface="Arial Narrow" pitchFamily="34" charset="0"/>
                        </a:rPr>
                        <a:t>Control Plan</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chemeClr val="tx1"/>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23101">
                <a:tc vMerge="1">
                  <a:txBody>
                    <a:bodyPr/>
                    <a:lstStyle/>
                    <a:p>
                      <a:endParaRPr lang="en-US"/>
                    </a:p>
                  </a:txBody>
                  <a:tcPr/>
                </a:tc>
                <a:tc vMerge="1">
                  <a:txBody>
                    <a:bodyPr/>
                    <a:lstStyle/>
                    <a:p>
                      <a:endParaRPr lang="en-US"/>
                    </a:p>
                  </a:txBody>
                  <a:tcPr/>
                </a:tc>
                <a:tc>
                  <a:txBody>
                    <a:bodyPr/>
                    <a:lstStyle/>
                    <a:p>
                      <a:pPr algn="l" rtl="0" fontAlgn="ctr" latinLnBrk="0"/>
                      <a:r>
                        <a:rPr lang="en-US" sz="900" b="0" i="0" u="none" strike="noStrike" dirty="0">
                          <a:solidFill>
                            <a:srgbClr val="000000"/>
                          </a:solidFill>
                          <a:latin typeface="Arial Narrow" pitchFamily="34" charset="0"/>
                        </a:rPr>
                        <a:t>MSA</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chemeClr val="tx1"/>
                          </a:solidFill>
                          <a:latin typeface="Arial Narrow" pitchFamily="34" charset="0"/>
                        </a:rPr>
                        <a:t>O</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23101">
                <a:tc vMerge="1">
                  <a:txBody>
                    <a:bodyPr/>
                    <a:lstStyle/>
                    <a:p>
                      <a:endParaRPr lang="en-US"/>
                    </a:p>
                  </a:txBody>
                  <a:tcPr/>
                </a:tc>
                <a:tc vMerge="1">
                  <a:txBody>
                    <a:bodyPr/>
                    <a:lstStyle/>
                    <a:p>
                      <a:endParaRPr lang="en-US"/>
                    </a:p>
                  </a:txBody>
                  <a:tcPr/>
                </a:tc>
                <a:tc>
                  <a:txBody>
                    <a:bodyPr/>
                    <a:lstStyle/>
                    <a:p>
                      <a:pPr algn="l" rtl="0" fontAlgn="ctr" latinLnBrk="0"/>
                      <a:r>
                        <a:rPr lang="en-US" sz="900" b="0" i="0" u="none" strike="noStrike" dirty="0">
                          <a:solidFill>
                            <a:srgbClr val="000000"/>
                          </a:solidFill>
                          <a:latin typeface="Arial Narrow" pitchFamily="34" charset="0"/>
                        </a:rPr>
                        <a:t>SPC</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chemeClr val="tx1"/>
                          </a:solidFill>
                          <a:latin typeface="Arial Narrow" pitchFamily="34" charset="0"/>
                        </a:rPr>
                        <a:t>O</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23101">
                <a:tc vMerge="1">
                  <a:txBody>
                    <a:bodyPr/>
                    <a:lstStyle/>
                    <a:p>
                      <a:endParaRPr lang="en-US"/>
                    </a:p>
                  </a:txBody>
                  <a:tcPr/>
                </a:tc>
                <a:tc gridSpan="2">
                  <a:txBody>
                    <a:bodyPr/>
                    <a:lstStyle/>
                    <a:p>
                      <a:pPr algn="l" rtl="0" fontAlgn="ctr" latinLnBrk="0"/>
                      <a:r>
                        <a:rPr lang="en-US" sz="900" b="0" i="0" u="none" strike="noStrike" dirty="0">
                          <a:solidFill>
                            <a:schemeClr val="tx1"/>
                          </a:solidFill>
                          <a:latin typeface="Arial Narrow" pitchFamily="34" charset="0"/>
                        </a:rPr>
                        <a:t>ISO 9001 / IATF16949</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chemeClr val="tx1"/>
                          </a:solidFill>
                          <a:latin typeface="Arial Narrow" pitchFamily="34" charset="0"/>
                        </a:rPr>
                        <a:t>O</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56962">
                <a:tc vMerge="1">
                  <a:txBody>
                    <a:bodyPr/>
                    <a:lstStyle/>
                    <a:p>
                      <a:endParaRPr lang="en-US"/>
                    </a:p>
                  </a:txBody>
                  <a:tcPr/>
                </a:tc>
                <a:tc gridSpan="2">
                  <a:txBody>
                    <a:bodyPr/>
                    <a:lstStyle/>
                    <a:p>
                      <a:pPr algn="l" rtl="0" fontAlgn="t" latinLnBrk="0"/>
                      <a:r>
                        <a:rPr lang="en-US" sz="900" b="0" i="0" u="none" strike="noStrike" dirty="0">
                          <a:solidFill>
                            <a:schemeClr val="tx1"/>
                          </a:solidFill>
                          <a:latin typeface="Arial Narrow" pitchFamily="34" charset="0"/>
                        </a:rPr>
                        <a:t>Audit techniques (Establishment of audit plan, execution, </a:t>
                      </a:r>
                    </a:p>
                    <a:p>
                      <a:pPr algn="l" rtl="0" fontAlgn="t" latinLnBrk="0"/>
                      <a:r>
                        <a:rPr lang="en-US" sz="900" b="0" i="0" u="none" strike="noStrike" dirty="0">
                          <a:solidFill>
                            <a:schemeClr val="tx1"/>
                          </a:solidFill>
                          <a:latin typeface="Arial Narrow" pitchFamily="34" charset="0"/>
                        </a:rPr>
                        <a:t>report writing and closing nonconformity) </a:t>
                      </a:r>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chemeClr val="tx1"/>
                          </a:solidFill>
                          <a:latin typeface="Arial Narrow" pitchFamily="34" charset="0"/>
                        </a:rPr>
                        <a:t>O</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a:solidFill>
                            <a:srgbClr val="000000"/>
                          </a:solidFill>
                          <a:latin typeface="Arial Narrow" pitchFamily="34" charset="0"/>
                        </a:rPr>
                        <a:t>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23101">
                <a:tc vMerge="1">
                  <a:txBody>
                    <a:bodyPr/>
                    <a:lstStyle/>
                    <a:p>
                      <a:endParaRPr lang="en-US"/>
                    </a:p>
                  </a:txBody>
                  <a:tcPr/>
                </a:tc>
                <a:tc gridSpan="2">
                  <a:txBody>
                    <a:bodyPr/>
                    <a:lstStyle/>
                    <a:p>
                      <a:pPr algn="l" rtl="0" fontAlgn="ctr" latinLnBrk="0"/>
                      <a:r>
                        <a:rPr lang="en-US" sz="900" b="0" i="0" u="none" strike="noStrike" dirty="0">
                          <a:solidFill>
                            <a:schemeClr val="tx1"/>
                          </a:solidFill>
                          <a:latin typeface="Arial Narrow" pitchFamily="34" charset="0"/>
                        </a:rPr>
                        <a:t>Customer Specific Requirement (refer to table 1/ page 10 )</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chemeClr val="tx1"/>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rgbClr val="000000"/>
                          </a:solidFill>
                          <a:latin typeface="Arial Narrow" pitchFamily="34" charset="0"/>
                        </a:rPr>
                        <a:t> O</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23101">
                <a:tc>
                  <a:txBody>
                    <a:bodyPr/>
                    <a:lstStyle/>
                    <a:p>
                      <a:pPr algn="ctr" rtl="0" fontAlgn="ctr" latinLnBrk="0"/>
                      <a:endParaRPr lang="en-US" sz="900" b="1" i="0" u="none" strike="noStrike" dirty="0">
                        <a:solidFill>
                          <a:srgbClr val="00B0F0"/>
                        </a:solidFill>
                        <a:latin typeface="Arial Narrow" pitchFamily="34" charset="0"/>
                      </a:endParaRP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gridSpan="2">
                  <a:txBody>
                    <a:bodyPr/>
                    <a:lstStyle/>
                    <a:p>
                      <a:pPr algn="l" rtl="0" fontAlgn="ctr" latinLnBrk="0"/>
                      <a:r>
                        <a:rPr lang="es-ES" sz="900" b="0" i="0" u="none" strike="noStrike" dirty="0">
                          <a:solidFill>
                            <a:schemeClr val="tx1"/>
                          </a:solidFill>
                          <a:latin typeface="Arial Narrow" pitchFamily="34" charset="0"/>
                        </a:rPr>
                        <a:t>VDA 6.3</a:t>
                      </a:r>
                      <a:endParaRPr lang="en-US" sz="900" b="0" i="0" u="none" strike="noStrike" dirty="0">
                        <a:solidFill>
                          <a:schemeClr val="tx1"/>
                        </a:solidFill>
                        <a:latin typeface="Arial Narrow" pitchFamily="34" charset="0"/>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endParaRPr lang="en-US" sz="900" b="0" i="0" u="none" strike="noStrike" dirty="0">
                        <a:solidFill>
                          <a:schemeClr val="tx1"/>
                        </a:solidFill>
                        <a:latin typeface="Arial Narrow" pitchFamily="34" charset="0"/>
                      </a:endParaRP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chemeClr val="tx1"/>
                          </a:solidFill>
                          <a:latin typeface="Arial Narrow" pitchFamily="34" charset="0"/>
                        </a:rPr>
                        <a:t>O</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endParaRPr lang="en-US" sz="900" b="0" i="0" u="none" strike="noStrike" dirty="0">
                        <a:solidFill>
                          <a:schemeClr val="tx1"/>
                        </a:solidFill>
                        <a:latin typeface="Arial Narrow" pitchFamily="34" charset="0"/>
                      </a:endParaRP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endParaRPr lang="en-US" sz="900" b="0" i="0" u="none" strike="noStrike" dirty="0">
                        <a:solidFill>
                          <a:srgbClr val="000000"/>
                        </a:solidFill>
                        <a:latin typeface="Arial Narrow" pitchFamily="34" charset="0"/>
                      </a:endParaRP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23101">
                <a:tc>
                  <a:txBody>
                    <a:bodyPr/>
                    <a:lstStyle/>
                    <a:p>
                      <a:pPr algn="ctr" rtl="0" fontAlgn="ctr" latinLnBrk="0"/>
                      <a:endParaRPr lang="en-US" sz="900" b="1" i="0" u="none" strike="noStrike" dirty="0">
                        <a:solidFill>
                          <a:srgbClr val="00B0F0"/>
                        </a:solidFill>
                        <a:latin typeface="Arial Narrow" pitchFamily="34" charset="0"/>
                      </a:endParaRP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gridSpan="2">
                  <a:txBody>
                    <a:bodyPr/>
                    <a:lstStyle/>
                    <a:p>
                      <a:pPr algn="l" rtl="0" fontAlgn="ctr" latinLnBrk="0"/>
                      <a:r>
                        <a:rPr lang="es-ES" sz="900" b="0" i="0" u="none" strike="noStrike" dirty="0">
                          <a:solidFill>
                            <a:schemeClr val="tx1"/>
                          </a:solidFill>
                          <a:latin typeface="Arial Narrow" pitchFamily="34" charset="0"/>
                        </a:rPr>
                        <a:t>VDA 6.5</a:t>
                      </a:r>
                      <a:endParaRPr lang="en-US" sz="900" b="0" i="0" u="none" strike="noStrike" dirty="0">
                        <a:solidFill>
                          <a:schemeClr val="tx1"/>
                        </a:solidFill>
                        <a:latin typeface="Arial Narrow" pitchFamily="34" charset="0"/>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endParaRPr lang="en-US" sz="900" b="0" i="0" u="none" strike="noStrike" dirty="0">
                        <a:solidFill>
                          <a:schemeClr val="tx1"/>
                        </a:solidFill>
                        <a:latin typeface="Arial Narrow" pitchFamily="34" charset="0"/>
                      </a:endParaRP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chemeClr val="tx1"/>
                          </a:solidFill>
                          <a:latin typeface="Arial Narrow" pitchFamily="34" charset="0"/>
                        </a:rPr>
                        <a:t>O</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endParaRPr lang="en-US" sz="900" b="0" i="0" u="none" strike="noStrike" dirty="0">
                        <a:solidFill>
                          <a:schemeClr val="tx1"/>
                        </a:solidFill>
                        <a:latin typeface="Arial Narrow" pitchFamily="34" charset="0"/>
                      </a:endParaRP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endParaRPr lang="en-US" sz="900" b="0" i="0" u="none" strike="noStrike" dirty="0">
                        <a:solidFill>
                          <a:srgbClr val="000000"/>
                        </a:solidFill>
                        <a:latin typeface="Arial Narrow" pitchFamily="34" charset="0"/>
                      </a:endParaRP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73984">
                <a:tc>
                  <a:txBody>
                    <a:bodyPr/>
                    <a:lstStyle/>
                    <a:p>
                      <a:pPr algn="ctr" rtl="0" fontAlgn="ctr" latinLnBrk="0"/>
                      <a:r>
                        <a:rPr lang="en-US" sz="900" b="1" i="0" u="none" strike="noStrike">
                          <a:solidFill>
                            <a:srgbClr val="000000"/>
                          </a:solidFill>
                          <a:latin typeface="Arial Narrow" pitchFamily="34" charset="0"/>
                        </a:rPr>
                        <a:t>Education</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gridSpan="2">
                  <a:txBody>
                    <a:bodyPr/>
                    <a:lstStyle/>
                    <a:p>
                      <a:pPr algn="l" rtl="0" fontAlgn="ctr" latinLnBrk="0"/>
                      <a:r>
                        <a:rPr lang="en-US" sz="900" b="0" i="0" u="none" strike="noStrike" dirty="0">
                          <a:solidFill>
                            <a:srgbClr val="000000"/>
                          </a:solidFill>
                          <a:latin typeface="Arial Narrow" pitchFamily="34" charset="0"/>
                        </a:rPr>
                        <a:t>Education</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r>
                        <a:rPr lang="en-US" sz="900" b="0" i="0" u="none" strike="noStrike" dirty="0">
                          <a:solidFill>
                            <a:srgbClr val="000000"/>
                          </a:solidFill>
                          <a:latin typeface="Arial Narrow" pitchFamily="34" charset="0"/>
                        </a:rPr>
                        <a:t>College </a:t>
                      </a:r>
                    </a:p>
                    <a:p>
                      <a:pPr algn="ctr" rtl="0" fontAlgn="ctr" latinLnBrk="0"/>
                      <a:r>
                        <a:rPr lang="en-US" sz="900" b="0" i="0" u="none" strike="noStrike" dirty="0">
                          <a:solidFill>
                            <a:srgbClr val="000000"/>
                          </a:solidFill>
                          <a:latin typeface="Arial Narrow" pitchFamily="34" charset="0"/>
                        </a:rPr>
                        <a:t>or higher</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College </a:t>
                      </a:r>
                    </a:p>
                    <a:p>
                      <a:pPr algn="ctr" rtl="0" fontAlgn="ctr" latinLnBrk="0"/>
                      <a:r>
                        <a:rPr lang="en-US" sz="900" b="0" i="0" u="none" strike="noStrike" dirty="0">
                          <a:solidFill>
                            <a:srgbClr val="000000"/>
                          </a:solidFill>
                          <a:latin typeface="Arial Narrow" pitchFamily="34" charset="0"/>
                        </a:rPr>
                        <a:t>or higher</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rgbClr val="000000"/>
                          </a:solidFill>
                          <a:latin typeface="Arial Narrow" pitchFamily="34" charset="0"/>
                        </a:rPr>
                        <a:t>High school</a:t>
                      </a:r>
                      <a:br>
                        <a:rPr lang="en-US" sz="900" b="0" i="0" u="none" strike="noStrike" dirty="0">
                          <a:solidFill>
                            <a:srgbClr val="000000"/>
                          </a:solidFill>
                          <a:latin typeface="Arial Narrow" pitchFamily="34" charset="0"/>
                        </a:rPr>
                      </a:br>
                      <a:r>
                        <a:rPr lang="en-US" sz="900" b="0" i="0" u="none" strike="noStrike" dirty="0">
                          <a:solidFill>
                            <a:srgbClr val="000000"/>
                          </a:solidFill>
                          <a:latin typeface="Arial Narrow" pitchFamily="34" charset="0"/>
                        </a:rPr>
                        <a:t>or</a:t>
                      </a:r>
                      <a:r>
                        <a:rPr lang="en-US" sz="900" b="0" i="0" u="none" strike="noStrike" baseline="0" dirty="0">
                          <a:solidFill>
                            <a:srgbClr val="000000"/>
                          </a:solidFill>
                          <a:latin typeface="Arial Narrow" pitchFamily="34" charset="0"/>
                        </a:rPr>
                        <a:t> </a:t>
                      </a:r>
                      <a:r>
                        <a:rPr lang="en-US" sz="900" b="0" i="0" u="none" strike="noStrike" dirty="0">
                          <a:solidFill>
                            <a:srgbClr val="000000"/>
                          </a:solidFill>
                          <a:latin typeface="Arial Narrow" pitchFamily="34" charset="0"/>
                        </a:rPr>
                        <a:t>higher</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fontAlgn="ctr" latinLnBrk="0"/>
                      <a:r>
                        <a:rPr lang="en-US" sz="900" b="0" i="0" u="none" strike="noStrike" dirty="0">
                          <a:solidFill>
                            <a:srgbClr val="000000"/>
                          </a:solidFill>
                          <a:latin typeface="Arial Narrow" pitchFamily="34" charset="0"/>
                        </a:rPr>
                        <a:t>College </a:t>
                      </a:r>
                      <a:br>
                        <a:rPr lang="en-US" sz="900" b="0" i="0" u="none" strike="noStrike" dirty="0">
                          <a:solidFill>
                            <a:srgbClr val="000000"/>
                          </a:solidFill>
                          <a:latin typeface="Arial Narrow" pitchFamily="34" charset="0"/>
                        </a:rPr>
                      </a:br>
                      <a:r>
                        <a:rPr lang="en-US" sz="900" b="0" i="0" u="none" strike="noStrike" dirty="0">
                          <a:solidFill>
                            <a:srgbClr val="000000"/>
                          </a:solidFill>
                          <a:latin typeface="Arial Narrow" pitchFamily="34" charset="0"/>
                        </a:rPr>
                        <a:t>or higher</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490822">
                <a:tc>
                  <a:txBody>
                    <a:bodyPr/>
                    <a:lstStyle/>
                    <a:p>
                      <a:pPr algn="ctr" rtl="0" fontAlgn="ctr" latinLnBrk="0"/>
                      <a:r>
                        <a:rPr lang="en-US" sz="900" b="1" i="0" u="none" strike="noStrike" dirty="0">
                          <a:solidFill>
                            <a:srgbClr val="000000"/>
                          </a:solidFill>
                          <a:latin typeface="Arial Narrow" pitchFamily="34" charset="0"/>
                        </a:rPr>
                        <a:t>Experience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gridSpan="2">
                  <a:txBody>
                    <a:bodyPr/>
                    <a:lstStyle/>
                    <a:p>
                      <a:pPr algn="l" rtl="0" fontAlgn="ctr" latinLnBrk="0"/>
                      <a:r>
                        <a:rPr lang="en-US" sz="900" b="0" i="0" u="none" strike="noStrike" dirty="0">
                          <a:solidFill>
                            <a:srgbClr val="000000"/>
                          </a:solidFill>
                          <a:latin typeface="Arial Narrow" pitchFamily="34" charset="0"/>
                        </a:rPr>
                        <a:t>More than </a:t>
                      </a:r>
                      <a:r>
                        <a:rPr lang="en-US" sz="900" b="0" i="0" u="none" strike="noStrike" dirty="0">
                          <a:solidFill>
                            <a:srgbClr val="0070C0"/>
                          </a:solidFill>
                          <a:latin typeface="Arial Narrow" pitchFamily="34" charset="0"/>
                        </a:rPr>
                        <a:t>2 </a:t>
                      </a:r>
                      <a:r>
                        <a:rPr lang="en-US" sz="900" b="0" i="0" u="none" strike="noStrike" dirty="0">
                          <a:solidFill>
                            <a:srgbClr val="000000"/>
                          </a:solidFill>
                          <a:latin typeface="Arial Narrow" pitchFamily="34" charset="0"/>
                        </a:rPr>
                        <a:t>year of experience in applicable field (Quality, Production, Production Engineering, Elementary, Technology, Local </a:t>
                      </a:r>
                      <a:r>
                        <a:rPr lang="en-US" sz="900" b="0" i="0" u="none" strike="noStrike" dirty="0" err="1">
                          <a:solidFill>
                            <a:srgbClr val="000000"/>
                          </a:solidFill>
                          <a:latin typeface="Arial Narrow" pitchFamily="34" charset="0"/>
                        </a:rPr>
                        <a:t>Development,etc</a:t>
                      </a:r>
                      <a:r>
                        <a:rPr lang="en-US" sz="900" b="0" i="0" u="none" strike="noStrike" dirty="0">
                          <a:solidFill>
                            <a:srgbClr val="000000"/>
                          </a:solidFill>
                          <a:latin typeface="Arial Narrow" pitchFamily="34" charset="0"/>
                        </a:rPr>
                        <a:t>) </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356962">
                <a:tc>
                  <a:txBody>
                    <a:bodyPr/>
                    <a:lstStyle/>
                    <a:p>
                      <a:pPr algn="ctr" rtl="0" fontAlgn="ctr" latinLnBrk="0"/>
                      <a:r>
                        <a:rPr lang="en-US" sz="900" b="1" i="0" u="none" strike="noStrike" dirty="0">
                          <a:solidFill>
                            <a:srgbClr val="000000"/>
                          </a:solidFill>
                          <a:latin typeface="Arial Narrow" pitchFamily="34" charset="0"/>
                        </a:rPr>
                        <a:t>Communication </a:t>
                      </a:r>
                    </a:p>
                    <a:p>
                      <a:pPr algn="ctr" rtl="0" fontAlgn="ctr" latinLnBrk="0"/>
                      <a:r>
                        <a:rPr lang="en-US" sz="900" b="1" i="0" u="none" strike="noStrike" dirty="0">
                          <a:solidFill>
                            <a:srgbClr val="000000"/>
                          </a:solidFill>
                          <a:latin typeface="Arial Narrow" pitchFamily="34" charset="0"/>
                        </a:rPr>
                        <a:t>skill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2F2F2"/>
                    </a:solidFill>
                  </a:tcPr>
                </a:tc>
                <a:tc gridSpan="2">
                  <a:txBody>
                    <a:bodyPr/>
                    <a:lstStyle/>
                    <a:p>
                      <a:pPr algn="l" rtl="0" fontAlgn="ctr" latinLnBrk="0"/>
                      <a:r>
                        <a:rPr lang="en-US" sz="900" b="0" i="0" u="none" strike="noStrike" dirty="0">
                          <a:solidFill>
                            <a:srgbClr val="000000"/>
                          </a:solidFill>
                          <a:latin typeface="Arial Narrow" pitchFamily="34" charset="0"/>
                        </a:rPr>
                        <a:t>Who can communicate for the audit</a:t>
                      </a:r>
                      <a:br>
                        <a:rPr lang="en-US" sz="900" b="0" i="0" u="none" strike="noStrike" dirty="0">
                          <a:solidFill>
                            <a:srgbClr val="000000"/>
                          </a:solidFill>
                          <a:latin typeface="Arial Narrow" pitchFamily="34" charset="0"/>
                        </a:rPr>
                      </a:br>
                      <a:r>
                        <a:rPr lang="en-US" sz="900" b="0" i="0" u="none" strike="noStrike" dirty="0">
                          <a:solidFill>
                            <a:srgbClr val="000000"/>
                          </a:solidFill>
                          <a:latin typeface="Arial Narrow" pitchFamily="34" charset="0"/>
                        </a:rPr>
                        <a:t>(Local language, English), Interpretation permitted</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hMerge="1">
                  <a:txBody>
                    <a:bodyPr/>
                    <a:lstStyle/>
                    <a:p>
                      <a:endParaRPr lang="en-US"/>
                    </a:p>
                  </a:txBody>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tc>
                  <a:txBody>
                    <a:bodyPr/>
                    <a:lstStyle/>
                    <a:p>
                      <a:pPr algn="ctr" rtl="0" fontAlgn="ctr" latinLnBrk="0"/>
                      <a:r>
                        <a:rPr lang="en-US" sz="900" b="0" i="0" u="none" strike="noStrike" dirty="0">
                          <a:solidFill>
                            <a:srgbClr val="000000"/>
                          </a:solidFill>
                          <a:latin typeface="Arial Narrow" pitchFamily="34" charset="0"/>
                        </a:rPr>
                        <a:t>O </a:t>
                      </a:r>
                    </a:p>
                  </a:txBody>
                  <a:tcPr marL="18288" marR="18288" marT="18288" marB="18288"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sp>
        <p:nvSpPr>
          <p:cNvPr id="5" name="Rectangle 4">
            <a:extLst>
              <a:ext uri="{FF2B5EF4-FFF2-40B4-BE49-F238E27FC236}">
                <a16:creationId xmlns:a16="http://schemas.microsoft.com/office/drawing/2014/main" id="{3A630DA8-4D28-F7C4-A615-4706CB78CF39}"/>
              </a:ext>
            </a:extLst>
          </p:cNvPr>
          <p:cNvSpPr>
            <a:spLocks noChangeArrowheads="1"/>
          </p:cNvSpPr>
          <p:nvPr/>
        </p:nvSpPr>
        <p:spPr bwMode="auto">
          <a:xfrm>
            <a:off x="115888" y="1208584"/>
            <a:ext cx="6554787" cy="2031968"/>
          </a:xfrm>
          <a:prstGeom prst="rect">
            <a:avLst/>
          </a:prstGeom>
          <a:noFill/>
          <a:ln w="9525">
            <a:noFill/>
            <a:miter lim="800000"/>
            <a:headEnd/>
            <a:tailEnd/>
          </a:ln>
        </p:spPr>
        <p:txBody>
          <a:bodyPr lIns="92075" tIns="46038" rIns="92075" bIns="46038">
            <a:spAutoFit/>
          </a:bodyPr>
          <a:lstStyle/>
          <a:p>
            <a:pPr algn="just" defTabSz="762000">
              <a:lnSpc>
                <a:spcPct val="150000"/>
              </a:lnSpc>
            </a:pPr>
            <a:r>
              <a:rPr lang="en-US" altLang="ko-KR" sz="1200" dirty="0">
                <a:latin typeface="Arial Narrow" pitchFamily="34" charset="0"/>
                <a:ea typeface="돋움" pitchFamily="50" charset="-127"/>
                <a:cs typeface="Arial" pitchFamily="34" charset="0"/>
              </a:rPr>
              <a:t>2) Initial evaluation shall be done with the qualification Evaluation Report and members being evaluated shall have minimum score of 70 in order to be qualified</a:t>
            </a:r>
          </a:p>
          <a:p>
            <a:pPr algn="just" defTabSz="762000">
              <a:lnSpc>
                <a:spcPct val="150000"/>
              </a:lnSpc>
            </a:pPr>
            <a:r>
              <a:rPr lang="en-US" altLang="ko-KR" sz="1200" b="0" dirty="0">
                <a:latin typeface="Arial Narrow" pitchFamily="34" charset="0"/>
                <a:ea typeface="돋움" pitchFamily="50" charset="-127"/>
                <a:cs typeface="Arial" pitchFamily="34" charset="0"/>
              </a:rPr>
              <a:t>At a minimum, manufacturing process auditors shall demonstrate technical understanding of the relevant manufacturing process(</a:t>
            </a:r>
            <a:r>
              <a:rPr lang="en-US" altLang="ko-KR" sz="1200" b="0" dirty="0" err="1">
                <a:latin typeface="Arial Narrow" pitchFamily="34" charset="0"/>
                <a:ea typeface="돋움" pitchFamily="50" charset="-127"/>
                <a:cs typeface="Arial" pitchFamily="34" charset="0"/>
              </a:rPr>
              <a:t>es</a:t>
            </a:r>
            <a:r>
              <a:rPr lang="en-US" altLang="ko-KR" sz="1200" b="0" dirty="0">
                <a:latin typeface="Arial Narrow" pitchFamily="34" charset="0"/>
                <a:ea typeface="돋움" pitchFamily="50" charset="-127"/>
                <a:cs typeface="Arial" pitchFamily="34" charset="0"/>
              </a:rPr>
              <a:t>) to be audited, including process risk analysis (such as PFMEA) and control plan. </a:t>
            </a:r>
          </a:p>
          <a:p>
            <a:pPr algn="just" defTabSz="762000">
              <a:lnSpc>
                <a:spcPct val="150000"/>
              </a:lnSpc>
            </a:pPr>
            <a:r>
              <a:rPr lang="en-US" altLang="ko-KR" sz="1200" b="0" dirty="0">
                <a:latin typeface="Arial Narrow" pitchFamily="34" charset="0"/>
                <a:ea typeface="돋움" pitchFamily="50" charset="-127"/>
                <a:cs typeface="Arial" pitchFamily="34" charset="0"/>
              </a:rPr>
              <a:t>At a minimum, product auditors shall demonstrate competence in understanding product requirements and use of relevant measuring and test equipment to verify product conformity. </a:t>
            </a:r>
            <a:r>
              <a:rPr lang="en-US" altLang="ko-KR" sz="1200" dirty="0">
                <a:latin typeface="Arial Narrow" pitchFamily="34" charset="0"/>
                <a:ea typeface="돋움" pitchFamily="50" charset="-127"/>
                <a:cs typeface="Arial" pitchFamily="34" charset="0"/>
              </a:rPr>
              <a:t>(Manufacturing process &amp; Product </a:t>
            </a:r>
            <a:r>
              <a:rPr lang="en-US" altLang="ko-KR" sz="1200" b="0" dirty="0">
                <a:latin typeface="Arial Narrow" pitchFamily="34" charset="0"/>
                <a:ea typeface="돋움" pitchFamily="50" charset="-127"/>
                <a:cs typeface="Arial" pitchFamily="34" charset="0"/>
              </a:rPr>
              <a:t>auditable organization: </a:t>
            </a:r>
            <a:r>
              <a:rPr lang="en-US" altLang="ko-KR" sz="1200" dirty="0">
                <a:latin typeface="Arial Narrow" pitchFamily="34" charset="0"/>
                <a:ea typeface="돋움" pitchFamily="50" charset="-127"/>
                <a:cs typeface="Arial" pitchFamily="34" charset="0"/>
              </a:rPr>
              <a:t>quality, production, production engineering, elementary technology, local development staff). </a:t>
            </a:r>
            <a:endParaRPr lang="en-US" altLang="ko-KR" sz="1200" b="0" dirty="0">
              <a:latin typeface="Arial Narrow" pitchFamily="34" charset="0"/>
              <a:ea typeface="돋움" pitchFamily="50" charset="-127"/>
              <a:cs typeface="Arial" pitchFamily="34" charset="0"/>
            </a:endParaRPr>
          </a:p>
        </p:txBody>
      </p:sp>
      <p:graphicFrame>
        <p:nvGraphicFramePr>
          <p:cNvPr id="7" name="Object 6">
            <a:extLst>
              <a:ext uri="{FF2B5EF4-FFF2-40B4-BE49-F238E27FC236}">
                <a16:creationId xmlns:a16="http://schemas.microsoft.com/office/drawing/2014/main" id="{7F5A8557-ADE7-958B-405B-E0303F1F36C7}"/>
              </a:ext>
            </a:extLst>
          </p:cNvPr>
          <p:cNvGraphicFramePr>
            <a:graphicFrameLocks noChangeAspect="1"/>
          </p:cNvGraphicFramePr>
          <p:nvPr>
            <p:extLst>
              <p:ext uri="{D42A27DB-BD31-4B8C-83A1-F6EECF244321}">
                <p14:modId xmlns:p14="http://schemas.microsoft.com/office/powerpoint/2010/main" val="3283808623"/>
              </p:ext>
            </p:extLst>
          </p:nvPr>
        </p:nvGraphicFramePr>
        <p:xfrm>
          <a:off x="3117850" y="3341688"/>
          <a:ext cx="549275" cy="476250"/>
        </p:xfrm>
        <a:graphic>
          <a:graphicData uri="http://schemas.openxmlformats.org/presentationml/2006/ole">
            <mc:AlternateContent xmlns:mc="http://schemas.openxmlformats.org/markup-compatibility/2006">
              <mc:Choice xmlns:v="urn:schemas-microsoft-com:vml" Requires="v">
                <p:oleObj spid="_x0000_s2050" name="Worksheet" showAsIcon="1" r:id="rId3" imgW="774000" imgH="669240" progId="Excel.Sheet.8">
                  <p:embed/>
                </p:oleObj>
              </mc:Choice>
              <mc:Fallback>
                <p:oleObj name="Worksheet" showAsIcon="1" r:id="rId3" imgW="774000" imgH="669240" progId="Excel.Sheet.8">
                  <p:embed/>
                  <p:pic>
                    <p:nvPicPr>
                      <p:cNvPr id="4" name="Object 3">
                        <a:extLst>
                          <a:ext uri="{FF2B5EF4-FFF2-40B4-BE49-F238E27FC236}">
                            <a16:creationId xmlns:a16="http://schemas.microsoft.com/office/drawing/2014/main" id="{38BD2889-71E4-2141-71E9-4C3446281DAA}"/>
                          </a:ext>
                        </a:extLst>
                      </p:cNvPr>
                      <p:cNvPicPr>
                        <a:picLocks noChangeAspect="1" noChangeArrowheads="1"/>
                      </p:cNvPicPr>
                      <p:nvPr/>
                    </p:nvPicPr>
                    <p:blipFill>
                      <a:blip r:embed="rId4"/>
                      <a:srcRect/>
                      <a:stretch>
                        <a:fillRect/>
                      </a:stretch>
                    </p:blipFill>
                    <p:spPr bwMode="auto">
                      <a:xfrm>
                        <a:off x="3117850" y="3341688"/>
                        <a:ext cx="549275" cy="476250"/>
                      </a:xfrm>
                      <a:prstGeom prst="rect">
                        <a:avLst/>
                      </a:prstGeom>
                      <a:noFill/>
                    </p:spPr>
                  </p:pic>
                </p:oleObj>
              </mc:Fallback>
            </mc:AlternateContent>
          </a:graphicData>
        </a:graphic>
      </p:graphicFrame>
    </p:spTree>
    <p:extLst>
      <p:ext uri="{BB962C8B-B14F-4D97-AF65-F5344CB8AC3E}">
        <p14:creationId xmlns:p14="http://schemas.microsoft.com/office/powerpoint/2010/main" val="575128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18EEC-9911-B105-F144-3F818D74517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07F59CD-9C29-D9E9-48D3-C72BB00A2643}"/>
              </a:ext>
            </a:extLst>
          </p:cNvPr>
          <p:cNvSpPr>
            <a:spLocks noChangeArrowheads="1"/>
          </p:cNvSpPr>
          <p:nvPr/>
        </p:nvSpPr>
        <p:spPr bwMode="auto">
          <a:xfrm>
            <a:off x="116681" y="1265794"/>
            <a:ext cx="6624637" cy="1877759"/>
          </a:xfrm>
          <a:prstGeom prst="rect">
            <a:avLst/>
          </a:prstGeom>
          <a:noFill/>
          <a:ln w="9525">
            <a:noFill/>
            <a:miter lim="800000"/>
            <a:headEnd/>
            <a:tailEnd/>
          </a:ln>
        </p:spPr>
        <p:txBody>
          <a:bodyPr lIns="92075" tIns="46038" rIns="92075" bIns="46038">
            <a:spAutoFit/>
          </a:bodyPr>
          <a:lstStyle/>
          <a:p>
            <a:pPr algn="l" defTabSz="762000" latinLnBrk="1">
              <a:lnSpc>
                <a:spcPct val="125000"/>
              </a:lnSpc>
              <a:spcBef>
                <a:spcPts val="400"/>
              </a:spcBef>
            </a:pPr>
            <a:r>
              <a:rPr lang="en-US" altLang="ko-KR" sz="1200" b="1" dirty="0">
                <a:latin typeface="Arial Narrow" pitchFamily="34" charset="0"/>
                <a:ea typeface="맑은 고딕" pitchFamily="34" charset="-127"/>
                <a:cs typeface="Arial" pitchFamily="34" charset="0"/>
              </a:rPr>
              <a:t>Article 5.9 Internal auditor qualification maintenance</a:t>
            </a:r>
          </a:p>
          <a:p>
            <a:pPr algn="just" defTabSz="762000" latinLnBrk="1">
              <a:lnSpc>
                <a:spcPct val="125000"/>
              </a:lnSpc>
              <a:spcBef>
                <a:spcPts val="400"/>
              </a:spcBef>
            </a:pPr>
            <a:r>
              <a:rPr lang="en-US" altLang="ko-KR" sz="1200" b="0" dirty="0">
                <a:latin typeface="Arial Narrow" pitchFamily="34" charset="0"/>
                <a:ea typeface="맑은 고딕" pitchFamily="34" charset="-127"/>
                <a:cs typeface="Arial" pitchFamily="34" charset="0"/>
              </a:rPr>
              <a:t>In order to maintain the qualification, the auditor should maintain knowledge of relevant requirements based on internal changes (ex, process technology, product technology) and external changes (ex, ISO 9001, IATF 16949, core tools, and customer </a:t>
            </a:r>
            <a:r>
              <a:rPr lang="en-US" altLang="ko-KR" sz="1200" dirty="0">
                <a:latin typeface="Arial Narrow" pitchFamily="34" charset="0"/>
                <a:ea typeface="맑은 고딕" pitchFamily="34" charset="-127"/>
                <a:cs typeface="Arial" pitchFamily="34" charset="0"/>
              </a:rPr>
              <a:t>specific requirements </a:t>
            </a:r>
            <a:r>
              <a:rPr lang="en-US" altLang="ko-KR" sz="1200" b="0" dirty="0">
                <a:latin typeface="Arial Narrow" pitchFamily="34" charset="0"/>
                <a:ea typeface="맑은 고딕" pitchFamily="34" charset="-127"/>
                <a:cs typeface="Arial" pitchFamily="34" charset="0"/>
              </a:rPr>
              <a:t>- Education for more than 4 hours per year. The auditor should </a:t>
            </a:r>
            <a:r>
              <a:rPr lang="en-US" altLang="ko-KR" sz="1200" dirty="0">
                <a:latin typeface="Arial Narrow" pitchFamily="34" charset="0"/>
                <a:ea typeface="맑은 고딕" pitchFamily="34" charset="-127"/>
                <a:cs typeface="Arial" pitchFamily="34" charset="0"/>
              </a:rPr>
              <a:t>execute at least 1 audits per year.)</a:t>
            </a:r>
          </a:p>
          <a:p>
            <a:pPr defTabSz="762000" latinLnBrk="1">
              <a:lnSpc>
                <a:spcPct val="125000"/>
              </a:lnSpc>
              <a:spcBef>
                <a:spcPts val="400"/>
              </a:spcBef>
            </a:pPr>
            <a:r>
              <a:rPr lang="en-US" altLang="ko-KR" sz="1400" b="1" dirty="0">
                <a:solidFill>
                  <a:srgbClr val="000000"/>
                </a:solidFill>
                <a:latin typeface="Arial Narrow" pitchFamily="34" charset="0"/>
                <a:ea typeface="맑은 고딕" panose="020B0503020000020004" pitchFamily="50" charset="-127"/>
              </a:rPr>
              <a:t>Article 6</a:t>
            </a:r>
            <a:r>
              <a:rPr lang="en-US" altLang="ko-KR" sz="1400" b="1" baseline="0" dirty="0">
                <a:solidFill>
                  <a:srgbClr val="000000"/>
                </a:solidFill>
                <a:latin typeface="Arial Narrow" pitchFamily="34" charset="0"/>
                <a:ea typeface="맑은 고딕" panose="020B0503020000020004" pitchFamily="50" charset="-127"/>
              </a:rPr>
              <a:t> </a:t>
            </a:r>
            <a:r>
              <a:rPr lang="en-US" altLang="ko-KR" sz="1400" b="1" dirty="0">
                <a:solidFill>
                  <a:srgbClr val="000000"/>
                </a:solidFill>
                <a:latin typeface="Arial Narrow" pitchFamily="34" charset="0"/>
                <a:ea typeface="맑은 고딕" panose="020B0503020000020004" pitchFamily="50" charset="-127"/>
              </a:rPr>
              <a:t>Attachments</a:t>
            </a:r>
            <a:endParaRPr lang="ko-KR" altLang="en-US" sz="1400" b="1" dirty="0">
              <a:solidFill>
                <a:srgbClr val="000000"/>
              </a:solidFill>
              <a:latin typeface="Arial Narrow" pitchFamily="34" charset="0"/>
              <a:ea typeface="맑은 고딕" panose="020B0503020000020004" pitchFamily="50" charset="-127"/>
            </a:endParaRPr>
          </a:p>
          <a:p>
            <a:pPr algn="just" defTabSz="762000" latinLnBrk="1">
              <a:lnSpc>
                <a:spcPct val="125000"/>
              </a:lnSpc>
              <a:spcBef>
                <a:spcPts val="400"/>
              </a:spcBef>
            </a:pPr>
            <a:endParaRPr lang="en-US" altLang="ko-KR" sz="1200" dirty="0">
              <a:latin typeface="Arial Narrow" pitchFamily="34" charset="0"/>
              <a:ea typeface="맑은 고딕" pitchFamily="34" charset="-127"/>
              <a:cs typeface="Arial" pitchFamily="34" charset="0"/>
            </a:endParaRPr>
          </a:p>
        </p:txBody>
      </p:sp>
      <p:sp>
        <p:nvSpPr>
          <p:cNvPr id="5" name="TextBox 4">
            <a:extLst>
              <a:ext uri="{FF2B5EF4-FFF2-40B4-BE49-F238E27FC236}">
                <a16:creationId xmlns:a16="http://schemas.microsoft.com/office/drawing/2014/main" id="{9FD36831-0B14-B4E9-CF83-C50DA1379DAF}"/>
              </a:ext>
            </a:extLst>
          </p:cNvPr>
          <p:cNvSpPr txBox="1"/>
          <p:nvPr/>
        </p:nvSpPr>
        <p:spPr>
          <a:xfrm>
            <a:off x="1714499" y="3512840"/>
            <a:ext cx="3429000" cy="299762"/>
          </a:xfrm>
          <a:prstGeom prst="rect">
            <a:avLst/>
          </a:prstGeom>
          <a:noFill/>
        </p:spPr>
        <p:txBody>
          <a:bodyPr wrap="square">
            <a:spAutoFit/>
          </a:bodyPr>
          <a:lstStyle/>
          <a:p>
            <a:pPr marL="0" marR="0" lvl="0" indent="0" algn="ctr" defTabSz="762000" rtl="0" eaLnBrk="1" fontAlgn="base" latinLnBrk="1" hangingPunct="1">
              <a:lnSpc>
                <a:spcPct val="125000"/>
              </a:lnSpc>
              <a:spcBef>
                <a:spcPts val="400"/>
              </a:spcBef>
              <a:spcAft>
                <a:spcPct val="0"/>
              </a:spcAft>
              <a:buClrTx/>
              <a:buSzTx/>
              <a:buFontTx/>
              <a:buNone/>
              <a:tabLst/>
              <a:defRPr/>
            </a:pPr>
            <a:r>
              <a:rPr kumimoji="1" lang="en-US" altLang="ko-KR" sz="1200" b="0" i="0" u="none" strike="noStrike" kern="1200" cap="none" spc="0" normalizeH="0" baseline="0" noProof="0" dirty="0">
                <a:ln>
                  <a:noFill/>
                </a:ln>
                <a:solidFill>
                  <a:prstClr val="black"/>
                </a:solidFill>
                <a:effectLst/>
                <a:uLnTx/>
                <a:uFillTx/>
                <a:latin typeface="Arial Narrow" pitchFamily="34" charset="0"/>
                <a:ea typeface="맑은 고딕" pitchFamily="34" charset="-127"/>
                <a:cs typeface="Arial" pitchFamily="34" charset="0"/>
              </a:rPr>
              <a:t>QA-FO-19-01 Format Internal auditors</a:t>
            </a:r>
          </a:p>
        </p:txBody>
      </p:sp>
      <p:graphicFrame>
        <p:nvGraphicFramePr>
          <p:cNvPr id="7" name="Object 6">
            <a:extLst>
              <a:ext uri="{FF2B5EF4-FFF2-40B4-BE49-F238E27FC236}">
                <a16:creationId xmlns:a16="http://schemas.microsoft.com/office/drawing/2014/main" id="{32C0BA0F-E4E9-8556-C6E0-106A51F1FC0F}"/>
              </a:ext>
            </a:extLst>
          </p:cNvPr>
          <p:cNvGraphicFramePr>
            <a:graphicFrameLocks noChangeAspect="1"/>
          </p:cNvGraphicFramePr>
          <p:nvPr>
            <p:extLst>
              <p:ext uri="{D42A27DB-BD31-4B8C-83A1-F6EECF244321}">
                <p14:modId xmlns:p14="http://schemas.microsoft.com/office/powerpoint/2010/main" val="3310316991"/>
              </p:ext>
            </p:extLst>
          </p:nvPr>
        </p:nvGraphicFramePr>
        <p:xfrm>
          <a:off x="2971800" y="2865438"/>
          <a:ext cx="914400" cy="792162"/>
        </p:xfrm>
        <a:graphic>
          <a:graphicData uri="http://schemas.openxmlformats.org/presentationml/2006/ole">
            <mc:AlternateContent xmlns:mc="http://schemas.openxmlformats.org/markup-compatibility/2006">
              <mc:Choice xmlns:v="urn:schemas-microsoft-com:vml" Requires="v">
                <p:oleObj spid="_x0000_s3074" name="Worksheet" showAsIcon="1" r:id="rId3" imgW="914400" imgH="792685" progId="Excel.Sheet.12">
                  <p:embed/>
                </p:oleObj>
              </mc:Choice>
              <mc:Fallback>
                <p:oleObj name="Worksheet" showAsIcon="1" r:id="rId3" imgW="914400" imgH="792685" progId="Excel.Sheet.12">
                  <p:embed/>
                  <p:pic>
                    <p:nvPicPr>
                      <p:cNvPr id="12" name="Object 11">
                        <a:extLst>
                          <a:ext uri="{FF2B5EF4-FFF2-40B4-BE49-F238E27FC236}">
                            <a16:creationId xmlns:a16="http://schemas.microsoft.com/office/drawing/2014/main" id="{DB1F3ED4-4787-106D-89CB-7961C1CEC70F}"/>
                          </a:ext>
                        </a:extLst>
                      </p:cNvPr>
                      <p:cNvPicPr/>
                      <p:nvPr/>
                    </p:nvPicPr>
                    <p:blipFill>
                      <a:blip r:embed="rId4"/>
                      <a:stretch>
                        <a:fillRect/>
                      </a:stretch>
                    </p:blipFill>
                    <p:spPr>
                      <a:xfrm>
                        <a:off x="2971800" y="2865438"/>
                        <a:ext cx="914400" cy="792162"/>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113E6688-311F-84E0-A43E-CA20510C734D}"/>
              </a:ext>
            </a:extLst>
          </p:cNvPr>
          <p:cNvSpPr txBox="1"/>
          <p:nvPr/>
        </p:nvSpPr>
        <p:spPr>
          <a:xfrm>
            <a:off x="1916831" y="4654666"/>
            <a:ext cx="3024336" cy="276999"/>
          </a:xfrm>
          <a:prstGeom prst="rect">
            <a:avLst/>
          </a:prstGeom>
          <a:noFill/>
        </p:spPr>
        <p:txBody>
          <a:bodyPr wrap="square" rtlCol="0">
            <a:spAutoFit/>
          </a:bodyPr>
          <a:lstStyle/>
          <a:p>
            <a:pPr algn="ctr"/>
            <a:r>
              <a:rPr lang="en-US" sz="1200" dirty="0">
                <a:latin typeface="Arial Narrow" panose="020B0606020202030204" pitchFamily="34" charset="0"/>
              </a:rPr>
              <a:t>HSE System Audit Report</a:t>
            </a:r>
          </a:p>
        </p:txBody>
      </p:sp>
      <p:graphicFrame>
        <p:nvGraphicFramePr>
          <p:cNvPr id="13" name="Object 12">
            <a:hlinkClick r:id="" action="ppaction://ole?verb=0"/>
            <a:extLst>
              <a:ext uri="{FF2B5EF4-FFF2-40B4-BE49-F238E27FC236}">
                <a16:creationId xmlns:a16="http://schemas.microsoft.com/office/drawing/2014/main" id="{A5EACBEF-F13C-5A69-C2C8-BE7FB450C5FE}"/>
              </a:ext>
            </a:extLst>
          </p:cNvPr>
          <p:cNvGraphicFramePr>
            <a:graphicFrameLocks noChangeAspect="1"/>
          </p:cNvGraphicFramePr>
          <p:nvPr>
            <p:extLst>
              <p:ext uri="{D42A27DB-BD31-4B8C-83A1-F6EECF244321}">
                <p14:modId xmlns:p14="http://schemas.microsoft.com/office/powerpoint/2010/main" val="847365137"/>
              </p:ext>
            </p:extLst>
          </p:nvPr>
        </p:nvGraphicFramePr>
        <p:xfrm>
          <a:off x="2971799" y="5025008"/>
          <a:ext cx="914400" cy="792163"/>
        </p:xfrm>
        <a:graphic>
          <a:graphicData uri="http://schemas.openxmlformats.org/presentationml/2006/ole">
            <mc:AlternateContent xmlns:mc="http://schemas.openxmlformats.org/markup-compatibility/2006">
              <mc:Choice xmlns:v="urn:schemas-microsoft-com:vml" Requires="v">
                <p:oleObj spid="_x0000_s3075" name="Presentation" showAsIcon="1" r:id="rId5" imgW="914400" imgH="792685" progId="PowerPoint.Show.12">
                  <p:embed/>
                </p:oleObj>
              </mc:Choice>
              <mc:Fallback>
                <p:oleObj name="Presentation" showAsIcon="1" r:id="rId5" imgW="914400" imgH="792685" progId="PowerPoint.Show.12">
                  <p:embed/>
                  <p:pic>
                    <p:nvPicPr>
                      <p:cNvPr id="6" name="Object 5">
                        <a:hlinkClick r:id="" action="ppaction://ole?verb=0"/>
                        <a:extLst>
                          <a:ext uri="{FF2B5EF4-FFF2-40B4-BE49-F238E27FC236}">
                            <a16:creationId xmlns:a16="http://schemas.microsoft.com/office/drawing/2014/main" id="{BF417523-62D3-6736-9E7D-EBFF2BB78F37}"/>
                          </a:ext>
                        </a:extLst>
                      </p:cNvPr>
                      <p:cNvPicPr/>
                      <p:nvPr/>
                    </p:nvPicPr>
                    <p:blipFill>
                      <a:blip r:embed="rId6"/>
                      <a:stretch>
                        <a:fillRect/>
                      </a:stretch>
                    </p:blipFill>
                    <p:spPr>
                      <a:xfrm>
                        <a:off x="2971799" y="5025008"/>
                        <a:ext cx="914400" cy="792163"/>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0A2BDE80-9737-60CE-AB39-AA185D0B03FE}"/>
              </a:ext>
            </a:extLst>
          </p:cNvPr>
          <p:cNvSpPr txBox="1"/>
          <p:nvPr/>
        </p:nvSpPr>
        <p:spPr>
          <a:xfrm>
            <a:off x="1700806" y="5711722"/>
            <a:ext cx="3456385" cy="276999"/>
          </a:xfrm>
          <a:prstGeom prst="rect">
            <a:avLst/>
          </a:prstGeom>
          <a:noFill/>
        </p:spPr>
        <p:txBody>
          <a:bodyPr wrap="square" rtlCol="0">
            <a:spAutoFit/>
          </a:bodyPr>
          <a:lstStyle/>
          <a:p>
            <a:pPr algn="ctr"/>
            <a:r>
              <a:rPr lang="en-US" sz="1200" dirty="0">
                <a:latin typeface="Arial Narrow" panose="020B0606020202030204" pitchFamily="34" charset="0"/>
              </a:rPr>
              <a:t>(Countermeasure Template) Permanent Quality Audit</a:t>
            </a:r>
          </a:p>
        </p:txBody>
      </p:sp>
      <p:graphicFrame>
        <p:nvGraphicFramePr>
          <p:cNvPr id="17" name="Object 16">
            <a:hlinkClick r:id="" action="ppaction://ole?verb=0"/>
            <a:extLst>
              <a:ext uri="{FF2B5EF4-FFF2-40B4-BE49-F238E27FC236}">
                <a16:creationId xmlns:a16="http://schemas.microsoft.com/office/drawing/2014/main" id="{E655554F-03CD-8F83-EE6C-17627D3705B6}"/>
              </a:ext>
            </a:extLst>
          </p:cNvPr>
          <p:cNvGraphicFramePr>
            <a:graphicFrameLocks noChangeAspect="1"/>
          </p:cNvGraphicFramePr>
          <p:nvPr>
            <p:extLst>
              <p:ext uri="{D42A27DB-BD31-4B8C-83A1-F6EECF244321}">
                <p14:modId xmlns:p14="http://schemas.microsoft.com/office/powerpoint/2010/main" val="2518267096"/>
              </p:ext>
            </p:extLst>
          </p:nvPr>
        </p:nvGraphicFramePr>
        <p:xfrm>
          <a:off x="2971800" y="6105053"/>
          <a:ext cx="914400" cy="792163"/>
        </p:xfrm>
        <a:graphic>
          <a:graphicData uri="http://schemas.openxmlformats.org/presentationml/2006/ole">
            <mc:AlternateContent xmlns:mc="http://schemas.openxmlformats.org/markup-compatibility/2006">
              <mc:Choice xmlns:v="urn:schemas-microsoft-com:vml" Requires="v">
                <p:oleObj spid="_x0000_s3076" name="Presentation" showAsIcon="1" r:id="rId7" imgW="914400" imgH="792685" progId="PowerPoint.Show.12">
                  <p:embed/>
                </p:oleObj>
              </mc:Choice>
              <mc:Fallback>
                <p:oleObj name="Presentation" showAsIcon="1" r:id="rId7" imgW="914400" imgH="792685" progId="PowerPoint.Show.12">
                  <p:embed/>
                  <p:pic>
                    <p:nvPicPr>
                      <p:cNvPr id="8" name="Object 7">
                        <a:hlinkClick r:id="" action="ppaction://ole?verb=0"/>
                        <a:extLst>
                          <a:ext uri="{FF2B5EF4-FFF2-40B4-BE49-F238E27FC236}">
                            <a16:creationId xmlns:a16="http://schemas.microsoft.com/office/drawing/2014/main" id="{7B9F34C4-4930-6613-938C-20260312EE73}"/>
                          </a:ext>
                        </a:extLst>
                      </p:cNvPr>
                      <p:cNvPicPr/>
                      <p:nvPr/>
                    </p:nvPicPr>
                    <p:blipFill>
                      <a:blip r:embed="rId8"/>
                      <a:stretch>
                        <a:fillRect/>
                      </a:stretch>
                    </p:blipFill>
                    <p:spPr>
                      <a:xfrm>
                        <a:off x="2971800" y="6105053"/>
                        <a:ext cx="914400" cy="792163"/>
                      </a:xfrm>
                      <a:prstGeom prst="rect">
                        <a:avLst/>
                      </a:prstGeom>
                    </p:spPr>
                  </p:pic>
                </p:oleObj>
              </mc:Fallback>
            </mc:AlternateContent>
          </a:graphicData>
        </a:graphic>
      </p:graphicFrame>
      <p:sp>
        <p:nvSpPr>
          <p:cNvPr id="19" name="TextBox 18">
            <a:extLst>
              <a:ext uri="{FF2B5EF4-FFF2-40B4-BE49-F238E27FC236}">
                <a16:creationId xmlns:a16="http://schemas.microsoft.com/office/drawing/2014/main" id="{5D2ACFFB-A92E-9A94-72A8-97FCC2B38C60}"/>
              </a:ext>
            </a:extLst>
          </p:cNvPr>
          <p:cNvSpPr txBox="1"/>
          <p:nvPr/>
        </p:nvSpPr>
        <p:spPr>
          <a:xfrm>
            <a:off x="1592795" y="6811129"/>
            <a:ext cx="3672409" cy="276999"/>
          </a:xfrm>
          <a:prstGeom prst="rect">
            <a:avLst/>
          </a:prstGeom>
          <a:noFill/>
        </p:spPr>
        <p:txBody>
          <a:bodyPr wrap="square" rtlCol="0">
            <a:spAutoFit/>
          </a:bodyPr>
          <a:lstStyle/>
          <a:p>
            <a:pPr algn="ctr"/>
            <a:r>
              <a:rPr lang="en-US" sz="1200" dirty="0">
                <a:latin typeface="Arial Narrow" panose="020B0606020202030204" pitchFamily="34" charset="0"/>
              </a:rPr>
              <a:t>(Report Template) OQA Core risk Q-Audit Report</a:t>
            </a:r>
          </a:p>
        </p:txBody>
      </p:sp>
      <p:graphicFrame>
        <p:nvGraphicFramePr>
          <p:cNvPr id="21" name="Object 20">
            <a:hlinkClick r:id="" action="ppaction://ole?verb=0"/>
            <a:extLst>
              <a:ext uri="{FF2B5EF4-FFF2-40B4-BE49-F238E27FC236}">
                <a16:creationId xmlns:a16="http://schemas.microsoft.com/office/drawing/2014/main" id="{419AD0D1-F035-41E1-AD9A-C2F6AD6A65FB}"/>
              </a:ext>
            </a:extLst>
          </p:cNvPr>
          <p:cNvGraphicFramePr>
            <a:graphicFrameLocks noChangeAspect="1"/>
          </p:cNvGraphicFramePr>
          <p:nvPr>
            <p:extLst>
              <p:ext uri="{D42A27DB-BD31-4B8C-83A1-F6EECF244321}">
                <p14:modId xmlns:p14="http://schemas.microsoft.com/office/powerpoint/2010/main" val="1624431737"/>
              </p:ext>
            </p:extLst>
          </p:nvPr>
        </p:nvGraphicFramePr>
        <p:xfrm>
          <a:off x="2971800" y="7113240"/>
          <a:ext cx="914400" cy="792163"/>
        </p:xfrm>
        <a:graphic>
          <a:graphicData uri="http://schemas.openxmlformats.org/presentationml/2006/ole">
            <mc:AlternateContent xmlns:mc="http://schemas.openxmlformats.org/markup-compatibility/2006">
              <mc:Choice xmlns:v="urn:schemas-microsoft-com:vml" Requires="v">
                <p:oleObj spid="_x0000_s3077" name="Presentation" showAsIcon="1" r:id="rId9" imgW="914400" imgH="792685" progId="PowerPoint.Show.12">
                  <p:embed/>
                </p:oleObj>
              </mc:Choice>
              <mc:Fallback>
                <p:oleObj name="Presentation" showAsIcon="1" r:id="rId9" imgW="914400" imgH="792685" progId="PowerPoint.Show.12">
                  <p:embed/>
                  <p:pic>
                    <p:nvPicPr>
                      <p:cNvPr id="13" name="Object 12">
                        <a:hlinkClick r:id="" action="ppaction://ole?verb=0"/>
                        <a:extLst>
                          <a:ext uri="{FF2B5EF4-FFF2-40B4-BE49-F238E27FC236}">
                            <a16:creationId xmlns:a16="http://schemas.microsoft.com/office/drawing/2014/main" id="{C9293DC4-3C11-809D-5660-7E56D42F043A}"/>
                          </a:ext>
                        </a:extLst>
                      </p:cNvPr>
                      <p:cNvPicPr/>
                      <p:nvPr/>
                    </p:nvPicPr>
                    <p:blipFill>
                      <a:blip r:embed="rId10"/>
                      <a:stretch>
                        <a:fillRect/>
                      </a:stretch>
                    </p:blipFill>
                    <p:spPr>
                      <a:xfrm>
                        <a:off x="2971800" y="7113240"/>
                        <a:ext cx="914400" cy="792163"/>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F676DC3A-9E5B-825A-590D-D3618CFE1FEB}"/>
              </a:ext>
            </a:extLst>
          </p:cNvPr>
          <p:cNvSpPr txBox="1"/>
          <p:nvPr/>
        </p:nvSpPr>
        <p:spPr>
          <a:xfrm>
            <a:off x="1448778" y="7788127"/>
            <a:ext cx="3960440" cy="276999"/>
          </a:xfrm>
          <a:prstGeom prst="rect">
            <a:avLst/>
          </a:prstGeom>
          <a:noFill/>
        </p:spPr>
        <p:txBody>
          <a:bodyPr wrap="square" rtlCol="0">
            <a:spAutoFit/>
          </a:bodyPr>
          <a:lstStyle/>
          <a:p>
            <a:pPr algn="ctr"/>
            <a:r>
              <a:rPr lang="en-US" sz="1200" dirty="0">
                <a:solidFill>
                  <a:srgbClr val="0070C0"/>
                </a:solidFill>
                <a:latin typeface="Arial Narrow" panose="020B0606020202030204" pitchFamily="34" charset="0"/>
              </a:rPr>
              <a:t>(Report Template) Year 2025 Half Year Q-Audit Report</a:t>
            </a:r>
          </a:p>
        </p:txBody>
      </p:sp>
      <p:graphicFrame>
        <p:nvGraphicFramePr>
          <p:cNvPr id="25" name="Object 24">
            <a:hlinkClick r:id="" action="ppaction://ole?verb=0"/>
            <a:extLst>
              <a:ext uri="{FF2B5EF4-FFF2-40B4-BE49-F238E27FC236}">
                <a16:creationId xmlns:a16="http://schemas.microsoft.com/office/drawing/2014/main" id="{21D8EE87-519C-6755-C68E-C59AA33354DF}"/>
              </a:ext>
            </a:extLst>
          </p:cNvPr>
          <p:cNvGraphicFramePr>
            <a:graphicFrameLocks noChangeAspect="1"/>
          </p:cNvGraphicFramePr>
          <p:nvPr>
            <p:extLst>
              <p:ext uri="{D42A27DB-BD31-4B8C-83A1-F6EECF244321}">
                <p14:modId xmlns:p14="http://schemas.microsoft.com/office/powerpoint/2010/main" val="550824574"/>
              </p:ext>
            </p:extLst>
          </p:nvPr>
        </p:nvGraphicFramePr>
        <p:xfrm>
          <a:off x="2971800" y="8121352"/>
          <a:ext cx="914400" cy="792163"/>
        </p:xfrm>
        <a:graphic>
          <a:graphicData uri="http://schemas.openxmlformats.org/presentationml/2006/ole">
            <mc:AlternateContent xmlns:mc="http://schemas.openxmlformats.org/markup-compatibility/2006">
              <mc:Choice xmlns:v="urn:schemas-microsoft-com:vml" Requires="v">
                <p:oleObj spid="_x0000_s3078" name="Presentation" showAsIcon="1" r:id="rId11" imgW="914400" imgH="792685" progId="PowerPoint.Show.12">
                  <p:embed/>
                </p:oleObj>
              </mc:Choice>
              <mc:Fallback>
                <p:oleObj name="Presentation" showAsIcon="1" r:id="rId11" imgW="914400" imgH="792685" progId="PowerPoint.Show.12">
                  <p:embed/>
                  <p:pic>
                    <p:nvPicPr>
                      <p:cNvPr id="15" name="Object 14">
                        <a:hlinkClick r:id="" action="ppaction://ole?verb=0"/>
                        <a:extLst>
                          <a:ext uri="{FF2B5EF4-FFF2-40B4-BE49-F238E27FC236}">
                            <a16:creationId xmlns:a16="http://schemas.microsoft.com/office/drawing/2014/main" id="{E4B11B2B-EF82-D4FB-A9CD-01956B9C126A}"/>
                          </a:ext>
                        </a:extLst>
                      </p:cNvPr>
                      <p:cNvPicPr/>
                      <p:nvPr/>
                    </p:nvPicPr>
                    <p:blipFill>
                      <a:blip r:embed="rId12"/>
                      <a:stretch>
                        <a:fillRect/>
                      </a:stretch>
                    </p:blipFill>
                    <p:spPr>
                      <a:xfrm>
                        <a:off x="2971800" y="8121352"/>
                        <a:ext cx="914400" cy="792163"/>
                      </a:xfrm>
                      <a:prstGeom prst="rect">
                        <a:avLst/>
                      </a:prstGeom>
                    </p:spPr>
                  </p:pic>
                </p:oleObj>
              </mc:Fallback>
            </mc:AlternateContent>
          </a:graphicData>
        </a:graphic>
      </p:graphicFrame>
      <p:sp>
        <p:nvSpPr>
          <p:cNvPr id="27" name="TextBox 26">
            <a:extLst>
              <a:ext uri="{FF2B5EF4-FFF2-40B4-BE49-F238E27FC236}">
                <a16:creationId xmlns:a16="http://schemas.microsoft.com/office/drawing/2014/main" id="{E8C0945F-40EB-37FB-0FEF-48E7D3C69455}"/>
              </a:ext>
            </a:extLst>
          </p:cNvPr>
          <p:cNvSpPr txBox="1"/>
          <p:nvPr/>
        </p:nvSpPr>
        <p:spPr>
          <a:xfrm>
            <a:off x="1700807" y="8740013"/>
            <a:ext cx="3456384" cy="276999"/>
          </a:xfrm>
          <a:prstGeom prst="rect">
            <a:avLst/>
          </a:prstGeom>
          <a:noFill/>
        </p:spPr>
        <p:txBody>
          <a:bodyPr wrap="square" rtlCol="0">
            <a:spAutoFit/>
          </a:bodyPr>
          <a:lstStyle/>
          <a:p>
            <a:pPr algn="ctr"/>
            <a:r>
              <a:rPr lang="en-US" sz="1200" dirty="0">
                <a:solidFill>
                  <a:srgbClr val="0070C0"/>
                </a:solidFill>
                <a:latin typeface="Arial Narrow" panose="020B0606020202030204" pitchFamily="34" charset="0"/>
              </a:rPr>
              <a:t>(Report Template) Year 2025 Monthly Q-Audit Report</a:t>
            </a:r>
          </a:p>
        </p:txBody>
      </p:sp>
      <p:graphicFrame>
        <p:nvGraphicFramePr>
          <p:cNvPr id="2" name="Object 1">
            <a:hlinkClick r:id="" action="ppaction://ole?verb=0"/>
            <a:extLst>
              <a:ext uri="{FF2B5EF4-FFF2-40B4-BE49-F238E27FC236}">
                <a16:creationId xmlns:a16="http://schemas.microsoft.com/office/drawing/2014/main" id="{A6AA6488-D03C-7DFF-CD94-21579FDD16ED}"/>
              </a:ext>
            </a:extLst>
          </p:cNvPr>
          <p:cNvGraphicFramePr>
            <a:graphicFrameLocks noChangeAspect="1"/>
          </p:cNvGraphicFramePr>
          <p:nvPr>
            <p:extLst>
              <p:ext uri="{D42A27DB-BD31-4B8C-83A1-F6EECF244321}">
                <p14:modId xmlns:p14="http://schemas.microsoft.com/office/powerpoint/2010/main" val="1036917315"/>
              </p:ext>
            </p:extLst>
          </p:nvPr>
        </p:nvGraphicFramePr>
        <p:xfrm>
          <a:off x="2385216" y="3880853"/>
          <a:ext cx="1001713" cy="868363"/>
        </p:xfrm>
        <a:graphic>
          <a:graphicData uri="http://schemas.openxmlformats.org/presentationml/2006/ole">
            <mc:AlternateContent xmlns:mc="http://schemas.openxmlformats.org/markup-compatibility/2006">
              <mc:Choice xmlns:v="urn:schemas-microsoft-com:vml" Requires="v">
                <p:oleObj spid="_x0000_s3079" name="Presentation" showAsIcon="1" r:id="rId13" imgW="1002240" imgH="868320" progId="PowerPoint.Show.12">
                  <p:embed/>
                </p:oleObj>
              </mc:Choice>
              <mc:Fallback>
                <p:oleObj name="Presentation" showAsIcon="1" r:id="rId13" imgW="1002240" imgH="868320" progId="PowerPoint.Show.12">
                  <p:embed/>
                  <p:pic>
                    <p:nvPicPr>
                      <p:cNvPr id="0" name=""/>
                      <p:cNvPicPr/>
                      <p:nvPr/>
                    </p:nvPicPr>
                    <p:blipFill>
                      <a:blip r:embed="rId14"/>
                      <a:stretch>
                        <a:fillRect/>
                      </a:stretch>
                    </p:blipFill>
                    <p:spPr>
                      <a:xfrm>
                        <a:off x="2385216" y="3880853"/>
                        <a:ext cx="1001713" cy="868363"/>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5295AAA1-1F0A-FE79-83F9-2124F168386C}"/>
              </a:ext>
            </a:extLst>
          </p:cNvPr>
          <p:cNvGraphicFramePr>
            <a:graphicFrameLocks noChangeAspect="1"/>
          </p:cNvGraphicFramePr>
          <p:nvPr>
            <p:extLst>
              <p:ext uri="{D42A27DB-BD31-4B8C-83A1-F6EECF244321}">
                <p14:modId xmlns:p14="http://schemas.microsoft.com/office/powerpoint/2010/main" val="2277745519"/>
              </p:ext>
            </p:extLst>
          </p:nvPr>
        </p:nvGraphicFramePr>
        <p:xfrm>
          <a:off x="3471863" y="3890963"/>
          <a:ext cx="1001712" cy="868362"/>
        </p:xfrm>
        <a:graphic>
          <a:graphicData uri="http://schemas.openxmlformats.org/presentationml/2006/ole">
            <mc:AlternateContent xmlns:mc="http://schemas.openxmlformats.org/markup-compatibility/2006">
              <mc:Choice xmlns:v="urn:schemas-microsoft-com:vml" Requires="v">
                <p:oleObj spid="_x0000_s3080" name="Worksheet" showAsIcon="1" r:id="rId15" imgW="1002240" imgH="868320" progId="Excel.Sheet.12">
                  <p:embed/>
                </p:oleObj>
              </mc:Choice>
              <mc:Fallback>
                <p:oleObj name="Worksheet" showAsIcon="1" r:id="rId15" imgW="1002240" imgH="868320" progId="Excel.Sheet.12">
                  <p:embed/>
                  <p:pic>
                    <p:nvPicPr>
                      <p:cNvPr id="0" name=""/>
                      <p:cNvPicPr/>
                      <p:nvPr/>
                    </p:nvPicPr>
                    <p:blipFill>
                      <a:blip r:embed="rId16"/>
                      <a:stretch>
                        <a:fillRect/>
                      </a:stretch>
                    </p:blipFill>
                    <p:spPr>
                      <a:xfrm>
                        <a:off x="3471863" y="3890963"/>
                        <a:ext cx="1001712" cy="868362"/>
                      </a:xfrm>
                      <a:prstGeom prst="rect">
                        <a:avLst/>
                      </a:prstGeom>
                    </p:spPr>
                  </p:pic>
                </p:oleObj>
              </mc:Fallback>
            </mc:AlternateContent>
          </a:graphicData>
        </a:graphic>
      </p:graphicFrame>
    </p:spTree>
    <p:extLst>
      <p:ext uri="{BB962C8B-B14F-4D97-AF65-F5344CB8AC3E}">
        <p14:creationId xmlns:p14="http://schemas.microsoft.com/office/powerpoint/2010/main" val="1824156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3F48-BE6A-AEFE-56E6-0FE460DE1CD8}"/>
            </a:ext>
          </a:extLst>
        </p:cNvPr>
        <p:cNvGrpSpPr/>
        <p:nvPr/>
      </p:nvGrpSpPr>
      <p:grpSpPr>
        <a:xfrm>
          <a:off x="0" y="0"/>
          <a:ext cx="0" cy="0"/>
          <a:chOff x="0" y="0"/>
          <a:chExt cx="0" cy="0"/>
        </a:xfrm>
      </p:grpSpPr>
      <p:sp>
        <p:nvSpPr>
          <p:cNvPr id="3" name="직사각형 8">
            <a:extLst>
              <a:ext uri="{FF2B5EF4-FFF2-40B4-BE49-F238E27FC236}">
                <a16:creationId xmlns:a16="http://schemas.microsoft.com/office/drawing/2014/main" id="{1A0AAB1D-CC2A-704B-884B-A2608C5FCF31}"/>
              </a:ext>
            </a:extLst>
          </p:cNvPr>
          <p:cNvSpPr/>
          <p:nvPr/>
        </p:nvSpPr>
        <p:spPr>
          <a:xfrm>
            <a:off x="2138426" y="1352600"/>
            <a:ext cx="2581156" cy="307777"/>
          </a:xfrm>
          <a:prstGeom prst="rect">
            <a:avLst/>
          </a:prstGeom>
        </p:spPr>
        <p:txBody>
          <a:bodyPr wrap="none">
            <a:spAutoFit/>
          </a:bodyPr>
          <a:lstStyle/>
          <a:p>
            <a:pPr>
              <a:defRPr/>
            </a:pPr>
            <a:r>
              <a:rPr lang="en-US" altLang="ko-KR" sz="1400" b="1" dirty="0">
                <a:solidFill>
                  <a:srgbClr val="000000"/>
                </a:solidFill>
                <a:latin typeface="Arial Narrow" pitchFamily="34" charset="0"/>
                <a:ea typeface="맑은 고딕" panose="020B0503020000020004" pitchFamily="50" charset="-127"/>
              </a:rPr>
              <a:t>Article 7. Records retention policy</a:t>
            </a:r>
            <a:endParaRPr lang="ko-KR" altLang="en-US" sz="1400" b="1" dirty="0">
              <a:solidFill>
                <a:srgbClr val="000000"/>
              </a:solidFill>
              <a:latin typeface="Arial Narrow" pitchFamily="34" charset="0"/>
              <a:ea typeface="맑은 고딕" panose="020B0503020000020004" pitchFamily="50" charset="-127"/>
            </a:endParaRPr>
          </a:p>
        </p:txBody>
      </p:sp>
      <p:graphicFrame>
        <p:nvGraphicFramePr>
          <p:cNvPr id="5" name="Table 4">
            <a:extLst>
              <a:ext uri="{FF2B5EF4-FFF2-40B4-BE49-F238E27FC236}">
                <a16:creationId xmlns:a16="http://schemas.microsoft.com/office/drawing/2014/main" id="{CE790920-ED25-B07C-C037-935377813791}"/>
              </a:ext>
            </a:extLst>
          </p:cNvPr>
          <p:cNvGraphicFramePr>
            <a:graphicFrameLocks noGrp="1"/>
          </p:cNvGraphicFramePr>
          <p:nvPr>
            <p:extLst>
              <p:ext uri="{D42A27DB-BD31-4B8C-83A1-F6EECF244321}">
                <p14:modId xmlns:p14="http://schemas.microsoft.com/office/powerpoint/2010/main" val="4228071964"/>
              </p:ext>
            </p:extLst>
          </p:nvPr>
        </p:nvGraphicFramePr>
        <p:xfrm>
          <a:off x="476672" y="1768584"/>
          <a:ext cx="5904654" cy="5881112"/>
        </p:xfrm>
        <a:graphic>
          <a:graphicData uri="http://schemas.openxmlformats.org/drawingml/2006/table">
            <a:tbl>
              <a:tblPr firstRow="1" bandRow="1">
                <a:tableStyleId>{7E9639D4-E3E2-4D34-9284-5A2195B3D0D7}</a:tableStyleId>
              </a:tblPr>
              <a:tblGrid>
                <a:gridCol w="43204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gridCol w="1080120">
                  <a:extLst>
                    <a:ext uri="{9D8B030D-6E8A-4147-A177-3AD203B41FA5}">
                      <a16:colId xmlns:a16="http://schemas.microsoft.com/office/drawing/2014/main" val="20005"/>
                    </a:ext>
                  </a:extLst>
                </a:gridCol>
              </a:tblGrid>
              <a:tr h="288032">
                <a:tc>
                  <a:txBody>
                    <a:bodyPr/>
                    <a:lstStyle/>
                    <a:p>
                      <a:pPr algn="ctr" latinLnBrk="0"/>
                      <a:r>
                        <a:rPr lang="es-MX" sz="1200" noProof="0" dirty="0">
                          <a:latin typeface="Arial Narrow" panose="020B0606020202030204" pitchFamily="34" charset="0"/>
                        </a:rPr>
                        <a:t>No.</a:t>
                      </a:r>
                      <a:endParaRPr lang="en-US" sz="1200" noProof="0" dirty="0">
                        <a:latin typeface="Arial Narrow" panose="020B0606020202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noProof="0" dirty="0">
                          <a:latin typeface="Arial Narrow" panose="020B0606020202030204" pitchFamily="34" charset="0"/>
                        </a:rPr>
                        <a:t>Format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n-US" sz="1200" noProof="0" dirty="0">
                          <a:latin typeface="Arial Narrow" panose="020B0606020202030204" pitchFamily="34" charset="0"/>
                        </a:rPr>
                        <a:t>Format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n-US" sz="1200" noProof="0" dirty="0">
                          <a:latin typeface="Arial Narrow" panose="020B0606020202030204" pitchFamily="34" charset="0"/>
                        </a:rPr>
                        <a:t>Champion</a:t>
                      </a:r>
                    </a:p>
                  </a:txBody>
                  <a:tcPr anchor="ctr">
                    <a:lnL w="12700" cap="flat" cmpd="sng" algn="ctr">
                      <a:solidFill>
                        <a:schemeClr val="tx1"/>
                      </a:solidFill>
                      <a:prstDash val="solid"/>
                      <a:round/>
                      <a:headEnd type="none" w="med" len="med"/>
                      <a:tailEnd type="none" w="med" len="med"/>
                    </a:lnL>
                  </a:tcPr>
                </a:tc>
                <a:tc>
                  <a:txBody>
                    <a:bodyPr/>
                    <a:lstStyle/>
                    <a:p>
                      <a:pPr algn="ctr" latinLnBrk="0"/>
                      <a:r>
                        <a:rPr lang="en-US" sz="1200" noProof="0" dirty="0">
                          <a:latin typeface="Arial Narrow" panose="020B0606020202030204" pitchFamily="34" charset="0"/>
                        </a:rPr>
                        <a:t>Time</a:t>
                      </a:r>
                      <a:r>
                        <a:rPr lang="en-US" sz="1200" baseline="0" noProof="0" dirty="0">
                          <a:latin typeface="Arial Narrow" panose="020B0606020202030204" pitchFamily="34" charset="0"/>
                        </a:rPr>
                        <a:t> to keep</a:t>
                      </a:r>
                      <a:endParaRPr lang="en-US" sz="1200" noProof="0" dirty="0">
                        <a:latin typeface="Arial Narrow" panose="020B0606020202030204" pitchFamily="34" charset="0"/>
                      </a:endParaRPr>
                    </a:p>
                  </a:txBody>
                  <a:tcPr anchor="ctr"/>
                </a:tc>
                <a:tc>
                  <a:txBody>
                    <a:bodyPr/>
                    <a:lstStyle/>
                    <a:p>
                      <a:pPr algn="ctr" latinLnBrk="0"/>
                      <a:r>
                        <a:rPr lang="en-US" sz="1200" noProof="0" dirty="0">
                          <a:latin typeface="Arial Narrow" panose="020B0606020202030204" pitchFamily="34" charset="0"/>
                        </a:rPr>
                        <a:t>Way to keep</a:t>
                      </a:r>
                    </a:p>
                  </a:txBody>
                  <a:tcPr anchor="ctr"/>
                </a:tc>
                <a:extLst>
                  <a:ext uri="{0D108BD9-81ED-4DB2-BD59-A6C34878D82A}">
                    <a16:rowId xmlns:a16="http://schemas.microsoft.com/office/drawing/2014/main" val="10000"/>
                  </a:ext>
                </a:extLst>
              </a:tr>
              <a:tr h="370840">
                <a:tc>
                  <a:txBody>
                    <a:bodyPr/>
                    <a:lstStyle/>
                    <a:p>
                      <a:pPr algn="ctr" latinLnBrk="0"/>
                      <a:r>
                        <a:rPr lang="es-MX" sz="1200" dirty="0">
                          <a:latin typeface="Arial Narrow" panose="020B0606020202030204" pitchFamily="34" charset="0"/>
                        </a:rPr>
                        <a:t>1</a:t>
                      </a:r>
                      <a:endParaRPr lang="en-US" sz="1200" dirty="0">
                        <a:latin typeface="Arial Narrow" panose="020B0606020202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Narrow" panose="020B0606020202030204" pitchFamily="34" charset="0"/>
                        </a:rPr>
                        <a:t>Format </a:t>
                      </a:r>
                      <a:r>
                        <a:rPr lang="en-US" sz="1200">
                          <a:latin typeface="Arial Narrow" panose="020B0606020202030204" pitchFamily="34" charset="0"/>
                        </a:rPr>
                        <a:t>Audit Plan</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n-US" sz="1200" noProof="0" dirty="0">
                          <a:solidFill>
                            <a:schemeClr val="tx1"/>
                          </a:solidFill>
                          <a:latin typeface="Arial Narrow" panose="020B0606020202030204" pitchFamily="34" charset="0"/>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70840">
                <a:tc>
                  <a:txBody>
                    <a:bodyPr/>
                    <a:lstStyle/>
                    <a:p>
                      <a:pPr algn="ctr" latinLnBrk="0"/>
                      <a:r>
                        <a:rPr lang="es-MX" sz="1200" dirty="0">
                          <a:latin typeface="Arial Narrow" panose="020B0606020202030204" pitchFamily="34" charset="0"/>
                        </a:rPr>
                        <a:t>2</a:t>
                      </a:r>
                      <a:endParaRPr lang="en-US" sz="1200" dirty="0">
                        <a:latin typeface="Arial Narrow" panose="020B0606020202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a:latin typeface="Arial Narrow" panose="020B0606020202030204" pitchFamily="34" charset="0"/>
                        </a:rPr>
                        <a:t>Format Program</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70840">
                <a:tc>
                  <a:txBody>
                    <a:bodyPr/>
                    <a:lstStyle/>
                    <a:p>
                      <a:pPr algn="ctr" latinLnBrk="0"/>
                      <a:r>
                        <a:rPr lang="es-MX" sz="1200" dirty="0">
                          <a:latin typeface="Arial Narrow" panose="020B0606020202030204" pitchFamily="34" charset="0"/>
                        </a:rPr>
                        <a:t>3</a:t>
                      </a:r>
                      <a:endParaRPr lang="en-US" sz="1200" dirty="0">
                        <a:latin typeface="Arial Narrow" panose="020B0606020202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Format Audit </a:t>
                      </a:r>
                    </a:p>
                    <a:p>
                      <a:pPr algn="ctr" latinLnBrk="0"/>
                      <a:r>
                        <a:rPr lang="en-US" sz="1200" dirty="0">
                          <a:latin typeface="Arial Narrow" panose="020B0606020202030204" pitchFamily="34" charset="0"/>
                        </a:rPr>
                        <a:t>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70840">
                <a:tc>
                  <a:txBody>
                    <a:bodyPr/>
                    <a:lstStyle/>
                    <a:p>
                      <a:pPr algn="ctr" latinLnBrk="0"/>
                      <a:r>
                        <a:rPr lang="es-MX" sz="1200" dirty="0">
                          <a:latin typeface="Arial Narrow" panose="020B0606020202030204" pitchFamily="34" charset="0"/>
                        </a:rPr>
                        <a:t>4</a:t>
                      </a:r>
                      <a:endParaRPr lang="en-US" sz="1200" dirty="0">
                        <a:latin typeface="Arial Narrow" panose="020B0606020202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Narrow" panose="020B0606020202030204" pitchFamily="34" charset="0"/>
                        </a:rPr>
                        <a:t>Format CA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a:latin typeface="Arial Narrow" panose="020B0606020202030204" pitchFamily="34" charset="0"/>
                        </a:rPr>
                        <a:t>Request</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70840">
                <a:tc>
                  <a:txBody>
                    <a:bodyPr/>
                    <a:lstStyle/>
                    <a:p>
                      <a:pPr algn="ctr" latinLnBrk="0"/>
                      <a:r>
                        <a:rPr lang="es-MX" sz="1200" dirty="0">
                          <a:latin typeface="Arial Narrow" panose="020B0606020202030204" pitchFamily="34" charset="0"/>
                        </a:rPr>
                        <a:t>5</a:t>
                      </a:r>
                      <a:endParaRPr lang="en-US" sz="1200" dirty="0">
                        <a:latin typeface="Arial Narrow" panose="020B0606020202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pt-BR" sz="1200" dirty="0">
                          <a:latin typeface="Arial Narrow" panose="020B0606020202030204" pitchFamily="34" charset="0"/>
                        </a:rPr>
                        <a:t>Internal audit list</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70840">
                <a:tc>
                  <a:txBody>
                    <a:bodyPr/>
                    <a:lstStyle/>
                    <a:p>
                      <a:pPr algn="ctr" latinLnBrk="0"/>
                      <a:r>
                        <a:rPr lang="es-MX" sz="1200" dirty="0">
                          <a:latin typeface="Arial Narrow" panose="020B0606020202030204" pitchFamily="34" charset="0"/>
                        </a:rPr>
                        <a:t>6</a:t>
                      </a:r>
                      <a:endParaRPr lang="en-US" sz="1200" dirty="0">
                        <a:latin typeface="Arial Narrow" panose="020B0606020202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n-US" sz="1200" dirty="0">
                          <a:solidFill>
                            <a:schemeClr val="tx1"/>
                          </a:solidFill>
                          <a:latin typeface="Arial Narrow" panose="020B0606020202030204" pitchFamily="34" charset="0"/>
                        </a:rPr>
                        <a:t>Self Audit tool Year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370840">
                <a:tc>
                  <a:txBody>
                    <a:bodyPr/>
                    <a:lstStyle/>
                    <a:p>
                      <a:pPr algn="ctr" latinLnBrk="0"/>
                      <a:r>
                        <a:rPr lang="es-MX" sz="1200" dirty="0">
                          <a:latin typeface="Arial Narrow" panose="020B0606020202030204" pitchFamily="34" charset="0"/>
                        </a:rPr>
                        <a:t>7</a:t>
                      </a:r>
                      <a:endParaRPr lang="en-US" sz="1200" dirty="0">
                        <a:latin typeface="Arial Narrow" panose="020B0606020202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Narrow" panose="020B0606020202030204" pitchFamily="34" charset="0"/>
                        </a:rPr>
                        <a:t>(Countermeasure Template) Permanent Quality Audit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370840">
                <a:tc>
                  <a:txBody>
                    <a:bodyPr/>
                    <a:lstStyle/>
                    <a:p>
                      <a:pPr algn="ctr" latinLnBrk="0"/>
                      <a:r>
                        <a:rPr lang="en-US" sz="1200" dirty="0">
                          <a:latin typeface="Arial Narrow" panose="020B0606020202030204" pitchFamily="34" charset="0"/>
                        </a:rPr>
                        <a:t>8</a:t>
                      </a: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Narrow" panose="020B0606020202030204" pitchFamily="34" charset="0"/>
                        </a:rPr>
                        <a:t>(Report Template) OQA Core risk Q-Audit 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05906101"/>
                  </a:ext>
                </a:extLst>
              </a:tr>
              <a:tr h="370840">
                <a:tc>
                  <a:txBody>
                    <a:bodyPr/>
                    <a:lstStyle/>
                    <a:p>
                      <a:pPr algn="ctr" latinLnBrk="0"/>
                      <a:r>
                        <a:rPr lang="en-US" sz="1200" dirty="0">
                          <a:latin typeface="Arial Narrow" panose="020B0606020202030204" pitchFamily="34" charset="0"/>
                        </a:rPr>
                        <a:t>9</a:t>
                      </a: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Narrow" panose="020B0606020202030204" pitchFamily="34" charset="0"/>
                        </a:rPr>
                        <a:t>(Report Template) Year 2025 Half Year Q-Audit 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21023336"/>
                  </a:ext>
                </a:extLst>
              </a:tr>
              <a:tr h="370840">
                <a:tc>
                  <a:txBody>
                    <a:bodyPr/>
                    <a:lstStyle/>
                    <a:p>
                      <a:pPr algn="ctr" latinLnBrk="0"/>
                      <a:r>
                        <a:rPr lang="en-US" sz="1200" dirty="0">
                          <a:latin typeface="Arial Narrow" panose="020B0606020202030204" pitchFamily="34" charset="0"/>
                        </a:rPr>
                        <a:t>10</a:t>
                      </a:r>
                    </a:p>
                  </a:txBody>
                  <a:tcPr anchor="ctr">
                    <a:lnR w="12700" cap="flat" cmpd="sng" algn="ctr">
                      <a:solidFill>
                        <a:schemeClr val="tx1"/>
                      </a:solidFill>
                      <a:prstDash val="solid"/>
                      <a:round/>
                      <a:headEnd type="none" w="med" len="med"/>
                      <a:tailEnd type="none" w="med" len="med"/>
                    </a:lnR>
                  </a:tcPr>
                </a:tc>
                <a:tc>
                  <a:txBody>
                    <a:bodyPr/>
                    <a:lstStyle/>
                    <a:p>
                      <a:pPr algn="ctr" latinLnBrk="0"/>
                      <a:r>
                        <a:rPr lang="en-US" sz="1200" dirty="0">
                          <a:latin typeface="Arial Narrow" panose="020B0606020202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Arial Narrow" panose="020B0606020202030204" pitchFamily="34" charset="0"/>
                        </a:rPr>
                        <a:t>(Report Template) Year 2025 Monthly Q-Audit 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QA/CS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5 </a:t>
                      </a:r>
                      <a:r>
                        <a:rPr lang="es-MX" sz="1200" dirty="0" err="1">
                          <a:latin typeface="Arial Narrow" panose="020B0606020202030204" pitchFamily="34" charset="0"/>
                        </a:rPr>
                        <a:t>years</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latinLnBrk="0"/>
                      <a:r>
                        <a:rPr lang="es-MX" sz="1200" dirty="0">
                          <a:latin typeface="Arial Narrow" panose="020B0606020202030204" pitchFamily="34" charset="0"/>
                        </a:rPr>
                        <a:t>Digital</a:t>
                      </a:r>
                      <a:endParaRPr lang="en-US" sz="1200"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56351844"/>
                  </a:ext>
                </a:extLst>
              </a:tr>
            </a:tbl>
          </a:graphicData>
        </a:graphic>
      </p:graphicFrame>
    </p:spTree>
    <p:extLst>
      <p:ext uri="{BB962C8B-B14F-4D97-AF65-F5344CB8AC3E}">
        <p14:creationId xmlns:p14="http://schemas.microsoft.com/office/powerpoint/2010/main" val="13915595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1444</TotalTime>
  <Words>3707</Words>
  <Application>Microsoft Office PowerPoint</Application>
  <PresentationFormat>A4 Paper (210x297 mm)</PresentationFormat>
  <Paragraphs>618</Paragraphs>
  <Slides>15</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15</vt:i4>
      </vt:variant>
    </vt:vector>
  </HeadingPairs>
  <TitlesOfParts>
    <vt:vector size="25" baseType="lpstr">
      <vt:lpstr>Aptos</vt:lpstr>
      <vt:lpstr>Aptos Display</vt:lpstr>
      <vt:lpstr>LG스마트체 Regular</vt:lpstr>
      <vt:lpstr>맑은 고딕</vt:lpstr>
      <vt:lpstr>맑은 고딕</vt:lpstr>
      <vt:lpstr>Arial</vt:lpstr>
      <vt:lpstr>Arial Narrow</vt:lpstr>
      <vt:lpstr>Office Theme</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Trang Phạm</dc:creator>
  <cp:lastModifiedBy>Phuc-PC</cp:lastModifiedBy>
  <cp:revision>23</cp:revision>
  <dcterms:created xsi:type="dcterms:W3CDTF">2026-08-13T11:55:19Z</dcterms:created>
  <dcterms:modified xsi:type="dcterms:W3CDTF">2026-09-24T16:39:27Z</dcterms:modified>
</cp:coreProperties>
</file>